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  <p:sldId id="294" r:id="rId41"/>
  </p:sldIdLst>
  <p:sldSz cx="18288000" cy="10287000"/>
  <p:notesSz cx="6858000" cy="9144000"/>
  <p:embeddedFontLst>
    <p:embeddedFont>
      <p:font typeface="Calibri" panose="020F0502020204030204" pitchFamily="34" charset="0"/>
      <p:regular r:id="rId42"/>
      <p:bold r:id="rId43"/>
      <p:italic r:id="rId44"/>
      <p:boldItalic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11" Type="http://schemas.openxmlformats.org/officeDocument/2006/relationships/image" Target="../media/image13.png"/><Relationship Id="rId5" Type="http://schemas.openxmlformats.org/officeDocument/2006/relationships/image" Target="../media/image7.jpeg"/><Relationship Id="rId10" Type="http://schemas.openxmlformats.org/officeDocument/2006/relationships/image" Target="../media/image12.svg"/><Relationship Id="rId4" Type="http://schemas.openxmlformats.org/officeDocument/2006/relationships/image" Target="../media/image6.jpe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sv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eg"/><Relationship Id="rId5" Type="http://schemas.openxmlformats.org/officeDocument/2006/relationships/image" Target="../media/image29.svg"/><Relationship Id="rId10" Type="http://schemas.openxmlformats.org/officeDocument/2006/relationships/image" Target="../media/image34.sv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7" Type="http://schemas.openxmlformats.org/officeDocument/2006/relationships/image" Target="../media/image47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jpe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7" Type="http://schemas.openxmlformats.org/officeDocument/2006/relationships/image" Target="../media/image47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jpeg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jpeg"/><Relationship Id="rId5" Type="http://schemas.openxmlformats.org/officeDocument/2006/relationships/image" Target="../media/image82.svg"/><Relationship Id="rId4" Type="http://schemas.openxmlformats.org/officeDocument/2006/relationships/image" Target="../media/image8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jpeg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4.png"/><Relationship Id="rId4" Type="http://schemas.openxmlformats.org/officeDocument/2006/relationships/image" Target="../media/image93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7" Type="http://schemas.openxmlformats.org/officeDocument/2006/relationships/image" Target="../media/image9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5" Type="http://schemas.openxmlformats.org/officeDocument/2006/relationships/image" Target="../media/image90.svg"/><Relationship Id="rId4" Type="http://schemas.openxmlformats.org/officeDocument/2006/relationships/image" Target="../media/image8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9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Jhi3-aTLwcIAuWTyPexfK7h0JGGeSTRe?usp=sharing" TargetMode="External"/><Relationship Id="rId2" Type="http://schemas.openxmlformats.org/officeDocument/2006/relationships/hyperlink" Target="https://www.statisticshowto.com/probability-and-statistics/statistics-definitions/parametric-and-non-parametric-data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kaggle.com/datasets/ishadss/productivity-prediction-of-garment-employees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tatisticshowto.com/probability-and-statistics/statistics-definitions/parametric-and-non-parametric-data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7668" y="-1368745"/>
            <a:ext cx="18845668" cy="12650155"/>
          </a:xfrm>
          <a:custGeom>
            <a:avLst/>
            <a:gdLst/>
            <a:ahLst/>
            <a:cxnLst/>
            <a:rect l="l" t="t" r="r" b="b"/>
            <a:pathLst>
              <a:path w="18845668" h="12650155">
                <a:moveTo>
                  <a:pt x="0" y="0"/>
                </a:moveTo>
                <a:lnTo>
                  <a:pt x="18845668" y="0"/>
                </a:lnTo>
                <a:lnTo>
                  <a:pt x="18845668" y="12650155"/>
                </a:lnTo>
                <a:lnTo>
                  <a:pt x="0" y="12650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3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675036"/>
            <a:ext cx="16562070" cy="7868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82"/>
              </a:lnSpc>
            </a:pPr>
            <a:r>
              <a:rPr lang="en-US" sz="8367" spc="87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PREDICTING GARMENTS</a:t>
            </a:r>
          </a:p>
          <a:p>
            <a:pPr algn="ctr">
              <a:lnSpc>
                <a:spcPts val="15982"/>
              </a:lnSpc>
            </a:pPr>
            <a:r>
              <a:rPr lang="en-US" sz="8367" spc="87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WORKERS</a:t>
            </a:r>
          </a:p>
          <a:p>
            <a:pPr algn="ctr">
              <a:lnSpc>
                <a:spcPts val="15982"/>
              </a:lnSpc>
            </a:pPr>
            <a:r>
              <a:rPr lang="en-US" sz="8367" spc="87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PRODUCTIVITY</a:t>
            </a:r>
          </a:p>
          <a:p>
            <a:pPr algn="ctr">
              <a:lnSpc>
                <a:spcPts val="15435"/>
              </a:lnSpc>
            </a:pPr>
            <a:endParaRPr lang="en-US" sz="8367" spc="870">
              <a:solidFill>
                <a:srgbClr val="FFFFFF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674377" y="8205539"/>
            <a:ext cx="7270717" cy="1052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8"/>
              </a:lnSpc>
              <a:spcBef>
                <a:spcPct val="0"/>
              </a:spcBef>
            </a:pPr>
            <a:endParaRPr lang="en-US" sz="6177" b="1" dirty="0">
              <a:solidFill>
                <a:srgbClr val="FFC71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138573" y="0"/>
            <a:ext cx="2812042" cy="10298612"/>
            <a:chOff x="0" y="0"/>
            <a:chExt cx="435659" cy="15955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9" cy="1595525"/>
            </a:xfrm>
            <a:custGeom>
              <a:avLst/>
              <a:gdLst/>
              <a:ahLst/>
              <a:cxnLst/>
              <a:rect l="l" t="t" r="r" b="b"/>
              <a:pathLst>
                <a:path w="435659" h="1595525">
                  <a:moveTo>
                    <a:pt x="0" y="0"/>
                  </a:moveTo>
                  <a:lnTo>
                    <a:pt x="435659" y="0"/>
                  </a:lnTo>
                  <a:lnTo>
                    <a:pt x="435659" y="1595525"/>
                  </a:lnTo>
                  <a:lnTo>
                    <a:pt x="0" y="1595525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4211678" y="0"/>
            <a:ext cx="3047622" cy="10298612"/>
            <a:chOff x="0" y="0"/>
            <a:chExt cx="472156" cy="15955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2156" cy="1595525"/>
            </a:xfrm>
            <a:custGeom>
              <a:avLst/>
              <a:gdLst/>
              <a:ahLst/>
              <a:cxnLst/>
              <a:rect l="l" t="t" r="r" b="b"/>
              <a:pathLst>
                <a:path w="472156" h="1595525">
                  <a:moveTo>
                    <a:pt x="0" y="0"/>
                  </a:moveTo>
                  <a:lnTo>
                    <a:pt x="472156" y="0"/>
                  </a:lnTo>
                  <a:lnTo>
                    <a:pt x="472156" y="1595525"/>
                  </a:lnTo>
                  <a:lnTo>
                    <a:pt x="0" y="1595525"/>
                  </a:ln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404611" y="2808470"/>
            <a:ext cx="8290240" cy="644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72"/>
              </a:lnSpc>
              <a:spcBef>
                <a:spcPct val="0"/>
              </a:spcBef>
            </a:pPr>
            <a:r>
              <a:rPr lang="en-US" sz="3694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The garment industry is an important part of the global economy. It depends heavily on workers because most tasks are done by hand. </a:t>
            </a:r>
            <a:r>
              <a:rPr lang="en-US" sz="3694" b="1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Worker productivity is very important to meet global demand and deliver products on time.</a:t>
            </a:r>
            <a:r>
              <a:rPr lang="en-US" sz="3694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 This dataset includes key production details and employee productivity data to help track and improve performance.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62356" y="1452500"/>
            <a:ext cx="6574750" cy="1047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5"/>
              </a:lnSpc>
              <a:spcBef>
                <a:spcPct val="0"/>
              </a:spcBef>
            </a:pPr>
            <a:r>
              <a:rPr lang="en-US" sz="6003" spc="942">
                <a:solidFill>
                  <a:srgbClr val="FF2D98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57174" y="0"/>
            <a:ext cx="12280122" cy="10287000"/>
          </a:xfrm>
          <a:custGeom>
            <a:avLst/>
            <a:gdLst/>
            <a:ahLst/>
            <a:cxnLst/>
            <a:rect l="l" t="t" r="r" b="b"/>
            <a:pathLst>
              <a:path w="12280122" h="10287000">
                <a:moveTo>
                  <a:pt x="0" y="0"/>
                </a:moveTo>
                <a:lnTo>
                  <a:pt x="12280122" y="0"/>
                </a:lnTo>
                <a:lnTo>
                  <a:pt x="1228012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267008" y="3361456"/>
            <a:ext cx="1205854" cy="0"/>
          </a:xfrm>
          <a:prstGeom prst="line">
            <a:avLst/>
          </a:prstGeom>
          <a:ln w="19050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8039700" y="243356"/>
            <a:ext cx="4694936" cy="4722957"/>
          </a:xfrm>
          <a:custGeom>
            <a:avLst/>
            <a:gdLst/>
            <a:ahLst/>
            <a:cxnLst/>
            <a:rect l="l" t="t" r="r" b="b"/>
            <a:pathLst>
              <a:path w="4694936" h="4722957">
                <a:moveTo>
                  <a:pt x="0" y="0"/>
                </a:moveTo>
                <a:lnTo>
                  <a:pt x="4694936" y="0"/>
                </a:lnTo>
                <a:lnTo>
                  <a:pt x="4694936" y="4722957"/>
                </a:lnTo>
                <a:lnTo>
                  <a:pt x="0" y="472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76200" cap="rnd">
            <a:solidFill>
              <a:srgbClr val="D24D65"/>
            </a:solidFill>
            <a:prstDash val="solid"/>
            <a:round/>
          </a:ln>
        </p:spPr>
      </p:sp>
      <p:sp>
        <p:nvSpPr>
          <p:cNvPr id="5" name="Freeform 5"/>
          <p:cNvSpPr/>
          <p:nvPr/>
        </p:nvSpPr>
        <p:spPr>
          <a:xfrm>
            <a:off x="8092164" y="5242686"/>
            <a:ext cx="4671047" cy="4632462"/>
          </a:xfrm>
          <a:custGeom>
            <a:avLst/>
            <a:gdLst/>
            <a:ahLst/>
            <a:cxnLst/>
            <a:rect l="l" t="t" r="r" b="b"/>
            <a:pathLst>
              <a:path w="4671047" h="4632462">
                <a:moveTo>
                  <a:pt x="0" y="0"/>
                </a:moveTo>
                <a:lnTo>
                  <a:pt x="4671047" y="0"/>
                </a:lnTo>
                <a:lnTo>
                  <a:pt x="4671047" y="4632462"/>
                </a:lnTo>
                <a:lnTo>
                  <a:pt x="0" y="4632462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76200" cap="rnd">
            <a:solidFill>
              <a:srgbClr val="D24D65"/>
            </a:solidFill>
            <a:prstDash val="solid"/>
            <a:round/>
          </a:ln>
        </p:spPr>
      </p:sp>
      <p:sp>
        <p:nvSpPr>
          <p:cNvPr id="6" name="Freeform 6"/>
          <p:cNvSpPr/>
          <p:nvPr/>
        </p:nvSpPr>
        <p:spPr>
          <a:xfrm>
            <a:off x="13088101" y="243356"/>
            <a:ext cx="4726753" cy="4722957"/>
          </a:xfrm>
          <a:custGeom>
            <a:avLst/>
            <a:gdLst/>
            <a:ahLst/>
            <a:cxnLst/>
            <a:rect l="l" t="t" r="r" b="b"/>
            <a:pathLst>
              <a:path w="4726753" h="4722957">
                <a:moveTo>
                  <a:pt x="0" y="0"/>
                </a:moveTo>
                <a:lnTo>
                  <a:pt x="4726754" y="0"/>
                </a:lnTo>
                <a:lnTo>
                  <a:pt x="4726754" y="4722957"/>
                </a:lnTo>
                <a:lnTo>
                  <a:pt x="0" y="4722957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76200" cap="rnd">
            <a:solidFill>
              <a:srgbClr val="D24D65"/>
            </a:solidFill>
            <a:prstDash val="solid"/>
            <a:round/>
          </a:ln>
        </p:spPr>
      </p:sp>
      <p:sp>
        <p:nvSpPr>
          <p:cNvPr id="7" name="Freeform 7"/>
          <p:cNvSpPr/>
          <p:nvPr/>
        </p:nvSpPr>
        <p:spPr>
          <a:xfrm>
            <a:off x="13088101" y="5143500"/>
            <a:ext cx="4726753" cy="4656154"/>
          </a:xfrm>
          <a:custGeom>
            <a:avLst/>
            <a:gdLst/>
            <a:ahLst/>
            <a:cxnLst/>
            <a:rect l="l" t="t" r="r" b="b"/>
            <a:pathLst>
              <a:path w="4726753" h="4656154">
                <a:moveTo>
                  <a:pt x="0" y="0"/>
                </a:moveTo>
                <a:lnTo>
                  <a:pt x="4726754" y="0"/>
                </a:lnTo>
                <a:lnTo>
                  <a:pt x="4726754" y="4656154"/>
                </a:lnTo>
                <a:lnTo>
                  <a:pt x="0" y="4656154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76200" cap="rnd">
            <a:solidFill>
              <a:srgbClr val="D24D65"/>
            </a:solidFill>
            <a:prstDash val="solid"/>
            <a:round/>
          </a:ln>
        </p:spPr>
      </p:sp>
      <p:sp>
        <p:nvSpPr>
          <p:cNvPr id="8" name="Freeform 8"/>
          <p:cNvSpPr/>
          <p:nvPr/>
        </p:nvSpPr>
        <p:spPr>
          <a:xfrm>
            <a:off x="13436465" y="5527653"/>
            <a:ext cx="903280" cy="873924"/>
          </a:xfrm>
          <a:custGeom>
            <a:avLst/>
            <a:gdLst/>
            <a:ahLst/>
            <a:cxnLst/>
            <a:rect l="l" t="t" r="r" b="b"/>
            <a:pathLst>
              <a:path w="903280" h="873924">
                <a:moveTo>
                  <a:pt x="0" y="0"/>
                </a:moveTo>
                <a:lnTo>
                  <a:pt x="903280" y="0"/>
                </a:lnTo>
                <a:lnTo>
                  <a:pt x="903280" y="873923"/>
                </a:lnTo>
                <a:lnTo>
                  <a:pt x="0" y="873923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333915" y="5393411"/>
            <a:ext cx="668192" cy="1132529"/>
          </a:xfrm>
          <a:custGeom>
            <a:avLst/>
            <a:gdLst/>
            <a:ahLst/>
            <a:cxnLst/>
            <a:rect l="l" t="t" r="r" b="b"/>
            <a:pathLst>
              <a:path w="668192" h="1132529">
                <a:moveTo>
                  <a:pt x="0" y="0"/>
                </a:moveTo>
                <a:lnTo>
                  <a:pt x="668192" y="0"/>
                </a:lnTo>
                <a:lnTo>
                  <a:pt x="668192" y="1132529"/>
                </a:lnTo>
                <a:lnTo>
                  <a:pt x="0" y="11325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416663" y="434832"/>
            <a:ext cx="1170889" cy="1165035"/>
          </a:xfrm>
          <a:custGeom>
            <a:avLst/>
            <a:gdLst/>
            <a:ahLst/>
            <a:cxnLst/>
            <a:rect l="l" t="t" r="r" b="b"/>
            <a:pathLst>
              <a:path w="1170889" h="1165035">
                <a:moveTo>
                  <a:pt x="0" y="0"/>
                </a:moveTo>
                <a:lnTo>
                  <a:pt x="1170889" y="0"/>
                </a:lnTo>
                <a:lnTo>
                  <a:pt x="1170889" y="1165035"/>
                </a:lnTo>
                <a:lnTo>
                  <a:pt x="0" y="1165035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436465" y="434832"/>
            <a:ext cx="1282283" cy="1282283"/>
          </a:xfrm>
          <a:custGeom>
            <a:avLst/>
            <a:gdLst/>
            <a:ahLst/>
            <a:cxnLst/>
            <a:rect l="l" t="t" r="r" b="b"/>
            <a:pathLst>
              <a:path w="1282283" h="1282283">
                <a:moveTo>
                  <a:pt x="0" y="0"/>
                </a:moveTo>
                <a:lnTo>
                  <a:pt x="1282282" y="0"/>
                </a:lnTo>
                <a:lnTo>
                  <a:pt x="1282282" y="1282283"/>
                </a:lnTo>
                <a:lnTo>
                  <a:pt x="0" y="1282283"/>
                </a:lnTo>
                <a:lnTo>
                  <a:pt x="0" y="0"/>
                </a:lnTo>
                <a:close/>
              </a:path>
            </a:pathLst>
          </a:custGeom>
          <a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57977" y="981075"/>
            <a:ext cx="5826834" cy="1745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2"/>
              </a:lnSpc>
            </a:pPr>
            <a:r>
              <a:rPr lang="en-US" sz="5400" spc="577">
                <a:solidFill>
                  <a:srgbClr val="FF2D98"/>
                </a:solidFill>
                <a:latin typeface="Archivo Black"/>
                <a:ea typeface="Archivo Black"/>
                <a:cs typeface="Archivo Black"/>
                <a:sym typeface="Archivo Black"/>
              </a:rPr>
              <a:t>ABOUT THE</a:t>
            </a:r>
          </a:p>
          <a:p>
            <a:pPr algn="l">
              <a:lnSpc>
                <a:spcPts val="6912"/>
              </a:lnSpc>
            </a:pPr>
            <a:r>
              <a:rPr lang="en-US" sz="5400" spc="577">
                <a:solidFill>
                  <a:srgbClr val="FF2D98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3683" y="4205347"/>
            <a:ext cx="5353467" cy="235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9"/>
              </a:lnSpc>
            </a:pPr>
            <a:r>
              <a:rPr lang="en-US" sz="3368" b="1" spc="367">
                <a:solidFill>
                  <a:srgbClr val="FFB5C2"/>
                </a:solidFill>
                <a:latin typeface="Inter Bold"/>
                <a:ea typeface="Inter Bold"/>
                <a:cs typeface="Inter Bold"/>
                <a:sym typeface="Inter Bold"/>
              </a:rPr>
              <a:t>15</a:t>
            </a:r>
            <a:r>
              <a:rPr lang="en-US" sz="3368" spc="36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Variables</a:t>
            </a:r>
          </a:p>
          <a:p>
            <a:pPr algn="l">
              <a:lnSpc>
                <a:spcPts val="6939"/>
              </a:lnSpc>
            </a:pPr>
            <a:r>
              <a:rPr lang="en-US" sz="3368" b="1" spc="367">
                <a:solidFill>
                  <a:srgbClr val="FFB5C2"/>
                </a:solidFill>
                <a:latin typeface="Inter Bold"/>
                <a:ea typeface="Inter Bold"/>
                <a:cs typeface="Inter Bold"/>
                <a:sym typeface="Inter Bold"/>
              </a:rPr>
              <a:t>1197</a:t>
            </a:r>
            <a:r>
              <a:rPr lang="en-US" sz="3368" spc="36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68" spc="36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Observations</a:t>
            </a:r>
          </a:p>
          <a:p>
            <a:pPr algn="l">
              <a:lnSpc>
                <a:spcPts val="4042"/>
              </a:lnSpc>
            </a:pPr>
            <a:endParaRPr lang="en-US" sz="3368" spc="367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093965" y="2186649"/>
            <a:ext cx="3640672" cy="1704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0838" lvl="1" indent="-245419" algn="just">
              <a:lnSpc>
                <a:spcPts val="3410"/>
              </a:lnSpc>
              <a:buFont typeface="Arial"/>
              <a:buChar char="•"/>
            </a:pPr>
            <a:r>
              <a:rPr lang="en-US" sz="2273" spc="14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DAY</a:t>
            </a:r>
          </a:p>
          <a:p>
            <a:pPr marL="490838" lvl="1" indent="-245419" algn="just">
              <a:lnSpc>
                <a:spcPts val="3410"/>
              </a:lnSpc>
              <a:buFont typeface="Arial"/>
              <a:buChar char="•"/>
            </a:pPr>
            <a:r>
              <a:rPr lang="en-US" sz="2273" spc="14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DATE</a:t>
            </a:r>
          </a:p>
          <a:p>
            <a:pPr marL="490838" lvl="1" indent="-245419" algn="just">
              <a:lnSpc>
                <a:spcPts val="3410"/>
              </a:lnSpc>
              <a:buFont typeface="Arial"/>
              <a:buChar char="•"/>
            </a:pPr>
            <a:r>
              <a:rPr lang="en-US" sz="2273" spc="14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QUARTER</a:t>
            </a:r>
          </a:p>
          <a:p>
            <a:pPr marL="490838" lvl="1" indent="-245419" algn="just">
              <a:lnSpc>
                <a:spcPts val="3410"/>
              </a:lnSpc>
              <a:buFont typeface="Arial"/>
              <a:buChar char="•"/>
            </a:pPr>
            <a:r>
              <a:rPr lang="en-US" sz="2273" spc="14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OVER TIME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33915" y="7180398"/>
            <a:ext cx="4429296" cy="201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9306" lvl="1" indent="-219653" algn="l">
              <a:lnSpc>
                <a:spcPts val="4110"/>
              </a:lnSpc>
              <a:buFont typeface="Arial"/>
              <a:buChar char="•"/>
            </a:pPr>
            <a:r>
              <a:rPr lang="en-US" sz="2034" spc="1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OF STYLE CHANGES</a:t>
            </a:r>
          </a:p>
          <a:p>
            <a:pPr marL="439306" lvl="1" indent="-219653" algn="l">
              <a:lnSpc>
                <a:spcPts val="4110"/>
              </a:lnSpc>
              <a:buFont typeface="Arial"/>
              <a:buChar char="•"/>
            </a:pPr>
            <a:r>
              <a:rPr lang="en-US" sz="2034" spc="1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STANDARD MINUTE VALUE</a:t>
            </a:r>
          </a:p>
          <a:p>
            <a:pPr marL="439306" lvl="1" indent="-219653" algn="l">
              <a:lnSpc>
                <a:spcPts val="4110"/>
              </a:lnSpc>
              <a:buFont typeface="Arial"/>
              <a:buChar char="•"/>
            </a:pPr>
            <a:r>
              <a:rPr lang="en-US" sz="2034" spc="1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WORK IN PROGRESS</a:t>
            </a:r>
          </a:p>
          <a:p>
            <a:pPr marL="439306" lvl="1" indent="-219653" algn="l">
              <a:lnSpc>
                <a:spcPts val="4110"/>
              </a:lnSpc>
              <a:buFont typeface="Arial"/>
              <a:buChar char="•"/>
            </a:pPr>
            <a:r>
              <a:rPr lang="en-US" sz="2034" spc="13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IDLE TIME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436465" y="7285173"/>
            <a:ext cx="4195598" cy="782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2288" lvl="1" indent="-226144" algn="l">
              <a:lnSpc>
                <a:spcPts val="3163"/>
              </a:lnSpc>
              <a:buFont typeface="Arial"/>
              <a:buChar char="•"/>
            </a:pPr>
            <a:r>
              <a:rPr lang="en-US" sz="2094" spc="13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TARGET PRODUCTIVITY</a:t>
            </a:r>
          </a:p>
          <a:p>
            <a:pPr marL="452288" lvl="1" indent="-226144" algn="l">
              <a:lnSpc>
                <a:spcPts val="3163"/>
              </a:lnSpc>
              <a:buFont typeface="Arial"/>
              <a:buChar char="•"/>
            </a:pPr>
            <a:r>
              <a:rPr lang="en-US" sz="2094" spc="13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ACTUAL PRODUCTIVITY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011332" y="2139024"/>
            <a:ext cx="3045863" cy="2197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2023" lvl="1" indent="-206012" algn="l">
              <a:lnSpc>
                <a:spcPts val="3587"/>
              </a:lnSpc>
              <a:buFont typeface="Arial"/>
              <a:buChar char="•"/>
            </a:pPr>
            <a:r>
              <a:rPr lang="en-US" sz="1908" spc="122">
                <a:solidFill>
                  <a:srgbClr val="FFFBFA"/>
                </a:solidFill>
                <a:latin typeface="Inter"/>
                <a:ea typeface="Inter"/>
                <a:cs typeface="Inter"/>
                <a:sym typeface="Inter"/>
              </a:rPr>
              <a:t>TEAM NO</a:t>
            </a:r>
          </a:p>
          <a:p>
            <a:pPr marL="412023" lvl="1" indent="-206012" algn="l">
              <a:lnSpc>
                <a:spcPts val="3587"/>
              </a:lnSpc>
              <a:buFont typeface="Arial"/>
              <a:buChar char="•"/>
            </a:pPr>
            <a:r>
              <a:rPr lang="en-US" sz="1908" spc="122">
                <a:solidFill>
                  <a:srgbClr val="FFFBFA"/>
                </a:solidFill>
                <a:latin typeface="Inter"/>
                <a:ea typeface="Inter"/>
                <a:cs typeface="Inter"/>
                <a:sym typeface="Inter"/>
              </a:rPr>
              <a:t>NO OF WORKERS</a:t>
            </a:r>
          </a:p>
          <a:p>
            <a:pPr marL="412023" lvl="1" indent="-206012" algn="l">
              <a:lnSpc>
                <a:spcPts val="3587"/>
              </a:lnSpc>
              <a:buFont typeface="Arial"/>
              <a:buChar char="•"/>
            </a:pPr>
            <a:r>
              <a:rPr lang="en-US" sz="1908" spc="122">
                <a:solidFill>
                  <a:srgbClr val="FFFBFA"/>
                </a:solidFill>
                <a:latin typeface="Inter"/>
                <a:ea typeface="Inter"/>
                <a:cs typeface="Inter"/>
                <a:sym typeface="Inter"/>
              </a:rPr>
              <a:t>IDLE MEN</a:t>
            </a:r>
          </a:p>
          <a:p>
            <a:pPr marL="412023" lvl="1" indent="-206012" algn="l">
              <a:lnSpc>
                <a:spcPts val="3587"/>
              </a:lnSpc>
              <a:buFont typeface="Arial"/>
              <a:buChar char="•"/>
            </a:pPr>
            <a:r>
              <a:rPr lang="en-US" sz="1908" spc="122">
                <a:solidFill>
                  <a:srgbClr val="FFFBFA"/>
                </a:solidFill>
                <a:latin typeface="Inter"/>
                <a:ea typeface="Inter"/>
                <a:cs typeface="Inter"/>
                <a:sym typeface="Inter"/>
              </a:rPr>
              <a:t>INCENTIVE</a:t>
            </a:r>
          </a:p>
          <a:p>
            <a:pPr marL="412023" lvl="1" indent="-206012" algn="l">
              <a:lnSpc>
                <a:spcPts val="3587"/>
              </a:lnSpc>
              <a:buFont typeface="Arial"/>
              <a:buChar char="•"/>
            </a:pPr>
            <a:r>
              <a:rPr lang="en-US" sz="1908" spc="122">
                <a:solidFill>
                  <a:srgbClr val="FFFBFA"/>
                </a:solidFill>
                <a:latin typeface="Inter"/>
                <a:ea typeface="Inter"/>
                <a:cs typeface="Inter"/>
                <a:sym typeface="Inter"/>
              </a:rPr>
              <a:t>DEPARTMENT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46461" y="750836"/>
            <a:ext cx="4064311" cy="556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5"/>
              </a:lnSpc>
            </a:pPr>
            <a:r>
              <a:rPr lang="en-US" sz="3225" b="1" spc="80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Time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44000" y="5584987"/>
            <a:ext cx="2873647" cy="940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6"/>
              </a:lnSpc>
            </a:pPr>
            <a:r>
              <a:rPr lang="en-US" sz="2704" b="1" spc="72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Production Factors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535955" y="5460624"/>
            <a:ext cx="2873647" cy="940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6"/>
              </a:lnSpc>
            </a:pPr>
            <a:r>
              <a:rPr lang="en-US" sz="2704" b="1" spc="36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Productivity Performance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535955" y="619826"/>
            <a:ext cx="2873647" cy="1057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6"/>
              </a:lnSpc>
            </a:pPr>
            <a:r>
              <a:rPr lang="en-US" sz="3004" b="1" spc="54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Work Force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886" y="86879"/>
            <a:ext cx="17688227" cy="9598893"/>
          </a:xfrm>
          <a:custGeom>
            <a:avLst/>
            <a:gdLst/>
            <a:ahLst/>
            <a:cxnLst/>
            <a:rect l="l" t="t" r="r" b="b"/>
            <a:pathLst>
              <a:path w="17688227" h="9598893">
                <a:moveTo>
                  <a:pt x="0" y="0"/>
                </a:moveTo>
                <a:lnTo>
                  <a:pt x="17688228" y="0"/>
                </a:lnTo>
                <a:lnTo>
                  <a:pt x="17688228" y="9598892"/>
                </a:lnTo>
                <a:lnTo>
                  <a:pt x="0" y="9598892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95250" cap="rnd">
            <a:solidFill>
              <a:srgbClr val="003E3E"/>
            </a:solidFill>
            <a:prstDash val="solid"/>
            <a:round/>
          </a:ln>
        </p:spPr>
      </p:sp>
      <p:sp>
        <p:nvSpPr>
          <p:cNvPr id="3" name="TextBox 3"/>
          <p:cNvSpPr txBox="1"/>
          <p:nvPr/>
        </p:nvSpPr>
        <p:spPr>
          <a:xfrm>
            <a:off x="11471268" y="5514960"/>
            <a:ext cx="660678" cy="406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7"/>
              </a:lnSpc>
              <a:spcBef>
                <a:spcPct val="0"/>
              </a:spcBef>
            </a:pPr>
            <a:r>
              <a:rPr lang="en-US" sz="1908" spc="12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(415)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157437" y="4651524"/>
            <a:ext cx="2339467" cy="1424986"/>
            <a:chOff x="0" y="0"/>
            <a:chExt cx="616156" cy="3753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16156" cy="375305"/>
            </a:xfrm>
            <a:custGeom>
              <a:avLst/>
              <a:gdLst/>
              <a:ahLst/>
              <a:cxnLst/>
              <a:rect l="l" t="t" r="r" b="b"/>
              <a:pathLst>
                <a:path w="616156" h="375305">
                  <a:moveTo>
                    <a:pt x="56258" y="0"/>
                  </a:moveTo>
                  <a:lnTo>
                    <a:pt x="559898" y="0"/>
                  </a:lnTo>
                  <a:cubicBezTo>
                    <a:pt x="590969" y="0"/>
                    <a:pt x="616156" y="25187"/>
                    <a:pt x="616156" y="56258"/>
                  </a:cubicBezTo>
                  <a:lnTo>
                    <a:pt x="616156" y="319047"/>
                  </a:lnTo>
                  <a:cubicBezTo>
                    <a:pt x="616156" y="350118"/>
                    <a:pt x="590969" y="375305"/>
                    <a:pt x="559898" y="375305"/>
                  </a:cubicBezTo>
                  <a:lnTo>
                    <a:pt x="56258" y="375305"/>
                  </a:lnTo>
                  <a:cubicBezTo>
                    <a:pt x="25187" y="375305"/>
                    <a:pt x="0" y="350118"/>
                    <a:pt x="0" y="319047"/>
                  </a:cubicBezTo>
                  <a:lnTo>
                    <a:pt x="0" y="56258"/>
                  </a:lnTo>
                  <a:cubicBezTo>
                    <a:pt x="0" y="25187"/>
                    <a:pt x="25187" y="0"/>
                    <a:pt x="5625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42875"/>
              <a:ext cx="616156" cy="5181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63"/>
                </a:lnSpc>
              </a:pPr>
              <a:r>
                <a:rPr lang="en-US" sz="2108" b="1" spc="134">
                  <a:solidFill>
                    <a:srgbClr val="1B250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Variables Type Setting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67008" y="3361456"/>
            <a:ext cx="1205854" cy="0"/>
          </a:xfrm>
          <a:prstGeom prst="line">
            <a:avLst/>
          </a:prstGeom>
          <a:ln w="19050" cap="flat">
            <a:solidFill>
              <a:srgbClr val="F271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657977" y="981075"/>
            <a:ext cx="5826834" cy="1745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2"/>
              </a:lnSpc>
            </a:pPr>
            <a:r>
              <a:rPr lang="en-US" sz="5400" spc="577">
                <a:solidFill>
                  <a:srgbClr val="FFB5C2"/>
                </a:solidFill>
                <a:latin typeface="Archivo Black"/>
                <a:ea typeface="Archivo Black"/>
                <a:cs typeface="Archivo Black"/>
                <a:sym typeface="Archivo Black"/>
              </a:rPr>
              <a:t>CLUSTER ANALYSIS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951629" y="0"/>
            <a:ext cx="3211421" cy="10287000"/>
            <a:chOff x="0" y="0"/>
            <a:chExt cx="497533" cy="1593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7533" cy="1593725"/>
            </a:xfrm>
            <a:custGeom>
              <a:avLst/>
              <a:gdLst/>
              <a:ahLst/>
              <a:cxnLst/>
              <a:rect l="l" t="t" r="r" b="b"/>
              <a:pathLst>
                <a:path w="497533" h="1593725">
                  <a:moveTo>
                    <a:pt x="0" y="0"/>
                  </a:moveTo>
                  <a:lnTo>
                    <a:pt x="497533" y="0"/>
                  </a:lnTo>
                  <a:lnTo>
                    <a:pt x="49753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81140" y="3771031"/>
            <a:ext cx="5051707" cy="5042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1" lvl="1" indent="-313055" algn="l">
              <a:lnSpc>
                <a:spcPts val="5974"/>
              </a:lnSpc>
              <a:buFont typeface="Arial"/>
              <a:buChar char="•"/>
            </a:pPr>
            <a:r>
              <a:rPr lang="en-US" sz="2900" b="1" spc="31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FAMD was used to reduce the dimention.</a:t>
            </a:r>
          </a:p>
          <a:p>
            <a:pPr algn="l">
              <a:lnSpc>
                <a:spcPts val="5974"/>
              </a:lnSpc>
            </a:pPr>
            <a:r>
              <a:rPr lang="en-US" sz="2900" spc="31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marL="626111" lvl="1" indent="-313055" algn="l">
              <a:lnSpc>
                <a:spcPts val="5974"/>
              </a:lnSpc>
              <a:buFont typeface="Arial"/>
              <a:buChar char="•"/>
            </a:pPr>
            <a:r>
              <a:rPr lang="en-US" sz="2900" b="1" spc="31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And then did Kmeans Clustering .</a:t>
            </a:r>
          </a:p>
          <a:p>
            <a:pPr algn="l">
              <a:lnSpc>
                <a:spcPts val="3480"/>
              </a:lnSpc>
            </a:pPr>
            <a:endParaRPr lang="en-US" sz="2900" b="1" spc="316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BDEADBF-39B8-4981-8E27-E674D7B36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10800" y="4991100"/>
            <a:ext cx="6705600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AA21615-D66E-47B6-9B1F-230F42F6F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53600" y="266700"/>
            <a:ext cx="7584079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76410" y="2253939"/>
            <a:ext cx="8724464" cy="3655596"/>
          </a:xfrm>
          <a:custGeom>
            <a:avLst/>
            <a:gdLst/>
            <a:ahLst/>
            <a:cxnLst/>
            <a:rect l="l" t="t" r="r" b="b"/>
            <a:pathLst>
              <a:path w="8724464" h="3655596">
                <a:moveTo>
                  <a:pt x="0" y="0"/>
                </a:moveTo>
                <a:lnTo>
                  <a:pt x="8724464" y="0"/>
                </a:lnTo>
                <a:lnTo>
                  <a:pt x="8724464" y="3655596"/>
                </a:lnTo>
                <a:lnTo>
                  <a:pt x="0" y="365559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67877" y="257175"/>
            <a:ext cx="16817067" cy="1543050"/>
            <a:chOff x="0" y="0"/>
            <a:chExt cx="4429186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29186" cy="406400"/>
            </a:xfrm>
            <a:custGeom>
              <a:avLst/>
              <a:gdLst/>
              <a:ahLst/>
              <a:cxnLst/>
              <a:rect l="l" t="t" r="r" b="b"/>
              <a:pathLst>
                <a:path w="4429186" h="406400">
                  <a:moveTo>
                    <a:pt x="4225986" y="0"/>
                  </a:moveTo>
                  <a:cubicBezTo>
                    <a:pt x="4338210" y="0"/>
                    <a:pt x="4429186" y="90976"/>
                    <a:pt x="4429186" y="203200"/>
                  </a:cubicBezTo>
                  <a:cubicBezTo>
                    <a:pt x="4429186" y="315424"/>
                    <a:pt x="4338210" y="406400"/>
                    <a:pt x="422598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24D6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23825"/>
              <a:ext cx="4429186" cy="530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8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95460" y="6051669"/>
            <a:ext cx="8724464" cy="4006539"/>
            <a:chOff x="0" y="0"/>
            <a:chExt cx="969807" cy="4453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69807" cy="445365"/>
            </a:xfrm>
            <a:custGeom>
              <a:avLst/>
              <a:gdLst/>
              <a:ahLst/>
              <a:cxnLst/>
              <a:rect l="l" t="t" r="r" b="b"/>
              <a:pathLst>
                <a:path w="969807" h="445365">
                  <a:moveTo>
                    <a:pt x="33277" y="0"/>
                  </a:moveTo>
                  <a:lnTo>
                    <a:pt x="936530" y="0"/>
                  </a:lnTo>
                  <a:cubicBezTo>
                    <a:pt x="954908" y="0"/>
                    <a:pt x="969807" y="14899"/>
                    <a:pt x="969807" y="33277"/>
                  </a:cubicBezTo>
                  <a:lnTo>
                    <a:pt x="969807" y="412088"/>
                  </a:lnTo>
                  <a:cubicBezTo>
                    <a:pt x="969807" y="420914"/>
                    <a:pt x="966301" y="429378"/>
                    <a:pt x="960060" y="435618"/>
                  </a:cubicBezTo>
                  <a:cubicBezTo>
                    <a:pt x="953820" y="441859"/>
                    <a:pt x="945356" y="445365"/>
                    <a:pt x="936530" y="445365"/>
                  </a:cubicBezTo>
                  <a:lnTo>
                    <a:pt x="33277" y="445365"/>
                  </a:lnTo>
                  <a:cubicBezTo>
                    <a:pt x="24451" y="445365"/>
                    <a:pt x="15987" y="441859"/>
                    <a:pt x="9747" y="435618"/>
                  </a:cubicBezTo>
                  <a:cubicBezTo>
                    <a:pt x="3506" y="429378"/>
                    <a:pt x="0" y="420914"/>
                    <a:pt x="0" y="412088"/>
                  </a:cubicBezTo>
                  <a:lnTo>
                    <a:pt x="0" y="33277"/>
                  </a:lnTo>
                  <a:cubicBezTo>
                    <a:pt x="0" y="14899"/>
                    <a:pt x="14899" y="0"/>
                    <a:pt x="33277" y="0"/>
                  </a:cubicBezTo>
                  <a:close/>
                </a:path>
              </a:pathLst>
            </a:custGeom>
            <a:solidFill>
              <a:srgbClr val="FFB5C2">
                <a:alpha val="95686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23825"/>
              <a:ext cx="969807" cy="5691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87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 flipV="1">
            <a:off x="13929434" y="6315919"/>
            <a:ext cx="19050" cy="2891457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767877" y="2436281"/>
            <a:ext cx="7894183" cy="6946509"/>
          </a:xfrm>
          <a:custGeom>
            <a:avLst/>
            <a:gdLst/>
            <a:ahLst/>
            <a:cxnLst/>
            <a:rect l="l" t="t" r="r" b="b"/>
            <a:pathLst>
              <a:path w="7894183" h="6946509">
                <a:moveTo>
                  <a:pt x="0" y="0"/>
                </a:moveTo>
                <a:lnTo>
                  <a:pt x="7894183" y="0"/>
                </a:lnTo>
                <a:lnTo>
                  <a:pt x="7894183" y="6946509"/>
                </a:lnTo>
                <a:lnTo>
                  <a:pt x="0" y="6946509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877533" y="350498"/>
            <a:ext cx="10090000" cy="104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39"/>
              </a:lnSpc>
              <a:spcBef>
                <a:spcPct val="0"/>
              </a:spcBef>
            </a:pPr>
            <a:r>
              <a:rPr lang="en-US" sz="4808" b="1" spc="30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Cluster-wise Summary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822462" y="6204810"/>
            <a:ext cx="3907552" cy="525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7"/>
              </a:lnSpc>
              <a:spcBef>
                <a:spcPct val="0"/>
              </a:spcBef>
            </a:pPr>
            <a:r>
              <a:rPr lang="en-US" sz="2408" b="1" spc="15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 Mann-Whitney U Test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967533" y="6864276"/>
            <a:ext cx="3617411" cy="2343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5"/>
              </a:lnSpc>
              <a:spcBef>
                <a:spcPct val="0"/>
              </a:spcBef>
            </a:pPr>
            <a:r>
              <a:rPr lang="en-US" sz="2247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 P-Value: 1.1237e-05</a:t>
            </a:r>
          </a:p>
          <a:p>
            <a:pPr algn="ctr">
              <a:lnSpc>
                <a:spcPts val="3285"/>
              </a:lnSpc>
              <a:spcBef>
                <a:spcPct val="0"/>
              </a:spcBef>
            </a:pPr>
            <a:r>
              <a:rPr lang="en-US" sz="2347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(p &lt; 0.05).</a:t>
            </a:r>
          </a:p>
          <a:p>
            <a:pPr algn="ctr">
              <a:lnSpc>
                <a:spcPts val="3145"/>
              </a:lnSpc>
              <a:spcBef>
                <a:spcPct val="0"/>
              </a:spcBef>
            </a:pPr>
            <a:r>
              <a:rPr lang="en-US" sz="2247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There is a statistically significant difference </a:t>
            </a:r>
          </a:p>
          <a:p>
            <a:pPr algn="ctr">
              <a:lnSpc>
                <a:spcPts val="3145"/>
              </a:lnSpc>
              <a:spcBef>
                <a:spcPct val="0"/>
              </a:spcBef>
            </a:pPr>
            <a:r>
              <a:rPr lang="en-US" sz="2247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between the productivity levels of the two clusters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40531" y="6405616"/>
            <a:ext cx="4627002" cy="1431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4"/>
              </a:lnSpc>
              <a:spcBef>
                <a:spcPct val="0"/>
              </a:spcBef>
            </a:pPr>
            <a:r>
              <a:rPr lang="en-US" sz="2087" b="1" spc="133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Here, silhouette score (0.7857) is greater than 0.5, Clusters are significant.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4D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6879311" y="-5640931"/>
            <a:ext cx="16545936" cy="14841203"/>
          </a:xfrm>
          <a:custGeom>
            <a:avLst/>
            <a:gdLst/>
            <a:ahLst/>
            <a:cxnLst/>
            <a:rect l="l" t="t" r="r" b="b"/>
            <a:pathLst>
              <a:path w="16545936" h="14841203">
                <a:moveTo>
                  <a:pt x="16545936" y="14841203"/>
                </a:moveTo>
                <a:lnTo>
                  <a:pt x="0" y="14841203"/>
                </a:lnTo>
                <a:lnTo>
                  <a:pt x="0" y="0"/>
                </a:lnTo>
                <a:lnTo>
                  <a:pt x="16545936" y="0"/>
                </a:lnTo>
                <a:lnTo>
                  <a:pt x="16545936" y="14841203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6129005" y="1801610"/>
            <a:ext cx="12171018" cy="10917034"/>
          </a:xfrm>
          <a:custGeom>
            <a:avLst/>
            <a:gdLst/>
            <a:ahLst/>
            <a:cxnLst/>
            <a:rect l="l" t="t" r="r" b="b"/>
            <a:pathLst>
              <a:path w="12171018" h="10917034">
                <a:moveTo>
                  <a:pt x="12171018" y="10917034"/>
                </a:moveTo>
                <a:lnTo>
                  <a:pt x="0" y="10917034"/>
                </a:lnTo>
                <a:lnTo>
                  <a:pt x="0" y="0"/>
                </a:lnTo>
                <a:lnTo>
                  <a:pt x="12171018" y="0"/>
                </a:lnTo>
                <a:lnTo>
                  <a:pt x="12171018" y="10917034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761607" y="1036612"/>
            <a:ext cx="5529942" cy="1543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14"/>
              </a:lnSpc>
            </a:pPr>
            <a:r>
              <a:rPr lang="en-US" sz="10534" spc="-579">
                <a:solidFill>
                  <a:srgbClr val="000000"/>
                </a:solidFill>
                <a:latin typeface="One Little Font Full"/>
                <a:ea typeface="One Little Font Full"/>
                <a:cs typeface="One Little Font Full"/>
                <a:sym typeface="One Little Font Full"/>
              </a:rPr>
              <a:t>objectives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2132308" y="-120834"/>
            <a:ext cx="6419319" cy="10528668"/>
            <a:chOff x="0" y="0"/>
            <a:chExt cx="971693" cy="1593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71693" cy="1593725"/>
            </a:xfrm>
            <a:custGeom>
              <a:avLst/>
              <a:gdLst/>
              <a:ahLst/>
              <a:cxnLst/>
              <a:rect l="l" t="t" r="r" b="b"/>
              <a:pathLst>
                <a:path w="971693" h="1593725">
                  <a:moveTo>
                    <a:pt x="66332" y="0"/>
                  </a:moveTo>
                  <a:lnTo>
                    <a:pt x="905361" y="0"/>
                  </a:lnTo>
                  <a:cubicBezTo>
                    <a:pt x="922953" y="0"/>
                    <a:pt x="939825" y="6989"/>
                    <a:pt x="952265" y="19428"/>
                  </a:cubicBezTo>
                  <a:cubicBezTo>
                    <a:pt x="964704" y="31868"/>
                    <a:pt x="971693" y="48740"/>
                    <a:pt x="971693" y="66332"/>
                  </a:cubicBezTo>
                  <a:lnTo>
                    <a:pt x="971693" y="1527394"/>
                  </a:lnTo>
                  <a:cubicBezTo>
                    <a:pt x="971693" y="1544986"/>
                    <a:pt x="964704" y="1561858"/>
                    <a:pt x="952265" y="1574297"/>
                  </a:cubicBezTo>
                  <a:cubicBezTo>
                    <a:pt x="939825" y="1586737"/>
                    <a:pt x="922953" y="1593725"/>
                    <a:pt x="905361" y="1593725"/>
                  </a:cubicBezTo>
                  <a:lnTo>
                    <a:pt x="66332" y="1593725"/>
                  </a:lnTo>
                  <a:cubicBezTo>
                    <a:pt x="48740" y="1593725"/>
                    <a:pt x="31868" y="1586737"/>
                    <a:pt x="19428" y="1574297"/>
                  </a:cubicBezTo>
                  <a:cubicBezTo>
                    <a:pt x="6989" y="1561858"/>
                    <a:pt x="0" y="1544986"/>
                    <a:pt x="0" y="1527394"/>
                  </a:cubicBezTo>
                  <a:lnTo>
                    <a:pt x="0" y="66332"/>
                  </a:lnTo>
                  <a:cubicBezTo>
                    <a:pt x="0" y="48740"/>
                    <a:pt x="6989" y="31868"/>
                    <a:pt x="19428" y="19428"/>
                  </a:cubicBezTo>
                  <a:cubicBezTo>
                    <a:pt x="31868" y="6989"/>
                    <a:pt x="48740" y="0"/>
                    <a:pt x="66332" y="0"/>
                  </a:cubicBez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180157" y="3435895"/>
            <a:ext cx="9723712" cy="188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52"/>
              </a:lnSpc>
              <a:spcBef>
                <a:spcPct val="0"/>
              </a:spcBef>
            </a:pPr>
            <a:r>
              <a:rPr lang="en-US" sz="4111" b="1" spc="427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1.Predicting worker productivity in the </a:t>
            </a:r>
            <a:r>
              <a:rPr lang="en-US" sz="4111" b="1" spc="427">
                <a:solidFill>
                  <a:srgbClr val="FFB5C2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Sewing</a:t>
            </a:r>
            <a:r>
              <a:rPr lang="en-US" sz="4111" b="1" spc="427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 department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9261" y="6178601"/>
            <a:ext cx="9723712" cy="1886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50"/>
              </a:lnSpc>
              <a:spcBef>
                <a:spcPct val="0"/>
              </a:spcBef>
            </a:pPr>
            <a:r>
              <a:rPr lang="en-US" sz="4109" b="1" spc="427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2.Predicting worker productivity in the </a:t>
            </a:r>
            <a:r>
              <a:rPr lang="en-US" sz="4109" b="1" spc="427">
                <a:solidFill>
                  <a:srgbClr val="FFB5C2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Finishing</a:t>
            </a:r>
            <a:r>
              <a:rPr lang="en-US" sz="4109" b="1" spc="427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 department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7753728" y="1007872"/>
            <a:ext cx="16545936" cy="14841203"/>
          </a:xfrm>
          <a:custGeom>
            <a:avLst/>
            <a:gdLst/>
            <a:ahLst/>
            <a:cxnLst/>
            <a:rect l="l" t="t" r="r" b="b"/>
            <a:pathLst>
              <a:path w="16545936" h="14841203">
                <a:moveTo>
                  <a:pt x="16545935" y="0"/>
                </a:moveTo>
                <a:lnTo>
                  <a:pt x="0" y="0"/>
                </a:lnTo>
                <a:lnTo>
                  <a:pt x="0" y="14841203"/>
                </a:lnTo>
                <a:lnTo>
                  <a:pt x="16545935" y="14841203"/>
                </a:lnTo>
                <a:lnTo>
                  <a:pt x="16545935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8115545" y="-1024911"/>
            <a:ext cx="12171018" cy="10917034"/>
          </a:xfrm>
          <a:custGeom>
            <a:avLst/>
            <a:gdLst/>
            <a:ahLst/>
            <a:cxnLst/>
            <a:rect l="l" t="t" r="r" b="b"/>
            <a:pathLst>
              <a:path w="12171018" h="10917034">
                <a:moveTo>
                  <a:pt x="12171018" y="0"/>
                </a:moveTo>
                <a:lnTo>
                  <a:pt x="0" y="0"/>
                </a:lnTo>
                <a:lnTo>
                  <a:pt x="0" y="10917034"/>
                </a:lnTo>
                <a:lnTo>
                  <a:pt x="12171018" y="10917034"/>
                </a:lnTo>
                <a:lnTo>
                  <a:pt x="12171018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700000">
            <a:off x="7578611" y="6487613"/>
            <a:ext cx="786231" cy="786231"/>
          </a:xfrm>
          <a:custGeom>
            <a:avLst/>
            <a:gdLst/>
            <a:ahLst/>
            <a:cxnLst/>
            <a:rect l="l" t="t" r="r" b="b"/>
            <a:pathLst>
              <a:path w="786231" h="786231">
                <a:moveTo>
                  <a:pt x="0" y="0"/>
                </a:moveTo>
                <a:lnTo>
                  <a:pt x="786231" y="0"/>
                </a:lnTo>
                <a:lnTo>
                  <a:pt x="786231" y="786232"/>
                </a:lnTo>
                <a:lnTo>
                  <a:pt x="0" y="786232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524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6" name="Group 6"/>
          <p:cNvGrpSpPr/>
          <p:nvPr/>
        </p:nvGrpSpPr>
        <p:grpSpPr>
          <a:xfrm>
            <a:off x="9435435" y="-709767"/>
            <a:ext cx="8852565" cy="10996767"/>
            <a:chOff x="0" y="0"/>
            <a:chExt cx="635000" cy="788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" cy="788805"/>
            </a:xfrm>
            <a:custGeom>
              <a:avLst/>
              <a:gdLst/>
              <a:ahLst/>
              <a:cxnLst/>
              <a:rect l="l" t="t" r="r" b="b"/>
              <a:pathLst>
                <a:path w="635000" h="788805">
                  <a:moveTo>
                    <a:pt x="17081" y="0"/>
                  </a:moveTo>
                  <a:lnTo>
                    <a:pt x="617919" y="0"/>
                  </a:lnTo>
                  <a:cubicBezTo>
                    <a:pt x="627353" y="0"/>
                    <a:pt x="635000" y="7647"/>
                    <a:pt x="635000" y="17081"/>
                  </a:cubicBezTo>
                  <a:lnTo>
                    <a:pt x="635000" y="771724"/>
                  </a:lnTo>
                  <a:cubicBezTo>
                    <a:pt x="635000" y="776254"/>
                    <a:pt x="633200" y="780599"/>
                    <a:pt x="629997" y="783802"/>
                  </a:cubicBezTo>
                  <a:cubicBezTo>
                    <a:pt x="626794" y="787005"/>
                    <a:pt x="622449" y="788805"/>
                    <a:pt x="617919" y="788805"/>
                  </a:cubicBezTo>
                  <a:lnTo>
                    <a:pt x="17081" y="788805"/>
                  </a:lnTo>
                  <a:cubicBezTo>
                    <a:pt x="7647" y="788805"/>
                    <a:pt x="0" y="781158"/>
                    <a:pt x="0" y="771724"/>
                  </a:cubicBezTo>
                  <a:lnTo>
                    <a:pt x="0" y="17081"/>
                  </a:lnTo>
                  <a:cubicBezTo>
                    <a:pt x="0" y="7647"/>
                    <a:pt x="7647" y="0"/>
                    <a:pt x="17081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635000" cy="836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9280576" y="3279410"/>
            <a:ext cx="1791653" cy="2057400"/>
          </a:xfrm>
          <a:custGeom>
            <a:avLst/>
            <a:gdLst/>
            <a:ahLst/>
            <a:cxnLst/>
            <a:rect l="l" t="t" r="r" b="b"/>
            <a:pathLst>
              <a:path w="1791653" h="2057400">
                <a:moveTo>
                  <a:pt x="0" y="0"/>
                </a:moveTo>
                <a:lnTo>
                  <a:pt x="1791653" y="0"/>
                </a:lnTo>
                <a:lnTo>
                  <a:pt x="179165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280576" y="6324780"/>
            <a:ext cx="1792939" cy="2058878"/>
          </a:xfrm>
          <a:custGeom>
            <a:avLst/>
            <a:gdLst/>
            <a:ahLst/>
            <a:cxnLst/>
            <a:rect l="l" t="t" r="r" b="b"/>
            <a:pathLst>
              <a:path w="1792939" h="2058878">
                <a:moveTo>
                  <a:pt x="0" y="0"/>
                </a:moveTo>
                <a:lnTo>
                  <a:pt x="1792940" y="0"/>
                </a:lnTo>
                <a:lnTo>
                  <a:pt x="1792940" y="2058877"/>
                </a:lnTo>
                <a:lnTo>
                  <a:pt x="0" y="2058877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957241" y="528983"/>
            <a:ext cx="7808952" cy="1679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71"/>
              </a:lnSpc>
            </a:pPr>
            <a:r>
              <a:rPr lang="en-US" sz="3708" spc="582">
                <a:solidFill>
                  <a:srgbClr val="FF2D98"/>
                </a:solidFill>
                <a:latin typeface="Archivo Black"/>
                <a:ea typeface="Archivo Black"/>
                <a:cs typeface="Archivo Black"/>
                <a:sym typeface="Archivo Black"/>
              </a:rPr>
              <a:t>SEWING AND FINISHING</a:t>
            </a:r>
          </a:p>
          <a:p>
            <a:pPr algn="ctr">
              <a:lnSpc>
                <a:spcPts val="6971"/>
              </a:lnSpc>
              <a:spcBef>
                <a:spcPct val="0"/>
              </a:spcBef>
            </a:pPr>
            <a:r>
              <a:rPr lang="en-US" sz="3708" spc="582">
                <a:solidFill>
                  <a:srgbClr val="FF2D98"/>
                </a:solidFill>
                <a:latin typeface="Archivo Black"/>
                <a:ea typeface="Archivo Black"/>
                <a:cs typeface="Archivo Black"/>
                <a:sym typeface="Archivo Black"/>
              </a:rPr>
              <a:t>WORKFLOWS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34127" y="3362836"/>
            <a:ext cx="2092047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435">
                <a:solidFill>
                  <a:srgbClr val="FFB5C2"/>
                </a:solidFill>
                <a:latin typeface="Inter"/>
                <a:ea typeface="Inter"/>
                <a:cs typeface="Inter"/>
                <a:sym typeface="Inter"/>
              </a:rPr>
              <a:t>Sewing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34127" y="6502904"/>
            <a:ext cx="262759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spc="435">
                <a:solidFill>
                  <a:srgbClr val="FFB5C2"/>
                </a:solidFill>
                <a:latin typeface="Inter"/>
                <a:ea typeface="Inter"/>
                <a:cs typeface="Inter"/>
                <a:sym typeface="Inter"/>
              </a:rPr>
              <a:t>Finishing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60828" y="4260485"/>
            <a:ext cx="6185784" cy="737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22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Joins cut fabric pieces, create complete garment parts.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60828" y="7316118"/>
            <a:ext cx="6562984" cy="989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20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Inspects, trims, irons, and prepares the completed garments for final quality check and shipment.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65454" y="83294"/>
            <a:ext cx="8447408" cy="5420821"/>
            <a:chOff x="0" y="0"/>
            <a:chExt cx="2224832" cy="14277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24832" cy="1427706"/>
            </a:xfrm>
            <a:custGeom>
              <a:avLst/>
              <a:gdLst/>
              <a:ahLst/>
              <a:cxnLst/>
              <a:rect l="l" t="t" r="r" b="b"/>
              <a:pathLst>
                <a:path w="2224832" h="1427706">
                  <a:moveTo>
                    <a:pt x="54073" y="0"/>
                  </a:moveTo>
                  <a:lnTo>
                    <a:pt x="2170759" y="0"/>
                  </a:lnTo>
                  <a:cubicBezTo>
                    <a:pt x="2200623" y="0"/>
                    <a:pt x="2224832" y="24209"/>
                    <a:pt x="2224832" y="54073"/>
                  </a:cubicBezTo>
                  <a:lnTo>
                    <a:pt x="2224832" y="1373633"/>
                  </a:lnTo>
                  <a:cubicBezTo>
                    <a:pt x="2224832" y="1403497"/>
                    <a:pt x="2200623" y="1427706"/>
                    <a:pt x="2170759" y="1427706"/>
                  </a:cubicBezTo>
                  <a:lnTo>
                    <a:pt x="54073" y="1427706"/>
                  </a:lnTo>
                  <a:cubicBezTo>
                    <a:pt x="24209" y="1427706"/>
                    <a:pt x="0" y="1403497"/>
                    <a:pt x="0" y="1373633"/>
                  </a:cubicBezTo>
                  <a:lnTo>
                    <a:pt x="0" y="54073"/>
                  </a:lnTo>
                  <a:cubicBezTo>
                    <a:pt x="0" y="24209"/>
                    <a:pt x="24209" y="0"/>
                    <a:pt x="5407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224832" cy="1475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835342" y="436926"/>
            <a:ext cx="7643374" cy="1183549"/>
            <a:chOff x="0" y="0"/>
            <a:chExt cx="2013070" cy="3117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13070" cy="311716"/>
            </a:xfrm>
            <a:custGeom>
              <a:avLst/>
              <a:gdLst/>
              <a:ahLst/>
              <a:cxnLst/>
              <a:rect l="l" t="t" r="r" b="b"/>
              <a:pathLst>
                <a:path w="2013070" h="311716">
                  <a:moveTo>
                    <a:pt x="41529" y="0"/>
                  </a:moveTo>
                  <a:lnTo>
                    <a:pt x="1971541" y="0"/>
                  </a:lnTo>
                  <a:cubicBezTo>
                    <a:pt x="1994477" y="0"/>
                    <a:pt x="2013070" y="18593"/>
                    <a:pt x="2013070" y="41529"/>
                  </a:cubicBezTo>
                  <a:lnTo>
                    <a:pt x="2013070" y="270188"/>
                  </a:lnTo>
                  <a:cubicBezTo>
                    <a:pt x="2013070" y="293123"/>
                    <a:pt x="1994477" y="311716"/>
                    <a:pt x="1971541" y="311716"/>
                  </a:cubicBezTo>
                  <a:lnTo>
                    <a:pt x="41529" y="311716"/>
                  </a:lnTo>
                  <a:cubicBezTo>
                    <a:pt x="18593" y="311716"/>
                    <a:pt x="0" y="293123"/>
                    <a:pt x="0" y="270188"/>
                  </a:cubicBezTo>
                  <a:lnTo>
                    <a:pt x="0" y="41529"/>
                  </a:lnTo>
                  <a:cubicBezTo>
                    <a:pt x="0" y="18593"/>
                    <a:pt x="18593" y="0"/>
                    <a:pt x="41529" y="0"/>
                  </a:cubicBezTo>
                  <a:close/>
                </a:path>
              </a:pathLst>
            </a:custGeom>
            <a:solidFill>
              <a:srgbClr val="D9DAD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013070" cy="3593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Shapiro-Wilk test:Check the normility of Actual productivity in two groups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697519" y="1829416"/>
            <a:ext cx="6183277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H0:  The data is normally distributed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H1:  The data is not normally distributed</a:t>
            </a:r>
          </a:p>
        </p:txBody>
      </p:sp>
      <p:sp>
        <p:nvSpPr>
          <p:cNvPr id="9" name="Freeform 9"/>
          <p:cNvSpPr/>
          <p:nvPr/>
        </p:nvSpPr>
        <p:spPr>
          <a:xfrm>
            <a:off x="9944741" y="2910849"/>
            <a:ext cx="7688834" cy="849168"/>
          </a:xfrm>
          <a:custGeom>
            <a:avLst/>
            <a:gdLst/>
            <a:ahLst/>
            <a:cxnLst/>
            <a:rect l="l" t="t" r="r" b="b"/>
            <a:pathLst>
              <a:path w="7688834" h="849168">
                <a:moveTo>
                  <a:pt x="0" y="0"/>
                </a:moveTo>
                <a:lnTo>
                  <a:pt x="7688834" y="0"/>
                </a:lnTo>
                <a:lnTo>
                  <a:pt x="7688834" y="849168"/>
                </a:lnTo>
                <a:lnTo>
                  <a:pt x="0" y="849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963236" y="4141653"/>
            <a:ext cx="7387586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Actual Productivity is not normally distributed  for both department.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19878" y="247839"/>
            <a:ext cx="8290469" cy="1283548"/>
            <a:chOff x="0" y="0"/>
            <a:chExt cx="2183498" cy="3380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83498" cy="338054"/>
            </a:xfrm>
            <a:custGeom>
              <a:avLst/>
              <a:gdLst/>
              <a:ahLst/>
              <a:cxnLst/>
              <a:rect l="l" t="t" r="r" b="b"/>
              <a:pathLst>
                <a:path w="2183498" h="338054">
                  <a:moveTo>
                    <a:pt x="43890" y="0"/>
                  </a:moveTo>
                  <a:lnTo>
                    <a:pt x="2139608" y="0"/>
                  </a:lnTo>
                  <a:cubicBezTo>
                    <a:pt x="2151248" y="0"/>
                    <a:pt x="2162412" y="4624"/>
                    <a:pt x="2170643" y="12855"/>
                  </a:cubicBezTo>
                  <a:cubicBezTo>
                    <a:pt x="2178874" y="21086"/>
                    <a:pt x="2183498" y="32250"/>
                    <a:pt x="2183498" y="43890"/>
                  </a:cubicBezTo>
                  <a:lnTo>
                    <a:pt x="2183498" y="294164"/>
                  </a:lnTo>
                  <a:cubicBezTo>
                    <a:pt x="2183498" y="305804"/>
                    <a:pt x="2178874" y="316968"/>
                    <a:pt x="2170643" y="325199"/>
                  </a:cubicBezTo>
                  <a:cubicBezTo>
                    <a:pt x="2162412" y="333430"/>
                    <a:pt x="2151248" y="338054"/>
                    <a:pt x="2139608" y="338054"/>
                  </a:cubicBezTo>
                  <a:lnTo>
                    <a:pt x="43890" y="338054"/>
                  </a:lnTo>
                  <a:cubicBezTo>
                    <a:pt x="32250" y="338054"/>
                    <a:pt x="21086" y="333430"/>
                    <a:pt x="12855" y="325199"/>
                  </a:cubicBezTo>
                  <a:cubicBezTo>
                    <a:pt x="4624" y="316968"/>
                    <a:pt x="0" y="305804"/>
                    <a:pt x="0" y="294164"/>
                  </a:cubicBezTo>
                  <a:lnTo>
                    <a:pt x="0" y="43890"/>
                  </a:lnTo>
                  <a:cubicBezTo>
                    <a:pt x="0" y="32250"/>
                    <a:pt x="4624" y="21086"/>
                    <a:pt x="12855" y="12855"/>
                  </a:cubicBezTo>
                  <a:cubicBezTo>
                    <a:pt x="21086" y="4624"/>
                    <a:pt x="32250" y="0"/>
                    <a:pt x="43890" y="0"/>
                  </a:cubicBezTo>
                  <a:close/>
                </a:path>
              </a:pathLst>
            </a:custGeom>
            <a:solidFill>
              <a:srgbClr val="D24D6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2183498" cy="4047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79"/>
                </a:lnSpc>
                <a:spcBef>
                  <a:spcPct val="0"/>
                </a:spcBef>
              </a:pPr>
              <a:r>
                <a:rPr lang="en-US" sz="36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Actual Productivity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519878" y="1877041"/>
            <a:ext cx="8290469" cy="5508635"/>
          </a:xfrm>
          <a:custGeom>
            <a:avLst/>
            <a:gdLst/>
            <a:ahLst/>
            <a:cxnLst/>
            <a:rect l="l" t="t" r="r" b="b"/>
            <a:pathLst>
              <a:path w="8290469" h="5508635">
                <a:moveTo>
                  <a:pt x="0" y="0"/>
                </a:moveTo>
                <a:lnTo>
                  <a:pt x="8290469" y="0"/>
                </a:lnTo>
                <a:lnTo>
                  <a:pt x="8290469" y="5508635"/>
                </a:lnTo>
                <a:lnTo>
                  <a:pt x="0" y="5508635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7150" cap="rnd">
            <a:solidFill>
              <a:srgbClr val="000000"/>
            </a:solidFill>
            <a:prstDash val="solid"/>
            <a:round/>
          </a:ln>
        </p:spPr>
      </p:sp>
      <p:grpSp>
        <p:nvGrpSpPr>
          <p:cNvPr id="15" name="Group 15"/>
          <p:cNvGrpSpPr/>
          <p:nvPr/>
        </p:nvGrpSpPr>
        <p:grpSpPr>
          <a:xfrm>
            <a:off x="9587107" y="5504114"/>
            <a:ext cx="8572404" cy="4782886"/>
            <a:chOff x="0" y="0"/>
            <a:chExt cx="2257752" cy="125969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57752" cy="1259690"/>
            </a:xfrm>
            <a:custGeom>
              <a:avLst/>
              <a:gdLst/>
              <a:ahLst/>
              <a:cxnLst/>
              <a:rect l="l" t="t" r="r" b="b"/>
              <a:pathLst>
                <a:path w="2257752" h="1259690">
                  <a:moveTo>
                    <a:pt x="62315" y="0"/>
                  </a:moveTo>
                  <a:lnTo>
                    <a:pt x="2195437" y="0"/>
                  </a:lnTo>
                  <a:cubicBezTo>
                    <a:pt x="2229853" y="0"/>
                    <a:pt x="2257752" y="27900"/>
                    <a:pt x="2257752" y="62315"/>
                  </a:cubicBezTo>
                  <a:lnTo>
                    <a:pt x="2257752" y="1197375"/>
                  </a:lnTo>
                  <a:cubicBezTo>
                    <a:pt x="2257752" y="1213902"/>
                    <a:pt x="2251187" y="1229752"/>
                    <a:pt x="2239501" y="1241438"/>
                  </a:cubicBezTo>
                  <a:cubicBezTo>
                    <a:pt x="2227814" y="1253125"/>
                    <a:pt x="2211964" y="1259690"/>
                    <a:pt x="2195437" y="1259690"/>
                  </a:cubicBezTo>
                  <a:lnTo>
                    <a:pt x="62315" y="1259690"/>
                  </a:lnTo>
                  <a:cubicBezTo>
                    <a:pt x="45788" y="1259690"/>
                    <a:pt x="29938" y="1253125"/>
                    <a:pt x="18252" y="1241438"/>
                  </a:cubicBezTo>
                  <a:cubicBezTo>
                    <a:pt x="6565" y="1229752"/>
                    <a:pt x="0" y="1213902"/>
                    <a:pt x="0" y="1197375"/>
                  </a:cubicBezTo>
                  <a:lnTo>
                    <a:pt x="0" y="62315"/>
                  </a:lnTo>
                  <a:cubicBezTo>
                    <a:pt x="0" y="45788"/>
                    <a:pt x="6565" y="29938"/>
                    <a:pt x="18252" y="18252"/>
                  </a:cubicBezTo>
                  <a:cubicBezTo>
                    <a:pt x="29938" y="6565"/>
                    <a:pt x="45788" y="0"/>
                    <a:pt x="62315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257752" cy="1307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06658" y="7993441"/>
            <a:ext cx="6116909" cy="1471144"/>
            <a:chOff x="0" y="0"/>
            <a:chExt cx="1611038" cy="38746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11038" cy="387462"/>
            </a:xfrm>
            <a:custGeom>
              <a:avLst/>
              <a:gdLst/>
              <a:ahLst/>
              <a:cxnLst/>
              <a:rect l="l" t="t" r="r" b="b"/>
              <a:pathLst>
                <a:path w="1611038" h="387462">
                  <a:moveTo>
                    <a:pt x="51892" y="0"/>
                  </a:moveTo>
                  <a:lnTo>
                    <a:pt x="1559146" y="0"/>
                  </a:lnTo>
                  <a:cubicBezTo>
                    <a:pt x="1587805" y="0"/>
                    <a:pt x="1611038" y="23233"/>
                    <a:pt x="1611038" y="51892"/>
                  </a:cubicBezTo>
                  <a:lnTo>
                    <a:pt x="1611038" y="335570"/>
                  </a:lnTo>
                  <a:cubicBezTo>
                    <a:pt x="1611038" y="364229"/>
                    <a:pt x="1587805" y="387462"/>
                    <a:pt x="1559146" y="387462"/>
                  </a:cubicBezTo>
                  <a:lnTo>
                    <a:pt x="51892" y="387462"/>
                  </a:lnTo>
                  <a:cubicBezTo>
                    <a:pt x="23233" y="387462"/>
                    <a:pt x="0" y="364229"/>
                    <a:pt x="0" y="335570"/>
                  </a:cubicBezTo>
                  <a:lnTo>
                    <a:pt x="0" y="51892"/>
                  </a:lnTo>
                  <a:cubicBezTo>
                    <a:pt x="0" y="23233"/>
                    <a:pt x="23233" y="0"/>
                    <a:pt x="51892" y="0"/>
                  </a:cubicBezTo>
                  <a:close/>
                </a:path>
              </a:pathLst>
            </a:custGeom>
            <a:solidFill>
              <a:srgbClr val="FFB5C2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611038" cy="435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Mann-Witney test  (Non parametric)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878577" y="8272213"/>
            <a:ext cx="1553519" cy="913598"/>
            <a:chOff x="0" y="0"/>
            <a:chExt cx="1382118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82118" cy="812800"/>
            </a:xfrm>
            <a:custGeom>
              <a:avLst/>
              <a:gdLst/>
              <a:ahLst/>
              <a:cxnLst/>
              <a:rect l="l" t="t" r="r" b="b"/>
              <a:pathLst>
                <a:path w="1382118" h="812800">
                  <a:moveTo>
                    <a:pt x="1382118" y="406400"/>
                  </a:moveTo>
                  <a:lnTo>
                    <a:pt x="975718" y="0"/>
                  </a:lnTo>
                  <a:lnTo>
                    <a:pt x="975718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975718" y="609600"/>
                  </a:lnTo>
                  <a:lnTo>
                    <a:pt x="975718" y="812800"/>
                  </a:lnTo>
                  <a:lnTo>
                    <a:pt x="1382118" y="406400"/>
                  </a:lnTo>
                  <a:close/>
                </a:path>
              </a:pathLst>
            </a:custGeom>
            <a:solidFill>
              <a:srgbClr val="FFC71F"/>
            </a:solidFill>
            <a:ln w="57150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155575"/>
              <a:ext cx="1280518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082755" y="5838304"/>
            <a:ext cx="7846079" cy="18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H0:There is no difference in the distribution of productivity between departments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H1:There is difference in the distribution of productivity between departments.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endParaRPr lang="en-US" sz="2100" b="1">
              <a:solidFill>
                <a:srgbClr val="000000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9963236" y="7523657"/>
            <a:ext cx="7718185" cy="948180"/>
          </a:xfrm>
          <a:custGeom>
            <a:avLst/>
            <a:gdLst/>
            <a:ahLst/>
            <a:cxnLst/>
            <a:rect l="l" t="t" r="r" b="b"/>
            <a:pathLst>
              <a:path w="7718185" h="948180">
                <a:moveTo>
                  <a:pt x="0" y="0"/>
                </a:moveTo>
                <a:lnTo>
                  <a:pt x="7718185" y="0"/>
                </a:lnTo>
                <a:lnTo>
                  <a:pt x="7718185" y="948180"/>
                </a:lnTo>
                <a:lnTo>
                  <a:pt x="0" y="9481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0082755" y="8681387"/>
            <a:ext cx="8205245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Suggesting that there is a statistically significant difference in Actual productivity between the two departments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27845" y="2036170"/>
            <a:ext cx="8395720" cy="7690691"/>
            <a:chOff x="0" y="0"/>
            <a:chExt cx="422719" cy="3872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2719" cy="387221"/>
            </a:xfrm>
            <a:custGeom>
              <a:avLst/>
              <a:gdLst/>
              <a:ahLst/>
              <a:cxnLst/>
              <a:rect l="l" t="t" r="r" b="b"/>
              <a:pathLst>
                <a:path w="422719" h="387221">
                  <a:moveTo>
                    <a:pt x="67719" y="0"/>
                  </a:moveTo>
                  <a:lnTo>
                    <a:pt x="355000" y="0"/>
                  </a:lnTo>
                  <a:cubicBezTo>
                    <a:pt x="372960" y="0"/>
                    <a:pt x="390185" y="7135"/>
                    <a:pt x="402884" y="19834"/>
                  </a:cubicBezTo>
                  <a:cubicBezTo>
                    <a:pt x="415584" y="32534"/>
                    <a:pt x="422719" y="49759"/>
                    <a:pt x="422719" y="67719"/>
                  </a:cubicBezTo>
                  <a:lnTo>
                    <a:pt x="422719" y="319502"/>
                  </a:lnTo>
                  <a:cubicBezTo>
                    <a:pt x="422719" y="337462"/>
                    <a:pt x="415584" y="354687"/>
                    <a:pt x="402884" y="367387"/>
                  </a:cubicBezTo>
                  <a:cubicBezTo>
                    <a:pt x="390185" y="380086"/>
                    <a:pt x="372960" y="387221"/>
                    <a:pt x="355000" y="387221"/>
                  </a:cubicBezTo>
                  <a:lnTo>
                    <a:pt x="67719" y="387221"/>
                  </a:lnTo>
                  <a:cubicBezTo>
                    <a:pt x="30319" y="387221"/>
                    <a:pt x="0" y="356902"/>
                    <a:pt x="0" y="319502"/>
                  </a:cubicBezTo>
                  <a:lnTo>
                    <a:pt x="0" y="67719"/>
                  </a:lnTo>
                  <a:cubicBezTo>
                    <a:pt x="0" y="49759"/>
                    <a:pt x="7135" y="32534"/>
                    <a:pt x="19834" y="19834"/>
                  </a:cubicBezTo>
                  <a:cubicBezTo>
                    <a:pt x="32534" y="7135"/>
                    <a:pt x="49759" y="0"/>
                    <a:pt x="67719" y="0"/>
                  </a:cubicBezTo>
                  <a:close/>
                </a:path>
              </a:pathLst>
            </a:custGeom>
            <a:solidFill>
              <a:srgbClr val="FFFBF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2719" cy="434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78602" y="244770"/>
            <a:ext cx="6569265" cy="1169652"/>
            <a:chOff x="0" y="0"/>
            <a:chExt cx="1730177" cy="3080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30177" cy="308056"/>
            </a:xfrm>
            <a:custGeom>
              <a:avLst/>
              <a:gdLst/>
              <a:ahLst/>
              <a:cxnLst/>
              <a:rect l="l" t="t" r="r" b="b"/>
              <a:pathLst>
                <a:path w="1730177" h="308056">
                  <a:moveTo>
                    <a:pt x="55390" y="0"/>
                  </a:moveTo>
                  <a:lnTo>
                    <a:pt x="1674787" y="0"/>
                  </a:lnTo>
                  <a:cubicBezTo>
                    <a:pt x="1705378" y="0"/>
                    <a:pt x="1730177" y="24799"/>
                    <a:pt x="1730177" y="55390"/>
                  </a:cubicBezTo>
                  <a:lnTo>
                    <a:pt x="1730177" y="252667"/>
                  </a:lnTo>
                  <a:cubicBezTo>
                    <a:pt x="1730177" y="283258"/>
                    <a:pt x="1705378" y="308056"/>
                    <a:pt x="1674787" y="308056"/>
                  </a:cubicBezTo>
                  <a:lnTo>
                    <a:pt x="55390" y="308056"/>
                  </a:lnTo>
                  <a:cubicBezTo>
                    <a:pt x="24799" y="308056"/>
                    <a:pt x="0" y="283258"/>
                    <a:pt x="0" y="252667"/>
                  </a:cubicBezTo>
                  <a:lnTo>
                    <a:pt x="0" y="55390"/>
                  </a:lnTo>
                  <a:cubicBezTo>
                    <a:pt x="0" y="24799"/>
                    <a:pt x="24799" y="0"/>
                    <a:pt x="55390" y="0"/>
                  </a:cubicBezTo>
                  <a:close/>
                </a:path>
              </a:pathLst>
            </a:custGeom>
            <a:solidFill>
              <a:srgbClr val="FF2D9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1730177" cy="384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  <a:spcBef>
                  <a:spcPct val="0"/>
                </a:spcBef>
              </a:pPr>
              <a:r>
                <a:rPr lang="en-US" sz="41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Targeted Productivity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478602" y="1975210"/>
            <a:ext cx="8615912" cy="5568033"/>
          </a:xfrm>
          <a:custGeom>
            <a:avLst/>
            <a:gdLst/>
            <a:ahLst/>
            <a:cxnLst/>
            <a:rect l="l" t="t" r="r" b="b"/>
            <a:pathLst>
              <a:path w="8615912" h="5568033">
                <a:moveTo>
                  <a:pt x="0" y="0"/>
                </a:moveTo>
                <a:lnTo>
                  <a:pt x="8615912" y="0"/>
                </a:lnTo>
                <a:lnTo>
                  <a:pt x="8615912" y="5568033"/>
                </a:lnTo>
                <a:lnTo>
                  <a:pt x="0" y="5568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47625" cap="rnd">
            <a:solidFill>
              <a:srgbClr val="000000"/>
            </a:solidFill>
            <a:prstDash val="solid"/>
            <a:round/>
          </a:ln>
        </p:spPr>
      </p:sp>
      <p:grpSp>
        <p:nvGrpSpPr>
          <p:cNvPr id="9" name="Group 9"/>
          <p:cNvGrpSpPr/>
          <p:nvPr/>
        </p:nvGrpSpPr>
        <p:grpSpPr>
          <a:xfrm>
            <a:off x="10153521" y="2313066"/>
            <a:ext cx="7630031" cy="3086100"/>
            <a:chOff x="0" y="0"/>
            <a:chExt cx="2009555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09555" cy="812800"/>
            </a:xfrm>
            <a:custGeom>
              <a:avLst/>
              <a:gdLst/>
              <a:ahLst/>
              <a:cxnLst/>
              <a:rect l="l" t="t" r="r" b="b"/>
              <a:pathLst>
                <a:path w="2009555" h="812800">
                  <a:moveTo>
                    <a:pt x="66968" y="0"/>
                  </a:moveTo>
                  <a:lnTo>
                    <a:pt x="1942588" y="0"/>
                  </a:lnTo>
                  <a:cubicBezTo>
                    <a:pt x="1979573" y="0"/>
                    <a:pt x="2009555" y="29983"/>
                    <a:pt x="2009555" y="66968"/>
                  </a:cubicBezTo>
                  <a:lnTo>
                    <a:pt x="2009555" y="745832"/>
                  </a:lnTo>
                  <a:cubicBezTo>
                    <a:pt x="2009555" y="763593"/>
                    <a:pt x="2002500" y="780627"/>
                    <a:pt x="1989941" y="793186"/>
                  </a:cubicBezTo>
                  <a:cubicBezTo>
                    <a:pt x="1977382" y="805744"/>
                    <a:pt x="1960349" y="812800"/>
                    <a:pt x="1942588" y="812800"/>
                  </a:cubicBezTo>
                  <a:lnTo>
                    <a:pt x="66968" y="812800"/>
                  </a:lnTo>
                  <a:cubicBezTo>
                    <a:pt x="29983" y="812800"/>
                    <a:pt x="0" y="782817"/>
                    <a:pt x="0" y="745832"/>
                  </a:cubicBezTo>
                  <a:lnTo>
                    <a:pt x="0" y="66968"/>
                  </a:lnTo>
                  <a:cubicBezTo>
                    <a:pt x="0" y="29983"/>
                    <a:pt x="29983" y="0"/>
                    <a:pt x="6696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009555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220004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Shapiro-wilk test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220004"/>
                  </a:solidFill>
                  <a:latin typeface="Arial Unicode"/>
                  <a:ea typeface="Arial Unicode"/>
                  <a:cs typeface="Arial Unicode"/>
                  <a:sym typeface="Arial Unicode"/>
                </a:rPr>
                <a:t>p-value&lt;0.05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220004"/>
                  </a:solidFill>
                  <a:latin typeface="Arial Unicode"/>
                  <a:ea typeface="Arial Unicode"/>
                  <a:cs typeface="Arial Unicode"/>
                  <a:sym typeface="Arial Unicode"/>
                </a:rPr>
                <a:t>Targeted productivity is not normally distributed for both department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153521" y="5694749"/>
            <a:ext cx="7630031" cy="3122622"/>
            <a:chOff x="0" y="0"/>
            <a:chExt cx="2009555" cy="8224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09555" cy="822419"/>
            </a:xfrm>
            <a:custGeom>
              <a:avLst/>
              <a:gdLst/>
              <a:ahLst/>
              <a:cxnLst/>
              <a:rect l="l" t="t" r="r" b="b"/>
              <a:pathLst>
                <a:path w="2009555" h="822419">
                  <a:moveTo>
                    <a:pt x="66968" y="0"/>
                  </a:moveTo>
                  <a:lnTo>
                    <a:pt x="1942588" y="0"/>
                  </a:lnTo>
                  <a:cubicBezTo>
                    <a:pt x="1979573" y="0"/>
                    <a:pt x="2009555" y="29983"/>
                    <a:pt x="2009555" y="66968"/>
                  </a:cubicBezTo>
                  <a:lnTo>
                    <a:pt x="2009555" y="755451"/>
                  </a:lnTo>
                  <a:cubicBezTo>
                    <a:pt x="2009555" y="792436"/>
                    <a:pt x="1979573" y="822419"/>
                    <a:pt x="1942588" y="822419"/>
                  </a:cubicBezTo>
                  <a:lnTo>
                    <a:pt x="66968" y="822419"/>
                  </a:lnTo>
                  <a:cubicBezTo>
                    <a:pt x="49207" y="822419"/>
                    <a:pt x="32173" y="815363"/>
                    <a:pt x="19614" y="802804"/>
                  </a:cubicBezTo>
                  <a:cubicBezTo>
                    <a:pt x="7056" y="790246"/>
                    <a:pt x="0" y="773212"/>
                    <a:pt x="0" y="755451"/>
                  </a:cubicBezTo>
                  <a:lnTo>
                    <a:pt x="0" y="66968"/>
                  </a:lnTo>
                  <a:cubicBezTo>
                    <a:pt x="0" y="29983"/>
                    <a:pt x="29983" y="0"/>
                    <a:pt x="66968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009555" cy="8700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220004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Mann-witney test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220004"/>
                  </a:solidFill>
                  <a:latin typeface="Arial Unicode"/>
                  <a:ea typeface="Arial Unicode"/>
                  <a:cs typeface="Arial Unicode"/>
                  <a:sym typeface="Arial Unicode"/>
                </a:rPr>
                <a:t>p-value&gt;0.05</a:t>
              </a:r>
            </a:p>
            <a:p>
              <a:pPr algn="ctr">
                <a:lnSpc>
                  <a:spcPts val="3359"/>
                </a:lnSpc>
              </a:pPr>
              <a:endParaRPr lang="en-US" sz="2400">
                <a:solidFill>
                  <a:srgbClr val="220004"/>
                </a:solidFill>
                <a:latin typeface="Arial Unicode"/>
                <a:ea typeface="Arial Unicode"/>
                <a:cs typeface="Arial Unicode"/>
                <a:sym typeface="Arial Unicode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8149176" y="244770"/>
            <a:ext cx="9974389" cy="1456577"/>
          </a:xfrm>
          <a:custGeom>
            <a:avLst/>
            <a:gdLst/>
            <a:ahLst/>
            <a:cxnLst/>
            <a:rect l="l" t="t" r="r" b="b"/>
            <a:pathLst>
              <a:path w="9974389" h="1456577">
                <a:moveTo>
                  <a:pt x="0" y="0"/>
                </a:moveTo>
                <a:lnTo>
                  <a:pt x="9974389" y="0"/>
                </a:lnTo>
                <a:lnTo>
                  <a:pt x="9974389" y="1456577"/>
                </a:lnTo>
                <a:lnTo>
                  <a:pt x="0" y="14565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9050" cap="rnd">
            <a:solidFill>
              <a:srgbClr val="000000"/>
            </a:solidFill>
            <a:prstDash val="solid"/>
            <a:round/>
          </a:ln>
        </p:spPr>
      </p:sp>
      <p:sp>
        <p:nvSpPr>
          <p:cNvPr id="16" name="Freeform 16"/>
          <p:cNvSpPr/>
          <p:nvPr/>
        </p:nvSpPr>
        <p:spPr>
          <a:xfrm>
            <a:off x="7235548" y="5986937"/>
            <a:ext cx="2917973" cy="2830434"/>
          </a:xfrm>
          <a:custGeom>
            <a:avLst/>
            <a:gdLst/>
            <a:ahLst/>
            <a:cxnLst/>
            <a:rect l="l" t="t" r="r" b="b"/>
            <a:pathLst>
              <a:path w="2917973" h="2830434">
                <a:moveTo>
                  <a:pt x="0" y="0"/>
                </a:moveTo>
                <a:lnTo>
                  <a:pt x="2917973" y="0"/>
                </a:lnTo>
                <a:lnTo>
                  <a:pt x="2917973" y="2830434"/>
                </a:lnTo>
                <a:lnTo>
                  <a:pt x="0" y="2830434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271364" y="7495618"/>
            <a:ext cx="6987936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There is no statistically significant difference in targeted productivity between the two departments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91472" y="8074738"/>
            <a:ext cx="7103042" cy="1110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5"/>
              </a:lnSpc>
              <a:spcBef>
                <a:spcPct val="0"/>
              </a:spcBef>
            </a:pPr>
            <a:r>
              <a:rPr lang="en-US" sz="3168" b="1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Productivity goals are same for both department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26236" y="-255895"/>
            <a:ext cx="16545936" cy="14841203"/>
          </a:xfrm>
          <a:custGeom>
            <a:avLst/>
            <a:gdLst/>
            <a:ahLst/>
            <a:cxnLst/>
            <a:rect l="l" t="t" r="r" b="b"/>
            <a:pathLst>
              <a:path w="16545936" h="14841203">
                <a:moveTo>
                  <a:pt x="16545935" y="14841203"/>
                </a:moveTo>
                <a:lnTo>
                  <a:pt x="0" y="14841203"/>
                </a:lnTo>
                <a:lnTo>
                  <a:pt x="0" y="0"/>
                </a:lnTo>
                <a:lnTo>
                  <a:pt x="16545935" y="0"/>
                </a:lnTo>
                <a:lnTo>
                  <a:pt x="16545935" y="14841203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570118" y="-2882369"/>
            <a:ext cx="14682067" cy="13169369"/>
          </a:xfrm>
          <a:custGeom>
            <a:avLst/>
            <a:gdLst/>
            <a:ahLst/>
            <a:cxnLst/>
            <a:rect l="l" t="t" r="r" b="b"/>
            <a:pathLst>
              <a:path w="14682067" h="13169369">
                <a:moveTo>
                  <a:pt x="14682067" y="13169369"/>
                </a:moveTo>
                <a:lnTo>
                  <a:pt x="0" y="13169369"/>
                </a:lnTo>
                <a:lnTo>
                  <a:pt x="0" y="0"/>
                </a:lnTo>
                <a:lnTo>
                  <a:pt x="14682067" y="0"/>
                </a:lnTo>
                <a:lnTo>
                  <a:pt x="14682067" y="13169369"/>
                </a:lnTo>
                <a:close/>
              </a:path>
            </a:pathLst>
          </a:custGeom>
          <a:blipFill>
            <a:blip r:embed="rId4">
              <a:alphaModFix amt="41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994951" y="4110600"/>
            <a:ext cx="10136449" cy="1804425"/>
            <a:chOff x="0" y="0"/>
            <a:chExt cx="2282972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82972" cy="406400"/>
            </a:xfrm>
            <a:custGeom>
              <a:avLst/>
              <a:gdLst/>
              <a:ahLst/>
              <a:cxnLst/>
              <a:rect l="l" t="t" r="r" b="b"/>
              <a:pathLst>
                <a:path w="2282972" h="406400">
                  <a:moveTo>
                    <a:pt x="2079772" y="0"/>
                  </a:moveTo>
                  <a:cubicBezTo>
                    <a:pt x="2191996" y="0"/>
                    <a:pt x="2282972" y="90976"/>
                    <a:pt x="2282972" y="203200"/>
                  </a:cubicBezTo>
                  <a:cubicBezTo>
                    <a:pt x="2282972" y="315424"/>
                    <a:pt x="2191996" y="406400"/>
                    <a:pt x="207977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28297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1174517" y="0"/>
            <a:ext cx="6115206" cy="10287000"/>
          </a:xfrm>
          <a:custGeom>
            <a:avLst/>
            <a:gdLst/>
            <a:ahLst/>
            <a:cxnLst/>
            <a:rect l="l" t="t" r="r" b="b"/>
            <a:pathLst>
              <a:path w="6115206" h="10287000">
                <a:moveTo>
                  <a:pt x="0" y="0"/>
                </a:moveTo>
                <a:lnTo>
                  <a:pt x="6115206" y="0"/>
                </a:lnTo>
                <a:lnTo>
                  <a:pt x="61152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209550" cap="rnd">
            <a:solidFill>
              <a:srgbClr val="000000"/>
            </a:solidFill>
            <a:prstDash val="sysDot"/>
            <a:round/>
          </a:ln>
        </p:spPr>
      </p:sp>
      <p:sp>
        <p:nvSpPr>
          <p:cNvPr id="8" name="Freeform 8"/>
          <p:cNvSpPr/>
          <p:nvPr/>
        </p:nvSpPr>
        <p:spPr>
          <a:xfrm>
            <a:off x="13004113" y="0"/>
            <a:ext cx="6124549" cy="10287000"/>
          </a:xfrm>
          <a:custGeom>
            <a:avLst/>
            <a:gdLst/>
            <a:ahLst/>
            <a:cxnLst/>
            <a:rect l="l" t="t" r="r" b="b"/>
            <a:pathLst>
              <a:path w="6124549" h="10287000">
                <a:moveTo>
                  <a:pt x="0" y="0"/>
                </a:moveTo>
                <a:lnTo>
                  <a:pt x="6124549" y="0"/>
                </a:lnTo>
                <a:lnTo>
                  <a:pt x="612454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238125" cap="rnd">
            <a:solidFill>
              <a:srgbClr val="000000"/>
            </a:solidFill>
            <a:prstDash val="sysDot"/>
            <a:round/>
          </a:ln>
        </p:spPr>
      </p:sp>
      <p:sp>
        <p:nvSpPr>
          <p:cNvPr id="9" name="TextBox 9"/>
          <p:cNvSpPr txBox="1"/>
          <p:nvPr/>
        </p:nvSpPr>
        <p:spPr>
          <a:xfrm>
            <a:off x="5699343" y="4274541"/>
            <a:ext cx="6889314" cy="738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6"/>
              </a:lnSpc>
              <a:spcBef>
                <a:spcPct val="0"/>
              </a:spcBef>
            </a:pPr>
            <a:r>
              <a:rPr lang="en-US" sz="4318" b="1">
                <a:solidFill>
                  <a:srgbClr val="FF2D98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Explanatory Data Analysis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17547" y="5095875"/>
            <a:ext cx="325290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B5C2"/>
                </a:solidFill>
                <a:latin typeface="Arial Unicode"/>
                <a:ea typeface="Arial Unicode"/>
                <a:cs typeface="Arial Unicode"/>
                <a:sym typeface="Arial Unicode"/>
              </a:rPr>
              <a:t>For Sewing  department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1652871"/>
            <a:ext cx="8925025" cy="7909962"/>
            <a:chOff x="0" y="0"/>
            <a:chExt cx="558383" cy="4948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8383" cy="494877"/>
            </a:xfrm>
            <a:custGeom>
              <a:avLst/>
              <a:gdLst/>
              <a:ahLst/>
              <a:cxnLst/>
              <a:rect l="l" t="t" r="r" b="b"/>
              <a:pathLst>
                <a:path w="558383" h="494877">
                  <a:moveTo>
                    <a:pt x="63703" y="0"/>
                  </a:moveTo>
                  <a:lnTo>
                    <a:pt x="494680" y="0"/>
                  </a:lnTo>
                  <a:cubicBezTo>
                    <a:pt x="529862" y="0"/>
                    <a:pt x="558383" y="28521"/>
                    <a:pt x="558383" y="63703"/>
                  </a:cubicBezTo>
                  <a:lnTo>
                    <a:pt x="558383" y="431174"/>
                  </a:lnTo>
                  <a:cubicBezTo>
                    <a:pt x="558383" y="448069"/>
                    <a:pt x="551671" y="464272"/>
                    <a:pt x="539725" y="476218"/>
                  </a:cubicBezTo>
                  <a:cubicBezTo>
                    <a:pt x="527778" y="488165"/>
                    <a:pt x="511575" y="494877"/>
                    <a:pt x="494680" y="494877"/>
                  </a:cubicBezTo>
                  <a:lnTo>
                    <a:pt x="63703" y="494877"/>
                  </a:lnTo>
                  <a:cubicBezTo>
                    <a:pt x="46808" y="494877"/>
                    <a:pt x="30605" y="488165"/>
                    <a:pt x="18658" y="476218"/>
                  </a:cubicBezTo>
                  <a:cubicBezTo>
                    <a:pt x="6712" y="464272"/>
                    <a:pt x="0" y="448069"/>
                    <a:pt x="0" y="431174"/>
                  </a:cubicBezTo>
                  <a:lnTo>
                    <a:pt x="0" y="63703"/>
                  </a:lnTo>
                  <a:cubicBezTo>
                    <a:pt x="0" y="46808"/>
                    <a:pt x="6712" y="30605"/>
                    <a:pt x="18658" y="18658"/>
                  </a:cubicBezTo>
                  <a:cubicBezTo>
                    <a:pt x="30605" y="6712"/>
                    <a:pt x="46808" y="0"/>
                    <a:pt x="6370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58383" cy="542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077789" y="302391"/>
            <a:ext cx="6544589" cy="940905"/>
            <a:chOff x="0" y="0"/>
            <a:chExt cx="1723678" cy="2478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3678" cy="247810"/>
            </a:xfrm>
            <a:custGeom>
              <a:avLst/>
              <a:gdLst/>
              <a:ahLst/>
              <a:cxnLst/>
              <a:rect l="l" t="t" r="r" b="b"/>
              <a:pathLst>
                <a:path w="1723678" h="247810">
                  <a:moveTo>
                    <a:pt x="20110" y="0"/>
                  </a:moveTo>
                  <a:lnTo>
                    <a:pt x="1703568" y="0"/>
                  </a:lnTo>
                  <a:cubicBezTo>
                    <a:pt x="1714674" y="0"/>
                    <a:pt x="1723678" y="9004"/>
                    <a:pt x="1723678" y="20110"/>
                  </a:cubicBezTo>
                  <a:lnTo>
                    <a:pt x="1723678" y="227700"/>
                  </a:lnTo>
                  <a:cubicBezTo>
                    <a:pt x="1723678" y="233034"/>
                    <a:pt x="1721559" y="238149"/>
                    <a:pt x="1717788" y="241920"/>
                  </a:cubicBezTo>
                  <a:cubicBezTo>
                    <a:pt x="1714016" y="245692"/>
                    <a:pt x="1708901" y="247810"/>
                    <a:pt x="1703568" y="247810"/>
                  </a:cubicBezTo>
                  <a:lnTo>
                    <a:pt x="20110" y="247810"/>
                  </a:lnTo>
                  <a:cubicBezTo>
                    <a:pt x="9004" y="247810"/>
                    <a:pt x="0" y="238807"/>
                    <a:pt x="0" y="227700"/>
                  </a:cubicBezTo>
                  <a:lnTo>
                    <a:pt x="0" y="20110"/>
                  </a:lnTo>
                  <a:cubicBezTo>
                    <a:pt x="0" y="9004"/>
                    <a:pt x="9004" y="0"/>
                    <a:pt x="20110" y="0"/>
                  </a:cubicBezTo>
                  <a:close/>
                </a:path>
              </a:pathLst>
            </a:custGeom>
            <a:solidFill>
              <a:srgbClr val="FF2D9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1723678" cy="324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220004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CORRELATION HEETMAP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262229" y="1652871"/>
            <a:ext cx="8562882" cy="7909962"/>
          </a:xfrm>
          <a:custGeom>
            <a:avLst/>
            <a:gdLst/>
            <a:ahLst/>
            <a:cxnLst/>
            <a:rect l="l" t="t" r="r" b="b"/>
            <a:pathLst>
              <a:path w="8562882" h="7909962">
                <a:moveTo>
                  <a:pt x="0" y="0"/>
                </a:moveTo>
                <a:lnTo>
                  <a:pt x="8562882" y="0"/>
                </a:lnTo>
                <a:lnTo>
                  <a:pt x="8562882" y="7909962"/>
                </a:lnTo>
                <a:lnTo>
                  <a:pt x="0" y="7909962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1955213" y="4768429"/>
            <a:ext cx="3727658" cy="1678846"/>
            <a:chOff x="0" y="0"/>
            <a:chExt cx="981770" cy="4421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1770" cy="442165"/>
            </a:xfrm>
            <a:custGeom>
              <a:avLst/>
              <a:gdLst/>
              <a:ahLst/>
              <a:cxnLst/>
              <a:rect l="l" t="t" r="r" b="b"/>
              <a:pathLst>
                <a:path w="981770" h="442165">
                  <a:moveTo>
                    <a:pt x="137074" y="0"/>
                  </a:moveTo>
                  <a:lnTo>
                    <a:pt x="844696" y="0"/>
                  </a:lnTo>
                  <a:cubicBezTo>
                    <a:pt x="920400" y="0"/>
                    <a:pt x="981770" y="61370"/>
                    <a:pt x="981770" y="137074"/>
                  </a:cubicBezTo>
                  <a:lnTo>
                    <a:pt x="981770" y="305091"/>
                  </a:lnTo>
                  <a:cubicBezTo>
                    <a:pt x="981770" y="380795"/>
                    <a:pt x="920400" y="442165"/>
                    <a:pt x="844696" y="442165"/>
                  </a:cubicBezTo>
                  <a:lnTo>
                    <a:pt x="137074" y="442165"/>
                  </a:lnTo>
                  <a:cubicBezTo>
                    <a:pt x="61370" y="442165"/>
                    <a:pt x="0" y="380795"/>
                    <a:pt x="0" y="305091"/>
                  </a:cubicBezTo>
                  <a:lnTo>
                    <a:pt x="0" y="137074"/>
                  </a:lnTo>
                  <a:cubicBezTo>
                    <a:pt x="0" y="61370"/>
                    <a:pt x="61370" y="0"/>
                    <a:pt x="137074" y="0"/>
                  </a:cubicBezTo>
                  <a:close/>
                </a:path>
              </a:pathLst>
            </a:custGeom>
            <a:solidFill>
              <a:srgbClr val="CBE1E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981770" cy="499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</a:pPr>
              <a:r>
                <a:rPr lang="en-US" sz="2899">
                  <a:solidFill>
                    <a:srgbClr val="22000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Moderate Correlated Predictors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26508" y="6933974"/>
            <a:ext cx="5785068" cy="1404775"/>
            <a:chOff x="0" y="0"/>
            <a:chExt cx="1523639" cy="36998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23639" cy="369982"/>
            </a:xfrm>
            <a:custGeom>
              <a:avLst/>
              <a:gdLst/>
              <a:ahLst/>
              <a:cxnLst/>
              <a:rect l="l" t="t" r="r" b="b"/>
              <a:pathLst>
                <a:path w="1523639" h="369982">
                  <a:moveTo>
                    <a:pt x="22750" y="0"/>
                  </a:moveTo>
                  <a:lnTo>
                    <a:pt x="1500889" y="0"/>
                  </a:lnTo>
                  <a:cubicBezTo>
                    <a:pt x="1513454" y="0"/>
                    <a:pt x="1523639" y="10186"/>
                    <a:pt x="1523639" y="22750"/>
                  </a:cubicBezTo>
                  <a:lnTo>
                    <a:pt x="1523639" y="347232"/>
                  </a:lnTo>
                  <a:cubicBezTo>
                    <a:pt x="1523639" y="353265"/>
                    <a:pt x="1521242" y="359052"/>
                    <a:pt x="1516976" y="363319"/>
                  </a:cubicBezTo>
                  <a:cubicBezTo>
                    <a:pt x="1512709" y="367585"/>
                    <a:pt x="1506923" y="369982"/>
                    <a:pt x="1500889" y="369982"/>
                  </a:cubicBezTo>
                  <a:lnTo>
                    <a:pt x="22750" y="369982"/>
                  </a:lnTo>
                  <a:cubicBezTo>
                    <a:pt x="16717" y="369982"/>
                    <a:pt x="10930" y="367585"/>
                    <a:pt x="6663" y="363319"/>
                  </a:cubicBezTo>
                  <a:cubicBezTo>
                    <a:pt x="2397" y="359052"/>
                    <a:pt x="0" y="353265"/>
                    <a:pt x="0" y="347232"/>
                  </a:cubicBezTo>
                  <a:lnTo>
                    <a:pt x="0" y="22750"/>
                  </a:lnTo>
                  <a:cubicBezTo>
                    <a:pt x="0" y="16717"/>
                    <a:pt x="2397" y="10930"/>
                    <a:pt x="6663" y="6663"/>
                  </a:cubicBezTo>
                  <a:cubicBezTo>
                    <a:pt x="10930" y="2397"/>
                    <a:pt x="16717" y="0"/>
                    <a:pt x="2275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523639" cy="417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</a:t>
              </a:r>
              <a:r>
                <a:rPr lang="en-US" sz="2299" b="1">
                  <a:solidFill>
                    <a:srgbClr val="22000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 of workers and SMV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 b="1">
                  <a:solidFill>
                    <a:srgbClr val="22000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incentive and target productivity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515808" y="7148590"/>
            <a:ext cx="7099" cy="27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9350084" y="2635977"/>
            <a:ext cx="8937916" cy="1819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Targeted productivity </a:t>
            </a: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</a:t>
            </a:r>
            <a:r>
              <a:rPr lang="en-US" sz="25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incentive</a:t>
            </a: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have strong positive relationship with Actual productivity.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12305" y="287595"/>
            <a:ext cx="11668126" cy="9638981"/>
            <a:chOff x="0" y="0"/>
            <a:chExt cx="663821" cy="5483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821" cy="548380"/>
            </a:xfrm>
            <a:custGeom>
              <a:avLst/>
              <a:gdLst/>
              <a:ahLst/>
              <a:cxnLst/>
              <a:rect l="l" t="t" r="r" b="b"/>
              <a:pathLst>
                <a:path w="663821" h="548380">
                  <a:moveTo>
                    <a:pt x="48727" y="0"/>
                  </a:moveTo>
                  <a:lnTo>
                    <a:pt x="615095" y="0"/>
                  </a:lnTo>
                  <a:cubicBezTo>
                    <a:pt x="642006" y="0"/>
                    <a:pt x="663821" y="21816"/>
                    <a:pt x="663821" y="48727"/>
                  </a:cubicBezTo>
                  <a:lnTo>
                    <a:pt x="663821" y="499653"/>
                  </a:lnTo>
                  <a:cubicBezTo>
                    <a:pt x="663821" y="512576"/>
                    <a:pt x="658688" y="524970"/>
                    <a:pt x="649550" y="534108"/>
                  </a:cubicBezTo>
                  <a:cubicBezTo>
                    <a:pt x="640412" y="543246"/>
                    <a:pt x="628018" y="548380"/>
                    <a:pt x="615095" y="548380"/>
                  </a:cubicBezTo>
                  <a:lnTo>
                    <a:pt x="48727" y="548380"/>
                  </a:lnTo>
                  <a:cubicBezTo>
                    <a:pt x="35803" y="548380"/>
                    <a:pt x="23410" y="543246"/>
                    <a:pt x="14272" y="534108"/>
                  </a:cubicBezTo>
                  <a:cubicBezTo>
                    <a:pt x="5134" y="524970"/>
                    <a:pt x="0" y="512576"/>
                    <a:pt x="0" y="499653"/>
                  </a:cubicBezTo>
                  <a:lnTo>
                    <a:pt x="0" y="48727"/>
                  </a:lnTo>
                  <a:cubicBezTo>
                    <a:pt x="0" y="35803"/>
                    <a:pt x="5134" y="23410"/>
                    <a:pt x="14272" y="14272"/>
                  </a:cubicBezTo>
                  <a:cubicBezTo>
                    <a:pt x="23410" y="5134"/>
                    <a:pt x="35803" y="0"/>
                    <a:pt x="48727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663821" cy="596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54465" y="287595"/>
            <a:ext cx="5743431" cy="6955628"/>
          </a:xfrm>
          <a:custGeom>
            <a:avLst/>
            <a:gdLst/>
            <a:ahLst/>
            <a:cxnLst/>
            <a:rect l="l" t="t" r="r" b="b"/>
            <a:pathLst>
              <a:path w="5743431" h="6955628">
                <a:moveTo>
                  <a:pt x="0" y="0"/>
                </a:moveTo>
                <a:lnTo>
                  <a:pt x="5743431" y="0"/>
                </a:lnTo>
                <a:lnTo>
                  <a:pt x="5743431" y="6955628"/>
                </a:lnTo>
                <a:lnTo>
                  <a:pt x="0" y="6955628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 cap="rnd">
            <a:solidFill>
              <a:srgbClr val="FFFFFF"/>
            </a:solidFill>
            <a:prstDash val="solid"/>
            <a:round/>
          </a:ln>
        </p:spPr>
      </p:sp>
      <p:grpSp>
        <p:nvGrpSpPr>
          <p:cNvPr id="6" name="Group 6"/>
          <p:cNvGrpSpPr/>
          <p:nvPr/>
        </p:nvGrpSpPr>
        <p:grpSpPr>
          <a:xfrm>
            <a:off x="6535534" y="5592071"/>
            <a:ext cx="5703524" cy="3046465"/>
            <a:chOff x="0" y="0"/>
            <a:chExt cx="1502163" cy="8023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02163" cy="802361"/>
            </a:xfrm>
            <a:custGeom>
              <a:avLst/>
              <a:gdLst/>
              <a:ahLst/>
              <a:cxnLst/>
              <a:rect l="l" t="t" r="r" b="b"/>
              <a:pathLst>
                <a:path w="1502163" h="802361">
                  <a:moveTo>
                    <a:pt x="108591" y="0"/>
                  </a:moveTo>
                  <a:lnTo>
                    <a:pt x="1393571" y="0"/>
                  </a:lnTo>
                  <a:cubicBezTo>
                    <a:pt x="1422371" y="0"/>
                    <a:pt x="1449992" y="11441"/>
                    <a:pt x="1470357" y="31806"/>
                  </a:cubicBezTo>
                  <a:cubicBezTo>
                    <a:pt x="1490722" y="52171"/>
                    <a:pt x="1502163" y="79791"/>
                    <a:pt x="1502163" y="108591"/>
                  </a:cubicBezTo>
                  <a:lnTo>
                    <a:pt x="1502163" y="693770"/>
                  </a:lnTo>
                  <a:cubicBezTo>
                    <a:pt x="1502163" y="722570"/>
                    <a:pt x="1490722" y="750191"/>
                    <a:pt x="1470357" y="770555"/>
                  </a:cubicBezTo>
                  <a:cubicBezTo>
                    <a:pt x="1449992" y="790920"/>
                    <a:pt x="1422371" y="802361"/>
                    <a:pt x="1393571" y="802361"/>
                  </a:cubicBezTo>
                  <a:lnTo>
                    <a:pt x="108591" y="802361"/>
                  </a:lnTo>
                  <a:cubicBezTo>
                    <a:pt x="48618" y="802361"/>
                    <a:pt x="0" y="753743"/>
                    <a:pt x="0" y="693770"/>
                  </a:cubicBezTo>
                  <a:lnTo>
                    <a:pt x="0" y="108591"/>
                  </a:lnTo>
                  <a:cubicBezTo>
                    <a:pt x="0" y="48618"/>
                    <a:pt x="48618" y="0"/>
                    <a:pt x="108591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1502163" cy="9071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3"/>
                </a:lnSpc>
              </a:pPr>
              <a:r>
                <a:rPr lang="en-US" sz="2100" b="1">
                  <a:solidFill>
                    <a:srgbClr val="000000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Range:26-60 workers</a:t>
              </a:r>
            </a:p>
            <a:p>
              <a:pPr algn="ctr">
                <a:lnSpc>
                  <a:spcPts val="3633"/>
                </a:lnSpc>
              </a:pPr>
              <a:endParaRPr lang="en-US" sz="2100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endParaRPr>
            </a:p>
            <a:p>
              <a:pPr algn="ctr">
                <a:lnSpc>
                  <a:spcPts val="3633"/>
                </a:lnSpc>
              </a:pPr>
              <a:r>
                <a:rPr lang="en-US" sz="2100" b="1">
                  <a:solidFill>
                    <a:srgbClr val="000000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Most sewing lines operate with 50–60 workers indicating standardized line balancing and </a:t>
              </a:r>
              <a:r>
                <a:rPr lang="en-US" sz="2100" b="1">
                  <a:solidFill>
                    <a:srgbClr val="2555B7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similar production setups across lines</a:t>
              </a:r>
              <a:r>
                <a:rPr lang="en-US" sz="2100" b="1">
                  <a:solidFill>
                    <a:srgbClr val="000000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.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88711" y="5592071"/>
            <a:ext cx="5259662" cy="3046465"/>
            <a:chOff x="0" y="0"/>
            <a:chExt cx="1385261" cy="8023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5261" cy="802361"/>
            </a:xfrm>
            <a:custGeom>
              <a:avLst/>
              <a:gdLst/>
              <a:ahLst/>
              <a:cxnLst/>
              <a:rect l="l" t="t" r="r" b="b"/>
              <a:pathLst>
                <a:path w="1385261" h="802361">
                  <a:moveTo>
                    <a:pt x="117755" y="0"/>
                  </a:moveTo>
                  <a:lnTo>
                    <a:pt x="1267505" y="0"/>
                  </a:lnTo>
                  <a:cubicBezTo>
                    <a:pt x="1298736" y="0"/>
                    <a:pt x="1328688" y="12406"/>
                    <a:pt x="1350771" y="34490"/>
                  </a:cubicBezTo>
                  <a:cubicBezTo>
                    <a:pt x="1372854" y="56573"/>
                    <a:pt x="1385261" y="86525"/>
                    <a:pt x="1385261" y="117755"/>
                  </a:cubicBezTo>
                  <a:lnTo>
                    <a:pt x="1385261" y="684606"/>
                  </a:lnTo>
                  <a:cubicBezTo>
                    <a:pt x="1385261" y="749640"/>
                    <a:pt x="1332540" y="802361"/>
                    <a:pt x="1267505" y="802361"/>
                  </a:cubicBezTo>
                  <a:lnTo>
                    <a:pt x="117755" y="802361"/>
                  </a:lnTo>
                  <a:cubicBezTo>
                    <a:pt x="52721" y="802361"/>
                    <a:pt x="0" y="749640"/>
                    <a:pt x="0" y="684606"/>
                  </a:cubicBezTo>
                  <a:lnTo>
                    <a:pt x="0" y="117755"/>
                  </a:lnTo>
                  <a:cubicBezTo>
                    <a:pt x="0" y="52721"/>
                    <a:pt x="52721" y="0"/>
                    <a:pt x="11775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161925"/>
              <a:ext cx="1385261" cy="9642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84"/>
                </a:lnSpc>
              </a:pPr>
              <a:r>
                <a:rPr lang="en-US" sz="2100" b="1">
                  <a:solidFill>
                    <a:srgbClr val="000000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Range:10 to 51 minutes</a:t>
              </a:r>
            </a:p>
            <a:p>
              <a:pPr algn="ctr">
                <a:lnSpc>
                  <a:spcPts val="4284"/>
                </a:lnSpc>
              </a:pPr>
              <a:endParaRPr lang="en-US" sz="2100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endParaRPr>
            </a:p>
            <a:p>
              <a:pPr algn="ctr">
                <a:lnSpc>
                  <a:spcPts val="4284"/>
                </a:lnSpc>
              </a:pPr>
              <a:r>
                <a:rPr lang="en-US" sz="2100" b="1">
                  <a:solidFill>
                    <a:srgbClr val="000000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Most of SMV values are  around 18–30, showing that most sewing lines have </a:t>
              </a:r>
              <a:r>
                <a:rPr lang="en-US" sz="2100" b="1">
                  <a:solidFill>
                    <a:srgbClr val="2555B7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similar standard operation times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14434" y="7326223"/>
            <a:ext cx="5883462" cy="2624627"/>
            <a:chOff x="0" y="0"/>
            <a:chExt cx="1549554" cy="6912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49554" cy="691260"/>
            </a:xfrm>
            <a:custGeom>
              <a:avLst/>
              <a:gdLst/>
              <a:ahLst/>
              <a:cxnLst/>
              <a:rect l="l" t="t" r="r" b="b"/>
              <a:pathLst>
                <a:path w="1549554" h="691260">
                  <a:moveTo>
                    <a:pt x="61846" y="0"/>
                  </a:moveTo>
                  <a:lnTo>
                    <a:pt x="1487707" y="0"/>
                  </a:lnTo>
                  <a:cubicBezTo>
                    <a:pt x="1521864" y="0"/>
                    <a:pt x="1549554" y="27690"/>
                    <a:pt x="1549554" y="61846"/>
                  </a:cubicBezTo>
                  <a:lnTo>
                    <a:pt x="1549554" y="629413"/>
                  </a:lnTo>
                  <a:cubicBezTo>
                    <a:pt x="1549554" y="663570"/>
                    <a:pt x="1521864" y="691260"/>
                    <a:pt x="1487707" y="691260"/>
                  </a:cubicBezTo>
                  <a:lnTo>
                    <a:pt x="61846" y="691260"/>
                  </a:lnTo>
                  <a:cubicBezTo>
                    <a:pt x="27690" y="691260"/>
                    <a:pt x="0" y="663570"/>
                    <a:pt x="0" y="629413"/>
                  </a:cubicBezTo>
                  <a:lnTo>
                    <a:pt x="0" y="61846"/>
                  </a:lnTo>
                  <a:cubicBezTo>
                    <a:pt x="0" y="27690"/>
                    <a:pt x="27690" y="0"/>
                    <a:pt x="61846" y="0"/>
                  </a:cubicBezTo>
                  <a:close/>
                </a:path>
              </a:pathLst>
            </a:custGeom>
            <a:solidFill>
              <a:srgbClr val="FF2D98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549554" cy="748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Investigating the number of workers and Standard Minute Value (SMV) for the sewing Department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6736810" y="1028700"/>
            <a:ext cx="10819116" cy="3813738"/>
          </a:xfrm>
          <a:custGeom>
            <a:avLst/>
            <a:gdLst/>
            <a:ahLst/>
            <a:cxnLst/>
            <a:rect l="l" t="t" r="r" b="b"/>
            <a:pathLst>
              <a:path w="10819116" h="3813738">
                <a:moveTo>
                  <a:pt x="0" y="0"/>
                </a:moveTo>
                <a:lnTo>
                  <a:pt x="10819116" y="0"/>
                </a:lnTo>
                <a:lnTo>
                  <a:pt x="10819116" y="3813738"/>
                </a:lnTo>
                <a:lnTo>
                  <a:pt x="0" y="3813738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8617" y="7981363"/>
            <a:ext cx="5493028" cy="1648412"/>
            <a:chOff x="0" y="0"/>
            <a:chExt cx="1446723" cy="434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6724" cy="434150"/>
            </a:xfrm>
            <a:custGeom>
              <a:avLst/>
              <a:gdLst/>
              <a:ahLst/>
              <a:cxnLst/>
              <a:rect l="l" t="t" r="r" b="b"/>
              <a:pathLst>
                <a:path w="1446724" h="434150">
                  <a:moveTo>
                    <a:pt x="66242" y="0"/>
                  </a:moveTo>
                  <a:lnTo>
                    <a:pt x="1380481" y="0"/>
                  </a:lnTo>
                  <a:cubicBezTo>
                    <a:pt x="1398050" y="0"/>
                    <a:pt x="1414899" y="6979"/>
                    <a:pt x="1427322" y="19402"/>
                  </a:cubicBezTo>
                  <a:cubicBezTo>
                    <a:pt x="1439744" y="31825"/>
                    <a:pt x="1446724" y="48674"/>
                    <a:pt x="1446724" y="66242"/>
                  </a:cubicBezTo>
                  <a:lnTo>
                    <a:pt x="1446724" y="367907"/>
                  </a:lnTo>
                  <a:cubicBezTo>
                    <a:pt x="1446724" y="385476"/>
                    <a:pt x="1439744" y="402325"/>
                    <a:pt x="1427322" y="414748"/>
                  </a:cubicBezTo>
                  <a:cubicBezTo>
                    <a:pt x="1414899" y="427170"/>
                    <a:pt x="1398050" y="434150"/>
                    <a:pt x="1380481" y="434150"/>
                  </a:cubicBezTo>
                  <a:lnTo>
                    <a:pt x="66242" y="434150"/>
                  </a:lnTo>
                  <a:cubicBezTo>
                    <a:pt x="48674" y="434150"/>
                    <a:pt x="31825" y="427170"/>
                    <a:pt x="19402" y="414748"/>
                  </a:cubicBezTo>
                  <a:cubicBezTo>
                    <a:pt x="6979" y="402325"/>
                    <a:pt x="0" y="385476"/>
                    <a:pt x="0" y="367907"/>
                  </a:cubicBezTo>
                  <a:lnTo>
                    <a:pt x="0" y="66242"/>
                  </a:lnTo>
                  <a:cubicBezTo>
                    <a:pt x="0" y="48674"/>
                    <a:pt x="6979" y="31825"/>
                    <a:pt x="19402" y="19402"/>
                  </a:cubicBezTo>
                  <a:cubicBezTo>
                    <a:pt x="31825" y="6979"/>
                    <a:pt x="48674" y="0"/>
                    <a:pt x="66242" y="0"/>
                  </a:cubicBezTo>
                  <a:close/>
                </a:path>
              </a:pathLst>
            </a:custGeom>
            <a:solidFill>
              <a:srgbClr val="FF2D9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446723" cy="510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  <a:spcBef>
                  <a:spcPct val="0"/>
                </a:spcBef>
              </a:pPr>
              <a:r>
                <a:rPr lang="en-US" sz="41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Incentive Vs Actual Productivity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207432" y="456777"/>
            <a:ext cx="11713277" cy="9402795"/>
            <a:chOff x="0" y="0"/>
            <a:chExt cx="616479" cy="4948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16479" cy="494877"/>
            </a:xfrm>
            <a:custGeom>
              <a:avLst/>
              <a:gdLst/>
              <a:ahLst/>
              <a:cxnLst/>
              <a:rect l="l" t="t" r="r" b="b"/>
              <a:pathLst>
                <a:path w="616479" h="494877">
                  <a:moveTo>
                    <a:pt x="48539" y="0"/>
                  </a:moveTo>
                  <a:lnTo>
                    <a:pt x="567940" y="0"/>
                  </a:lnTo>
                  <a:cubicBezTo>
                    <a:pt x="594748" y="0"/>
                    <a:pt x="616479" y="21732"/>
                    <a:pt x="616479" y="48539"/>
                  </a:cubicBezTo>
                  <a:lnTo>
                    <a:pt x="616479" y="446338"/>
                  </a:lnTo>
                  <a:cubicBezTo>
                    <a:pt x="616479" y="459211"/>
                    <a:pt x="611365" y="471557"/>
                    <a:pt x="602262" y="480660"/>
                  </a:cubicBezTo>
                  <a:cubicBezTo>
                    <a:pt x="593160" y="489763"/>
                    <a:pt x="580814" y="494877"/>
                    <a:pt x="567940" y="494877"/>
                  </a:cubicBezTo>
                  <a:lnTo>
                    <a:pt x="48539" y="494877"/>
                  </a:lnTo>
                  <a:cubicBezTo>
                    <a:pt x="35665" y="494877"/>
                    <a:pt x="23319" y="489763"/>
                    <a:pt x="14217" y="480660"/>
                  </a:cubicBezTo>
                  <a:cubicBezTo>
                    <a:pt x="5114" y="471557"/>
                    <a:pt x="0" y="459211"/>
                    <a:pt x="0" y="446338"/>
                  </a:cubicBezTo>
                  <a:lnTo>
                    <a:pt x="0" y="48539"/>
                  </a:lnTo>
                  <a:cubicBezTo>
                    <a:pt x="0" y="35665"/>
                    <a:pt x="5114" y="23319"/>
                    <a:pt x="14217" y="14217"/>
                  </a:cubicBezTo>
                  <a:cubicBezTo>
                    <a:pt x="23319" y="5114"/>
                    <a:pt x="35665" y="0"/>
                    <a:pt x="48539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616479" cy="542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261662" y="688136"/>
            <a:ext cx="7283356" cy="4692965"/>
          </a:xfrm>
          <a:custGeom>
            <a:avLst/>
            <a:gdLst/>
            <a:ahLst/>
            <a:cxnLst/>
            <a:rect l="l" t="t" r="r" b="b"/>
            <a:pathLst>
              <a:path w="7283356" h="4692965">
                <a:moveTo>
                  <a:pt x="0" y="0"/>
                </a:moveTo>
                <a:lnTo>
                  <a:pt x="7283355" y="0"/>
                </a:lnTo>
                <a:lnTo>
                  <a:pt x="7283355" y="4692965"/>
                </a:lnTo>
                <a:lnTo>
                  <a:pt x="0" y="469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r="-314" b="-611"/>
            </a:stretch>
          </a:blipFill>
          <a:ln w="38100" cap="rnd">
            <a:solidFill>
              <a:srgbClr val="FFFFFF"/>
            </a:solidFill>
            <a:prstDash val="solid"/>
            <a:round/>
          </a:ln>
        </p:spPr>
      </p:sp>
      <p:sp>
        <p:nvSpPr>
          <p:cNvPr id="9" name="Freeform 9"/>
          <p:cNvSpPr/>
          <p:nvPr/>
        </p:nvSpPr>
        <p:spPr>
          <a:xfrm>
            <a:off x="7456575" y="5622951"/>
            <a:ext cx="9329848" cy="421247"/>
          </a:xfrm>
          <a:custGeom>
            <a:avLst/>
            <a:gdLst/>
            <a:ahLst/>
            <a:cxnLst/>
            <a:rect l="l" t="t" r="r" b="b"/>
            <a:pathLst>
              <a:path w="9329848" h="421247">
                <a:moveTo>
                  <a:pt x="0" y="0"/>
                </a:moveTo>
                <a:lnTo>
                  <a:pt x="9329848" y="0"/>
                </a:lnTo>
                <a:lnTo>
                  <a:pt x="9329848" y="421248"/>
                </a:lnTo>
                <a:lnTo>
                  <a:pt x="0" y="4212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563861" y="8256320"/>
            <a:ext cx="11115276" cy="1373455"/>
            <a:chOff x="0" y="0"/>
            <a:chExt cx="2927480" cy="3617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27480" cy="361733"/>
            </a:xfrm>
            <a:custGeom>
              <a:avLst/>
              <a:gdLst/>
              <a:ahLst/>
              <a:cxnLst/>
              <a:rect l="l" t="t" r="r" b="b"/>
              <a:pathLst>
                <a:path w="2927480" h="361733">
                  <a:moveTo>
                    <a:pt x="43184" y="0"/>
                  </a:moveTo>
                  <a:lnTo>
                    <a:pt x="2884296" y="0"/>
                  </a:lnTo>
                  <a:cubicBezTo>
                    <a:pt x="2895749" y="0"/>
                    <a:pt x="2906733" y="4550"/>
                    <a:pt x="2914832" y="12648"/>
                  </a:cubicBezTo>
                  <a:cubicBezTo>
                    <a:pt x="2922930" y="20747"/>
                    <a:pt x="2927480" y="31731"/>
                    <a:pt x="2927480" y="43184"/>
                  </a:cubicBezTo>
                  <a:lnTo>
                    <a:pt x="2927480" y="318549"/>
                  </a:lnTo>
                  <a:cubicBezTo>
                    <a:pt x="2927480" y="342399"/>
                    <a:pt x="2908146" y="361733"/>
                    <a:pt x="2884296" y="361733"/>
                  </a:cubicBezTo>
                  <a:lnTo>
                    <a:pt x="43184" y="361733"/>
                  </a:lnTo>
                  <a:cubicBezTo>
                    <a:pt x="19334" y="361733"/>
                    <a:pt x="0" y="342399"/>
                    <a:pt x="0" y="318549"/>
                  </a:cubicBezTo>
                  <a:lnTo>
                    <a:pt x="0" y="43184"/>
                  </a:lnTo>
                  <a:cubicBezTo>
                    <a:pt x="0" y="19334"/>
                    <a:pt x="19334" y="0"/>
                    <a:pt x="4318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927480" cy="418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</a:pPr>
              <a:r>
                <a:rPr lang="en-US" sz="2899" b="1">
                  <a:solidFill>
                    <a:srgbClr val="22000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This suggests that incentive scheme is currently very effective at driving output.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08659" y="6044199"/>
            <a:ext cx="5094681" cy="2297396"/>
            <a:chOff x="0" y="0"/>
            <a:chExt cx="1341809" cy="60507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41809" cy="605076"/>
            </a:xfrm>
            <a:custGeom>
              <a:avLst/>
              <a:gdLst/>
              <a:ahLst/>
              <a:cxnLst/>
              <a:rect l="l" t="t" r="r" b="b"/>
              <a:pathLst>
                <a:path w="1341809" h="605076">
                  <a:moveTo>
                    <a:pt x="86618" y="0"/>
                  </a:moveTo>
                  <a:lnTo>
                    <a:pt x="1255191" y="0"/>
                  </a:lnTo>
                  <a:cubicBezTo>
                    <a:pt x="1278164" y="0"/>
                    <a:pt x="1300195" y="9126"/>
                    <a:pt x="1316439" y="25370"/>
                  </a:cubicBezTo>
                  <a:cubicBezTo>
                    <a:pt x="1332683" y="41614"/>
                    <a:pt x="1341809" y="63645"/>
                    <a:pt x="1341809" y="86618"/>
                  </a:cubicBezTo>
                  <a:lnTo>
                    <a:pt x="1341809" y="518458"/>
                  </a:lnTo>
                  <a:cubicBezTo>
                    <a:pt x="1341809" y="541430"/>
                    <a:pt x="1332683" y="563462"/>
                    <a:pt x="1316439" y="579706"/>
                  </a:cubicBezTo>
                  <a:cubicBezTo>
                    <a:pt x="1300195" y="595950"/>
                    <a:pt x="1278164" y="605076"/>
                    <a:pt x="1255191" y="605076"/>
                  </a:cubicBezTo>
                  <a:lnTo>
                    <a:pt x="86618" y="605076"/>
                  </a:lnTo>
                  <a:cubicBezTo>
                    <a:pt x="63645" y="605076"/>
                    <a:pt x="41614" y="595950"/>
                    <a:pt x="25370" y="579706"/>
                  </a:cubicBezTo>
                  <a:cubicBezTo>
                    <a:pt x="9126" y="563462"/>
                    <a:pt x="0" y="541430"/>
                    <a:pt x="0" y="518458"/>
                  </a:cubicBezTo>
                  <a:lnTo>
                    <a:pt x="0" y="86618"/>
                  </a:lnTo>
                  <a:cubicBezTo>
                    <a:pt x="0" y="63645"/>
                    <a:pt x="9126" y="41614"/>
                    <a:pt x="25370" y="25370"/>
                  </a:cubicBezTo>
                  <a:cubicBezTo>
                    <a:pt x="41614" y="9126"/>
                    <a:pt x="63645" y="0"/>
                    <a:pt x="86618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341809" cy="6527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22000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Spearman correlation test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22000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p-value&lt;0.05</a:t>
              </a:r>
            </a:p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22000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So, There is a relationship between these two variables.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064070" y="6044199"/>
            <a:ext cx="5045178" cy="2339431"/>
            <a:chOff x="0" y="0"/>
            <a:chExt cx="1328771" cy="61614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28771" cy="616146"/>
            </a:xfrm>
            <a:custGeom>
              <a:avLst/>
              <a:gdLst/>
              <a:ahLst/>
              <a:cxnLst/>
              <a:rect l="l" t="t" r="r" b="b"/>
              <a:pathLst>
                <a:path w="1328771" h="616146">
                  <a:moveTo>
                    <a:pt x="87468" y="0"/>
                  </a:moveTo>
                  <a:lnTo>
                    <a:pt x="1241304" y="0"/>
                  </a:lnTo>
                  <a:cubicBezTo>
                    <a:pt x="1289611" y="0"/>
                    <a:pt x="1328771" y="39161"/>
                    <a:pt x="1328771" y="87468"/>
                  </a:cubicBezTo>
                  <a:lnTo>
                    <a:pt x="1328771" y="528679"/>
                  </a:lnTo>
                  <a:cubicBezTo>
                    <a:pt x="1328771" y="576986"/>
                    <a:pt x="1289611" y="616146"/>
                    <a:pt x="1241304" y="616146"/>
                  </a:cubicBezTo>
                  <a:lnTo>
                    <a:pt x="87468" y="616146"/>
                  </a:lnTo>
                  <a:cubicBezTo>
                    <a:pt x="64270" y="616146"/>
                    <a:pt x="42022" y="606931"/>
                    <a:pt x="25619" y="590528"/>
                  </a:cubicBezTo>
                  <a:cubicBezTo>
                    <a:pt x="9215" y="574124"/>
                    <a:pt x="0" y="551877"/>
                    <a:pt x="0" y="528679"/>
                  </a:cubicBezTo>
                  <a:lnTo>
                    <a:pt x="0" y="87468"/>
                  </a:lnTo>
                  <a:cubicBezTo>
                    <a:pt x="0" y="39161"/>
                    <a:pt x="39161" y="0"/>
                    <a:pt x="87468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328771" cy="663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22000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H0: There is no relationship between variables</a:t>
              </a:r>
            </a:p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22000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H1:There is a relationship between variables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378617" y="456777"/>
            <a:ext cx="5493028" cy="7331810"/>
          </a:xfrm>
          <a:custGeom>
            <a:avLst/>
            <a:gdLst/>
            <a:ahLst/>
            <a:cxnLst/>
            <a:rect l="l" t="t" r="r" b="b"/>
            <a:pathLst>
              <a:path w="5493028" h="7331810">
                <a:moveTo>
                  <a:pt x="0" y="0"/>
                </a:moveTo>
                <a:lnTo>
                  <a:pt x="5493028" y="0"/>
                </a:lnTo>
                <a:lnTo>
                  <a:pt x="5493028" y="7331810"/>
                </a:lnTo>
                <a:lnTo>
                  <a:pt x="0" y="733181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8446" b="-8446"/>
            </a:stretch>
          </a:blipFill>
          <a:ln w="76200" cap="rnd">
            <a:solidFill>
              <a:srgbClr val="FFFFFF"/>
            </a:solidFill>
            <a:prstDash val="solid"/>
            <a:round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9015" y="8255558"/>
            <a:ext cx="5470756" cy="1648412"/>
            <a:chOff x="0" y="0"/>
            <a:chExt cx="1440857" cy="434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0857" cy="434150"/>
            </a:xfrm>
            <a:custGeom>
              <a:avLst/>
              <a:gdLst/>
              <a:ahLst/>
              <a:cxnLst/>
              <a:rect l="l" t="t" r="r" b="b"/>
              <a:pathLst>
                <a:path w="1440857" h="434150">
                  <a:moveTo>
                    <a:pt x="66512" y="0"/>
                  </a:moveTo>
                  <a:lnTo>
                    <a:pt x="1374346" y="0"/>
                  </a:lnTo>
                  <a:cubicBezTo>
                    <a:pt x="1411079" y="0"/>
                    <a:pt x="1440857" y="29778"/>
                    <a:pt x="1440857" y="66512"/>
                  </a:cubicBezTo>
                  <a:lnTo>
                    <a:pt x="1440857" y="367638"/>
                  </a:lnTo>
                  <a:cubicBezTo>
                    <a:pt x="1440857" y="385278"/>
                    <a:pt x="1433850" y="402195"/>
                    <a:pt x="1421377" y="414669"/>
                  </a:cubicBezTo>
                  <a:cubicBezTo>
                    <a:pt x="1408903" y="427142"/>
                    <a:pt x="1391986" y="434150"/>
                    <a:pt x="1374346" y="434150"/>
                  </a:cubicBezTo>
                  <a:lnTo>
                    <a:pt x="66512" y="434150"/>
                  </a:lnTo>
                  <a:cubicBezTo>
                    <a:pt x="29778" y="434150"/>
                    <a:pt x="0" y="404371"/>
                    <a:pt x="0" y="367638"/>
                  </a:cubicBezTo>
                  <a:lnTo>
                    <a:pt x="0" y="66512"/>
                  </a:lnTo>
                  <a:cubicBezTo>
                    <a:pt x="0" y="48872"/>
                    <a:pt x="7007" y="31954"/>
                    <a:pt x="19481" y="19481"/>
                  </a:cubicBezTo>
                  <a:cubicBezTo>
                    <a:pt x="31954" y="7007"/>
                    <a:pt x="48872" y="0"/>
                    <a:pt x="66512" y="0"/>
                  </a:cubicBezTo>
                  <a:close/>
                </a:path>
              </a:pathLst>
            </a:custGeom>
            <a:solidFill>
              <a:srgbClr val="FF2D9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440857" cy="510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  <a:spcBef>
                  <a:spcPct val="0"/>
                </a:spcBef>
              </a:pPr>
              <a:r>
                <a:rPr lang="en-US" sz="41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 of workers vs SMV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082010" y="324009"/>
            <a:ext cx="11668126" cy="9638981"/>
            <a:chOff x="0" y="0"/>
            <a:chExt cx="663821" cy="5483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3821" cy="548380"/>
            </a:xfrm>
            <a:custGeom>
              <a:avLst/>
              <a:gdLst/>
              <a:ahLst/>
              <a:cxnLst/>
              <a:rect l="l" t="t" r="r" b="b"/>
              <a:pathLst>
                <a:path w="663821" h="548380">
                  <a:moveTo>
                    <a:pt x="48727" y="0"/>
                  </a:moveTo>
                  <a:lnTo>
                    <a:pt x="615095" y="0"/>
                  </a:lnTo>
                  <a:cubicBezTo>
                    <a:pt x="642006" y="0"/>
                    <a:pt x="663821" y="21816"/>
                    <a:pt x="663821" y="48727"/>
                  </a:cubicBezTo>
                  <a:lnTo>
                    <a:pt x="663821" y="499653"/>
                  </a:lnTo>
                  <a:cubicBezTo>
                    <a:pt x="663821" y="512576"/>
                    <a:pt x="658688" y="524970"/>
                    <a:pt x="649550" y="534108"/>
                  </a:cubicBezTo>
                  <a:cubicBezTo>
                    <a:pt x="640412" y="543246"/>
                    <a:pt x="628018" y="548380"/>
                    <a:pt x="615095" y="548380"/>
                  </a:cubicBezTo>
                  <a:lnTo>
                    <a:pt x="48727" y="548380"/>
                  </a:lnTo>
                  <a:cubicBezTo>
                    <a:pt x="35803" y="548380"/>
                    <a:pt x="23410" y="543246"/>
                    <a:pt x="14272" y="534108"/>
                  </a:cubicBezTo>
                  <a:cubicBezTo>
                    <a:pt x="5134" y="524970"/>
                    <a:pt x="0" y="512576"/>
                    <a:pt x="0" y="499653"/>
                  </a:cubicBezTo>
                  <a:lnTo>
                    <a:pt x="0" y="48727"/>
                  </a:lnTo>
                  <a:cubicBezTo>
                    <a:pt x="0" y="35803"/>
                    <a:pt x="5134" y="23410"/>
                    <a:pt x="14272" y="14272"/>
                  </a:cubicBezTo>
                  <a:cubicBezTo>
                    <a:pt x="23410" y="5134"/>
                    <a:pt x="35803" y="0"/>
                    <a:pt x="48727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663821" cy="596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713838" y="611925"/>
            <a:ext cx="8618836" cy="5602244"/>
          </a:xfrm>
          <a:custGeom>
            <a:avLst/>
            <a:gdLst/>
            <a:ahLst/>
            <a:cxnLst/>
            <a:rect l="l" t="t" r="r" b="b"/>
            <a:pathLst>
              <a:path w="8618836" h="5602244">
                <a:moveTo>
                  <a:pt x="0" y="0"/>
                </a:moveTo>
                <a:lnTo>
                  <a:pt x="8618836" y="0"/>
                </a:lnTo>
                <a:lnTo>
                  <a:pt x="8618836" y="5602244"/>
                </a:lnTo>
                <a:lnTo>
                  <a:pt x="0" y="5602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 cap="rnd">
            <a:solidFill>
              <a:srgbClr val="FFFFFF"/>
            </a:solidFill>
            <a:prstDash val="solid"/>
            <a:round/>
          </a:ln>
        </p:spPr>
      </p:sp>
      <p:sp>
        <p:nvSpPr>
          <p:cNvPr id="9" name="Freeform 9"/>
          <p:cNvSpPr/>
          <p:nvPr/>
        </p:nvSpPr>
        <p:spPr>
          <a:xfrm>
            <a:off x="6749936" y="6214169"/>
            <a:ext cx="10546640" cy="507398"/>
          </a:xfrm>
          <a:custGeom>
            <a:avLst/>
            <a:gdLst/>
            <a:ahLst/>
            <a:cxnLst/>
            <a:rect l="l" t="t" r="r" b="b"/>
            <a:pathLst>
              <a:path w="10546640" h="507398">
                <a:moveTo>
                  <a:pt x="0" y="0"/>
                </a:moveTo>
                <a:lnTo>
                  <a:pt x="10546640" y="0"/>
                </a:lnTo>
                <a:lnTo>
                  <a:pt x="10546640" y="507398"/>
                </a:lnTo>
                <a:lnTo>
                  <a:pt x="0" y="507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405659" y="8343533"/>
            <a:ext cx="11197918" cy="1560436"/>
            <a:chOff x="0" y="0"/>
            <a:chExt cx="2949246" cy="41097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49246" cy="410979"/>
            </a:xfrm>
            <a:custGeom>
              <a:avLst/>
              <a:gdLst/>
              <a:ahLst/>
              <a:cxnLst/>
              <a:rect l="l" t="t" r="r" b="b"/>
              <a:pathLst>
                <a:path w="2949246" h="410979">
                  <a:moveTo>
                    <a:pt x="42865" y="0"/>
                  </a:moveTo>
                  <a:lnTo>
                    <a:pt x="2906381" y="0"/>
                  </a:lnTo>
                  <a:cubicBezTo>
                    <a:pt x="2917749" y="0"/>
                    <a:pt x="2928652" y="4516"/>
                    <a:pt x="2936691" y="12555"/>
                  </a:cubicBezTo>
                  <a:cubicBezTo>
                    <a:pt x="2944730" y="20594"/>
                    <a:pt x="2949246" y="31497"/>
                    <a:pt x="2949246" y="42865"/>
                  </a:cubicBezTo>
                  <a:lnTo>
                    <a:pt x="2949246" y="368114"/>
                  </a:lnTo>
                  <a:cubicBezTo>
                    <a:pt x="2949246" y="379483"/>
                    <a:pt x="2944730" y="390385"/>
                    <a:pt x="2936691" y="398424"/>
                  </a:cubicBezTo>
                  <a:cubicBezTo>
                    <a:pt x="2928652" y="406463"/>
                    <a:pt x="2917749" y="410979"/>
                    <a:pt x="2906381" y="410979"/>
                  </a:cubicBezTo>
                  <a:lnTo>
                    <a:pt x="42865" y="410979"/>
                  </a:lnTo>
                  <a:cubicBezTo>
                    <a:pt x="31497" y="410979"/>
                    <a:pt x="20594" y="406463"/>
                    <a:pt x="12555" y="398424"/>
                  </a:cubicBezTo>
                  <a:cubicBezTo>
                    <a:pt x="4516" y="390385"/>
                    <a:pt x="0" y="379483"/>
                    <a:pt x="0" y="368114"/>
                  </a:cubicBezTo>
                  <a:lnTo>
                    <a:pt x="0" y="42865"/>
                  </a:lnTo>
                  <a:cubicBezTo>
                    <a:pt x="0" y="31497"/>
                    <a:pt x="4516" y="20594"/>
                    <a:pt x="12555" y="12555"/>
                  </a:cubicBezTo>
                  <a:cubicBezTo>
                    <a:pt x="20594" y="4516"/>
                    <a:pt x="31497" y="0"/>
                    <a:pt x="4286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949246" cy="4681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22000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Shows a fairly strong positive relationship  with no of workers (0.71), suggesting more complex tasks require larger production line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661393" y="6717167"/>
            <a:ext cx="10597907" cy="1750504"/>
            <a:chOff x="-23320" y="-47625"/>
            <a:chExt cx="2791218" cy="461038"/>
          </a:xfrm>
        </p:grpSpPr>
        <p:sp>
          <p:nvSpPr>
            <p:cNvPr id="14" name="Freeform 14"/>
            <p:cNvSpPr/>
            <p:nvPr/>
          </p:nvSpPr>
          <p:spPr>
            <a:xfrm>
              <a:off x="-23320" y="-47625"/>
              <a:ext cx="2767898" cy="413413"/>
            </a:xfrm>
            <a:custGeom>
              <a:avLst/>
              <a:gdLst/>
              <a:ahLst/>
              <a:cxnLst/>
              <a:rect l="l" t="t" r="r" b="b"/>
              <a:pathLst>
                <a:path w="2767898" h="413413">
                  <a:moveTo>
                    <a:pt x="41990" y="0"/>
                  </a:moveTo>
                  <a:lnTo>
                    <a:pt x="2725908" y="0"/>
                  </a:lnTo>
                  <a:cubicBezTo>
                    <a:pt x="2749099" y="0"/>
                    <a:pt x="2767898" y="18800"/>
                    <a:pt x="2767898" y="41990"/>
                  </a:cubicBezTo>
                  <a:lnTo>
                    <a:pt x="2767898" y="371423"/>
                  </a:lnTo>
                  <a:cubicBezTo>
                    <a:pt x="2767898" y="394614"/>
                    <a:pt x="2749099" y="413413"/>
                    <a:pt x="2725908" y="413413"/>
                  </a:cubicBezTo>
                  <a:lnTo>
                    <a:pt x="41990" y="413413"/>
                  </a:lnTo>
                  <a:cubicBezTo>
                    <a:pt x="18800" y="413413"/>
                    <a:pt x="0" y="394614"/>
                    <a:pt x="0" y="371423"/>
                  </a:cubicBezTo>
                  <a:lnTo>
                    <a:pt x="0" y="41990"/>
                  </a:lnTo>
                  <a:cubicBezTo>
                    <a:pt x="0" y="18800"/>
                    <a:pt x="18800" y="0"/>
                    <a:pt x="41990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2767898" cy="4610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 dirty="0">
                  <a:solidFill>
                    <a:srgbClr val="22000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Spearmen correlation test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 dirty="0">
                  <a:solidFill>
                    <a:srgbClr val="22000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p-value&lt;0.05</a:t>
              </a:r>
            </a:p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 dirty="0">
                  <a:solidFill>
                    <a:srgbClr val="22000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So, There is a relationship between these two variables.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329015" y="451553"/>
            <a:ext cx="5470756" cy="7639769"/>
          </a:xfrm>
          <a:custGeom>
            <a:avLst/>
            <a:gdLst/>
            <a:ahLst/>
            <a:cxnLst/>
            <a:rect l="l" t="t" r="r" b="b"/>
            <a:pathLst>
              <a:path w="5470756" h="7639769">
                <a:moveTo>
                  <a:pt x="0" y="0"/>
                </a:moveTo>
                <a:lnTo>
                  <a:pt x="5470756" y="0"/>
                </a:lnTo>
                <a:lnTo>
                  <a:pt x="5470756" y="7639769"/>
                </a:lnTo>
                <a:lnTo>
                  <a:pt x="0" y="763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6675" cap="rnd">
            <a:solidFill>
              <a:srgbClr val="FFFFFF"/>
            </a:solidFill>
            <a:prstDash val="solid"/>
            <a:round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028700" y="-2407789"/>
            <a:ext cx="16545936" cy="14841203"/>
          </a:xfrm>
          <a:custGeom>
            <a:avLst/>
            <a:gdLst/>
            <a:ahLst/>
            <a:cxnLst/>
            <a:rect l="l" t="t" r="r" b="b"/>
            <a:pathLst>
              <a:path w="16545936" h="14841203">
                <a:moveTo>
                  <a:pt x="16545936" y="14841203"/>
                </a:moveTo>
                <a:lnTo>
                  <a:pt x="0" y="14841203"/>
                </a:lnTo>
                <a:lnTo>
                  <a:pt x="0" y="0"/>
                </a:lnTo>
                <a:lnTo>
                  <a:pt x="16545936" y="0"/>
                </a:lnTo>
                <a:lnTo>
                  <a:pt x="16545936" y="14841203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729969" y="732368"/>
            <a:ext cx="14682067" cy="13169369"/>
          </a:xfrm>
          <a:custGeom>
            <a:avLst/>
            <a:gdLst/>
            <a:ahLst/>
            <a:cxnLst/>
            <a:rect l="l" t="t" r="r" b="b"/>
            <a:pathLst>
              <a:path w="14682067" h="13169369">
                <a:moveTo>
                  <a:pt x="14682067" y="13169369"/>
                </a:moveTo>
                <a:lnTo>
                  <a:pt x="0" y="13169369"/>
                </a:lnTo>
                <a:lnTo>
                  <a:pt x="0" y="0"/>
                </a:lnTo>
                <a:lnTo>
                  <a:pt x="14682067" y="0"/>
                </a:lnTo>
                <a:lnTo>
                  <a:pt x="14682067" y="13169369"/>
                </a:lnTo>
                <a:close/>
              </a:path>
            </a:pathLst>
          </a:custGeom>
          <a:blipFill>
            <a:blip r:embed="rId4">
              <a:alphaModFix amt="41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994951" y="4110600"/>
            <a:ext cx="10136449" cy="1804425"/>
            <a:chOff x="0" y="0"/>
            <a:chExt cx="2282972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82972" cy="406400"/>
            </a:xfrm>
            <a:custGeom>
              <a:avLst/>
              <a:gdLst/>
              <a:ahLst/>
              <a:cxnLst/>
              <a:rect l="l" t="t" r="r" b="b"/>
              <a:pathLst>
                <a:path w="2282972" h="406400">
                  <a:moveTo>
                    <a:pt x="2079772" y="0"/>
                  </a:moveTo>
                  <a:cubicBezTo>
                    <a:pt x="2191996" y="0"/>
                    <a:pt x="2282972" y="90976"/>
                    <a:pt x="2282972" y="203200"/>
                  </a:cubicBezTo>
                  <a:cubicBezTo>
                    <a:pt x="2282972" y="315424"/>
                    <a:pt x="2191996" y="406400"/>
                    <a:pt x="207977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28297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1174517" y="0"/>
            <a:ext cx="6115206" cy="10287000"/>
          </a:xfrm>
          <a:custGeom>
            <a:avLst/>
            <a:gdLst/>
            <a:ahLst/>
            <a:cxnLst/>
            <a:rect l="l" t="t" r="r" b="b"/>
            <a:pathLst>
              <a:path w="6115206" h="10287000">
                <a:moveTo>
                  <a:pt x="0" y="0"/>
                </a:moveTo>
                <a:lnTo>
                  <a:pt x="6115206" y="0"/>
                </a:lnTo>
                <a:lnTo>
                  <a:pt x="61152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209550" cap="rnd">
            <a:solidFill>
              <a:srgbClr val="000000"/>
            </a:solidFill>
            <a:prstDash val="sysDot"/>
            <a:round/>
          </a:ln>
        </p:spPr>
      </p:sp>
      <p:sp>
        <p:nvSpPr>
          <p:cNvPr id="8" name="Freeform 8"/>
          <p:cNvSpPr/>
          <p:nvPr/>
        </p:nvSpPr>
        <p:spPr>
          <a:xfrm>
            <a:off x="13004113" y="0"/>
            <a:ext cx="6124549" cy="10287000"/>
          </a:xfrm>
          <a:custGeom>
            <a:avLst/>
            <a:gdLst/>
            <a:ahLst/>
            <a:cxnLst/>
            <a:rect l="l" t="t" r="r" b="b"/>
            <a:pathLst>
              <a:path w="6124549" h="10287000">
                <a:moveTo>
                  <a:pt x="0" y="0"/>
                </a:moveTo>
                <a:lnTo>
                  <a:pt x="6124549" y="0"/>
                </a:lnTo>
                <a:lnTo>
                  <a:pt x="612454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238125" cap="rnd">
            <a:solidFill>
              <a:srgbClr val="000000"/>
            </a:solidFill>
            <a:prstDash val="sysDot"/>
            <a:round/>
          </a:ln>
        </p:spPr>
      </p:sp>
      <p:sp>
        <p:nvSpPr>
          <p:cNvPr id="9" name="TextBox 9"/>
          <p:cNvSpPr txBox="1"/>
          <p:nvPr/>
        </p:nvSpPr>
        <p:spPr>
          <a:xfrm>
            <a:off x="5699343" y="4274541"/>
            <a:ext cx="6889314" cy="738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6"/>
              </a:lnSpc>
              <a:spcBef>
                <a:spcPct val="0"/>
              </a:spcBef>
            </a:pPr>
            <a:r>
              <a:rPr lang="en-US" sz="4318" b="1">
                <a:solidFill>
                  <a:srgbClr val="FF2D98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Explanatory Data Analysis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73660" y="5095875"/>
            <a:ext cx="354068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B5C2"/>
                </a:solidFill>
                <a:latin typeface="Arial Unicode"/>
                <a:ea typeface="Arial Unicode"/>
                <a:cs typeface="Arial Unicode"/>
                <a:sym typeface="Arial Unicode"/>
              </a:rPr>
              <a:t>For Finishing departments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9504" y="1890537"/>
            <a:ext cx="8286097" cy="7654282"/>
          </a:xfrm>
          <a:custGeom>
            <a:avLst/>
            <a:gdLst/>
            <a:ahLst/>
            <a:cxnLst/>
            <a:rect l="l" t="t" r="r" b="b"/>
            <a:pathLst>
              <a:path w="8286097" h="7654282">
                <a:moveTo>
                  <a:pt x="0" y="0"/>
                </a:moveTo>
                <a:lnTo>
                  <a:pt x="8286097" y="0"/>
                </a:lnTo>
                <a:lnTo>
                  <a:pt x="8286097" y="7654282"/>
                </a:lnTo>
                <a:lnTo>
                  <a:pt x="0" y="7654282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069879" y="1890537"/>
            <a:ext cx="8925025" cy="7909962"/>
            <a:chOff x="0" y="0"/>
            <a:chExt cx="558383" cy="4948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58383" cy="494877"/>
            </a:xfrm>
            <a:custGeom>
              <a:avLst/>
              <a:gdLst/>
              <a:ahLst/>
              <a:cxnLst/>
              <a:rect l="l" t="t" r="r" b="b"/>
              <a:pathLst>
                <a:path w="558383" h="494877">
                  <a:moveTo>
                    <a:pt x="63703" y="0"/>
                  </a:moveTo>
                  <a:lnTo>
                    <a:pt x="494680" y="0"/>
                  </a:lnTo>
                  <a:cubicBezTo>
                    <a:pt x="529862" y="0"/>
                    <a:pt x="558383" y="28521"/>
                    <a:pt x="558383" y="63703"/>
                  </a:cubicBezTo>
                  <a:lnTo>
                    <a:pt x="558383" y="431174"/>
                  </a:lnTo>
                  <a:cubicBezTo>
                    <a:pt x="558383" y="448069"/>
                    <a:pt x="551671" y="464272"/>
                    <a:pt x="539725" y="476218"/>
                  </a:cubicBezTo>
                  <a:cubicBezTo>
                    <a:pt x="527778" y="488165"/>
                    <a:pt x="511575" y="494877"/>
                    <a:pt x="494680" y="494877"/>
                  </a:cubicBezTo>
                  <a:lnTo>
                    <a:pt x="63703" y="494877"/>
                  </a:lnTo>
                  <a:cubicBezTo>
                    <a:pt x="46808" y="494877"/>
                    <a:pt x="30605" y="488165"/>
                    <a:pt x="18658" y="476218"/>
                  </a:cubicBezTo>
                  <a:cubicBezTo>
                    <a:pt x="6712" y="464272"/>
                    <a:pt x="0" y="448069"/>
                    <a:pt x="0" y="431174"/>
                  </a:cubicBezTo>
                  <a:lnTo>
                    <a:pt x="0" y="63703"/>
                  </a:lnTo>
                  <a:cubicBezTo>
                    <a:pt x="0" y="46808"/>
                    <a:pt x="6712" y="30605"/>
                    <a:pt x="18658" y="18658"/>
                  </a:cubicBezTo>
                  <a:cubicBezTo>
                    <a:pt x="30605" y="6712"/>
                    <a:pt x="46808" y="0"/>
                    <a:pt x="6370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58383" cy="542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873666" y="3022604"/>
            <a:ext cx="7317452" cy="1893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5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Actual productivity has positive relationship with no of workers and smv.</a:t>
            </a:r>
          </a:p>
          <a:p>
            <a:pPr algn="l">
              <a:lnSpc>
                <a:spcPts val="3779"/>
              </a:lnSpc>
            </a:pPr>
            <a:endParaRPr lang="en-US" sz="26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779"/>
              </a:lnSpc>
            </a:pPr>
            <a:endParaRPr lang="en-US" sz="26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0176463" y="5269234"/>
            <a:ext cx="3086100" cy="1640553"/>
            <a:chOff x="0" y="0"/>
            <a:chExt cx="812800" cy="4320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432080"/>
            </a:xfrm>
            <a:custGeom>
              <a:avLst/>
              <a:gdLst/>
              <a:ahLst/>
              <a:cxnLst/>
              <a:rect l="l" t="t" r="r" b="b"/>
              <a:pathLst>
                <a:path w="812800" h="432080">
                  <a:moveTo>
                    <a:pt x="107872" y="0"/>
                  </a:moveTo>
                  <a:lnTo>
                    <a:pt x="704928" y="0"/>
                  </a:lnTo>
                  <a:cubicBezTo>
                    <a:pt x="733538" y="0"/>
                    <a:pt x="760975" y="11365"/>
                    <a:pt x="781205" y="31595"/>
                  </a:cubicBezTo>
                  <a:cubicBezTo>
                    <a:pt x="801435" y="51825"/>
                    <a:pt x="812800" y="79262"/>
                    <a:pt x="812800" y="107872"/>
                  </a:cubicBezTo>
                  <a:lnTo>
                    <a:pt x="812800" y="324208"/>
                  </a:lnTo>
                  <a:cubicBezTo>
                    <a:pt x="812800" y="352818"/>
                    <a:pt x="801435" y="380255"/>
                    <a:pt x="781205" y="400485"/>
                  </a:cubicBezTo>
                  <a:cubicBezTo>
                    <a:pt x="760975" y="420715"/>
                    <a:pt x="733538" y="432080"/>
                    <a:pt x="704928" y="432080"/>
                  </a:cubicBezTo>
                  <a:lnTo>
                    <a:pt x="107872" y="432080"/>
                  </a:lnTo>
                  <a:cubicBezTo>
                    <a:pt x="48296" y="432080"/>
                    <a:pt x="0" y="383784"/>
                    <a:pt x="0" y="324208"/>
                  </a:cubicBezTo>
                  <a:lnTo>
                    <a:pt x="0" y="107872"/>
                  </a:lnTo>
                  <a:cubicBezTo>
                    <a:pt x="0" y="79262"/>
                    <a:pt x="11365" y="51825"/>
                    <a:pt x="31595" y="31595"/>
                  </a:cubicBezTo>
                  <a:cubicBezTo>
                    <a:pt x="51825" y="11365"/>
                    <a:pt x="79262" y="0"/>
                    <a:pt x="107872" y="0"/>
                  </a:cubicBezTo>
                  <a:close/>
                </a:path>
              </a:pathLst>
            </a:custGeom>
            <a:solidFill>
              <a:srgbClr val="CBE1E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812800" cy="489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</a:pPr>
              <a:r>
                <a:rPr lang="en-US" sz="2899">
                  <a:solidFill>
                    <a:srgbClr val="22000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High Correlated Predictors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532392" y="5513227"/>
            <a:ext cx="3961523" cy="1152568"/>
            <a:chOff x="0" y="0"/>
            <a:chExt cx="1043364" cy="30355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43364" cy="303557"/>
            </a:xfrm>
            <a:custGeom>
              <a:avLst/>
              <a:gdLst/>
              <a:ahLst/>
              <a:cxnLst/>
              <a:rect l="l" t="t" r="r" b="b"/>
              <a:pathLst>
                <a:path w="1043364" h="303557">
                  <a:moveTo>
                    <a:pt x="33223" y="0"/>
                  </a:moveTo>
                  <a:lnTo>
                    <a:pt x="1010141" y="0"/>
                  </a:lnTo>
                  <a:cubicBezTo>
                    <a:pt x="1028490" y="0"/>
                    <a:pt x="1043364" y="14874"/>
                    <a:pt x="1043364" y="33223"/>
                  </a:cubicBezTo>
                  <a:lnTo>
                    <a:pt x="1043364" y="270334"/>
                  </a:lnTo>
                  <a:cubicBezTo>
                    <a:pt x="1043364" y="288683"/>
                    <a:pt x="1028490" y="303557"/>
                    <a:pt x="1010141" y="303557"/>
                  </a:cubicBezTo>
                  <a:lnTo>
                    <a:pt x="33223" y="303557"/>
                  </a:lnTo>
                  <a:cubicBezTo>
                    <a:pt x="14874" y="303557"/>
                    <a:pt x="0" y="288683"/>
                    <a:pt x="0" y="270334"/>
                  </a:cubicBezTo>
                  <a:lnTo>
                    <a:pt x="0" y="33223"/>
                  </a:lnTo>
                  <a:cubicBezTo>
                    <a:pt x="0" y="14874"/>
                    <a:pt x="14874" y="0"/>
                    <a:pt x="33223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43364" cy="351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22000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wip and over time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176463" y="7289689"/>
            <a:ext cx="3086100" cy="1678846"/>
            <a:chOff x="0" y="0"/>
            <a:chExt cx="812800" cy="4421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442165"/>
            </a:xfrm>
            <a:custGeom>
              <a:avLst/>
              <a:gdLst/>
              <a:ahLst/>
              <a:cxnLst/>
              <a:rect l="l" t="t" r="r" b="b"/>
              <a:pathLst>
                <a:path w="812800" h="442165">
                  <a:moveTo>
                    <a:pt x="125432" y="0"/>
                  </a:moveTo>
                  <a:lnTo>
                    <a:pt x="687368" y="0"/>
                  </a:lnTo>
                  <a:cubicBezTo>
                    <a:pt x="756642" y="0"/>
                    <a:pt x="812800" y="56158"/>
                    <a:pt x="812800" y="125432"/>
                  </a:cubicBezTo>
                  <a:lnTo>
                    <a:pt x="812800" y="316733"/>
                  </a:lnTo>
                  <a:cubicBezTo>
                    <a:pt x="812800" y="386007"/>
                    <a:pt x="756642" y="442165"/>
                    <a:pt x="687368" y="442165"/>
                  </a:cubicBezTo>
                  <a:lnTo>
                    <a:pt x="125432" y="442165"/>
                  </a:lnTo>
                  <a:cubicBezTo>
                    <a:pt x="92165" y="442165"/>
                    <a:pt x="60261" y="428950"/>
                    <a:pt x="36738" y="405427"/>
                  </a:cubicBezTo>
                  <a:cubicBezTo>
                    <a:pt x="13215" y="381904"/>
                    <a:pt x="0" y="350000"/>
                    <a:pt x="0" y="316733"/>
                  </a:cubicBezTo>
                  <a:lnTo>
                    <a:pt x="0" y="125432"/>
                  </a:lnTo>
                  <a:cubicBezTo>
                    <a:pt x="0" y="56158"/>
                    <a:pt x="56158" y="0"/>
                    <a:pt x="125432" y="0"/>
                  </a:cubicBezTo>
                  <a:close/>
                </a:path>
              </a:pathLst>
            </a:custGeom>
            <a:solidFill>
              <a:srgbClr val="CBE1E5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812800" cy="499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</a:pPr>
              <a:r>
                <a:rPr lang="en-US" sz="2899">
                  <a:solidFill>
                    <a:srgbClr val="22000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Moderate Correlated Predictors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379612" y="7676452"/>
            <a:ext cx="4114303" cy="1152568"/>
            <a:chOff x="0" y="0"/>
            <a:chExt cx="1083602" cy="30355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83602" cy="303557"/>
            </a:xfrm>
            <a:custGeom>
              <a:avLst/>
              <a:gdLst/>
              <a:ahLst/>
              <a:cxnLst/>
              <a:rect l="l" t="t" r="r" b="b"/>
              <a:pathLst>
                <a:path w="1083602" h="303557">
                  <a:moveTo>
                    <a:pt x="31989" y="0"/>
                  </a:moveTo>
                  <a:lnTo>
                    <a:pt x="1051613" y="0"/>
                  </a:lnTo>
                  <a:cubicBezTo>
                    <a:pt x="1060097" y="0"/>
                    <a:pt x="1068234" y="3370"/>
                    <a:pt x="1074233" y="9369"/>
                  </a:cubicBezTo>
                  <a:cubicBezTo>
                    <a:pt x="1080232" y="15368"/>
                    <a:pt x="1083602" y="23505"/>
                    <a:pt x="1083602" y="31989"/>
                  </a:cubicBezTo>
                  <a:lnTo>
                    <a:pt x="1083602" y="271568"/>
                  </a:lnTo>
                  <a:cubicBezTo>
                    <a:pt x="1083602" y="289235"/>
                    <a:pt x="1069280" y="303557"/>
                    <a:pt x="1051613" y="303557"/>
                  </a:cubicBezTo>
                  <a:lnTo>
                    <a:pt x="31989" y="303557"/>
                  </a:lnTo>
                  <a:cubicBezTo>
                    <a:pt x="23505" y="303557"/>
                    <a:pt x="15368" y="300187"/>
                    <a:pt x="9369" y="294188"/>
                  </a:cubicBezTo>
                  <a:cubicBezTo>
                    <a:pt x="3370" y="288189"/>
                    <a:pt x="0" y="280052"/>
                    <a:pt x="0" y="271568"/>
                  </a:cubicBezTo>
                  <a:lnTo>
                    <a:pt x="0" y="31989"/>
                  </a:lnTo>
                  <a:cubicBezTo>
                    <a:pt x="0" y="23505"/>
                    <a:pt x="3370" y="15368"/>
                    <a:pt x="9369" y="9369"/>
                  </a:cubicBezTo>
                  <a:cubicBezTo>
                    <a:pt x="15368" y="3370"/>
                    <a:pt x="23505" y="0"/>
                    <a:pt x="319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083602" cy="351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22000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wip and no of workers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22000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over time and no of workers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77789" y="302391"/>
            <a:ext cx="6544589" cy="940905"/>
            <a:chOff x="0" y="0"/>
            <a:chExt cx="1723678" cy="24781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23678" cy="247810"/>
            </a:xfrm>
            <a:custGeom>
              <a:avLst/>
              <a:gdLst/>
              <a:ahLst/>
              <a:cxnLst/>
              <a:rect l="l" t="t" r="r" b="b"/>
              <a:pathLst>
                <a:path w="1723678" h="247810">
                  <a:moveTo>
                    <a:pt x="20110" y="0"/>
                  </a:moveTo>
                  <a:lnTo>
                    <a:pt x="1703568" y="0"/>
                  </a:lnTo>
                  <a:cubicBezTo>
                    <a:pt x="1714674" y="0"/>
                    <a:pt x="1723678" y="9004"/>
                    <a:pt x="1723678" y="20110"/>
                  </a:cubicBezTo>
                  <a:lnTo>
                    <a:pt x="1723678" y="227700"/>
                  </a:lnTo>
                  <a:cubicBezTo>
                    <a:pt x="1723678" y="233034"/>
                    <a:pt x="1721559" y="238149"/>
                    <a:pt x="1717788" y="241920"/>
                  </a:cubicBezTo>
                  <a:cubicBezTo>
                    <a:pt x="1714016" y="245692"/>
                    <a:pt x="1708901" y="247810"/>
                    <a:pt x="1703568" y="247810"/>
                  </a:cubicBezTo>
                  <a:lnTo>
                    <a:pt x="20110" y="247810"/>
                  </a:lnTo>
                  <a:cubicBezTo>
                    <a:pt x="9004" y="247810"/>
                    <a:pt x="0" y="238807"/>
                    <a:pt x="0" y="227700"/>
                  </a:cubicBezTo>
                  <a:lnTo>
                    <a:pt x="0" y="20110"/>
                  </a:lnTo>
                  <a:cubicBezTo>
                    <a:pt x="0" y="9004"/>
                    <a:pt x="9004" y="0"/>
                    <a:pt x="20110" y="0"/>
                  </a:cubicBezTo>
                  <a:close/>
                </a:path>
              </a:pathLst>
            </a:custGeom>
            <a:solidFill>
              <a:srgbClr val="FF2D9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1723678" cy="324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220004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CORRELATION HEETMAP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81991" y="394932"/>
            <a:ext cx="11515725" cy="9513083"/>
            <a:chOff x="0" y="0"/>
            <a:chExt cx="663821" cy="5483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821" cy="548380"/>
            </a:xfrm>
            <a:custGeom>
              <a:avLst/>
              <a:gdLst/>
              <a:ahLst/>
              <a:cxnLst/>
              <a:rect l="l" t="t" r="r" b="b"/>
              <a:pathLst>
                <a:path w="663821" h="548380">
                  <a:moveTo>
                    <a:pt x="49371" y="0"/>
                  </a:moveTo>
                  <a:lnTo>
                    <a:pt x="614450" y="0"/>
                  </a:lnTo>
                  <a:cubicBezTo>
                    <a:pt x="641717" y="0"/>
                    <a:pt x="663821" y="22104"/>
                    <a:pt x="663821" y="49371"/>
                  </a:cubicBezTo>
                  <a:lnTo>
                    <a:pt x="663821" y="499008"/>
                  </a:lnTo>
                  <a:cubicBezTo>
                    <a:pt x="663821" y="526275"/>
                    <a:pt x="641717" y="548380"/>
                    <a:pt x="614450" y="548380"/>
                  </a:cubicBezTo>
                  <a:lnTo>
                    <a:pt x="49371" y="548380"/>
                  </a:lnTo>
                  <a:cubicBezTo>
                    <a:pt x="22104" y="548380"/>
                    <a:pt x="0" y="526275"/>
                    <a:pt x="0" y="499008"/>
                  </a:cubicBezTo>
                  <a:lnTo>
                    <a:pt x="0" y="49371"/>
                  </a:lnTo>
                  <a:cubicBezTo>
                    <a:pt x="0" y="22104"/>
                    <a:pt x="22104" y="0"/>
                    <a:pt x="4937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663821" cy="596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43213" y="394932"/>
            <a:ext cx="5883462" cy="6668032"/>
          </a:xfrm>
          <a:custGeom>
            <a:avLst/>
            <a:gdLst/>
            <a:ahLst/>
            <a:cxnLst/>
            <a:rect l="l" t="t" r="r" b="b"/>
            <a:pathLst>
              <a:path w="5883462" h="6668032">
                <a:moveTo>
                  <a:pt x="0" y="0"/>
                </a:moveTo>
                <a:lnTo>
                  <a:pt x="5883461" y="0"/>
                </a:lnTo>
                <a:lnTo>
                  <a:pt x="5883461" y="6668032"/>
                </a:lnTo>
                <a:lnTo>
                  <a:pt x="0" y="6668032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76200" cap="rnd">
            <a:solidFill>
              <a:srgbClr val="FFFFFF"/>
            </a:solidFill>
            <a:prstDash val="solid"/>
            <a:round/>
          </a:ln>
        </p:spPr>
      </p:sp>
      <p:sp>
        <p:nvSpPr>
          <p:cNvPr id="6" name="Freeform 6"/>
          <p:cNvSpPr/>
          <p:nvPr/>
        </p:nvSpPr>
        <p:spPr>
          <a:xfrm>
            <a:off x="6736849" y="839775"/>
            <a:ext cx="11197120" cy="4036429"/>
          </a:xfrm>
          <a:custGeom>
            <a:avLst/>
            <a:gdLst/>
            <a:ahLst/>
            <a:cxnLst/>
            <a:rect l="l" t="t" r="r" b="b"/>
            <a:pathLst>
              <a:path w="11197120" h="4036429">
                <a:moveTo>
                  <a:pt x="0" y="0"/>
                </a:moveTo>
                <a:lnTo>
                  <a:pt x="11197121" y="0"/>
                </a:lnTo>
                <a:lnTo>
                  <a:pt x="11197121" y="4036429"/>
                </a:lnTo>
                <a:lnTo>
                  <a:pt x="0" y="4036429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1383" t="-659" r="-1641" b="-81"/>
            </a:stretch>
          </a:blipFill>
          <a:ln w="38100" cap="rnd">
            <a:solidFill>
              <a:srgbClr val="FFFFFF"/>
            </a:solidFill>
            <a:prstDash val="solid"/>
            <a:round/>
          </a:ln>
        </p:spPr>
      </p:sp>
      <p:grpSp>
        <p:nvGrpSpPr>
          <p:cNvPr id="7" name="Group 7"/>
          <p:cNvGrpSpPr/>
          <p:nvPr/>
        </p:nvGrpSpPr>
        <p:grpSpPr>
          <a:xfrm>
            <a:off x="6959113" y="5773833"/>
            <a:ext cx="5380740" cy="3196713"/>
            <a:chOff x="0" y="0"/>
            <a:chExt cx="1417150" cy="841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17150" cy="841933"/>
            </a:xfrm>
            <a:custGeom>
              <a:avLst/>
              <a:gdLst/>
              <a:ahLst/>
              <a:cxnLst/>
              <a:rect l="l" t="t" r="r" b="b"/>
              <a:pathLst>
                <a:path w="1417150" h="841933">
                  <a:moveTo>
                    <a:pt x="115106" y="0"/>
                  </a:moveTo>
                  <a:lnTo>
                    <a:pt x="1302044" y="0"/>
                  </a:lnTo>
                  <a:cubicBezTo>
                    <a:pt x="1332572" y="0"/>
                    <a:pt x="1361850" y="12127"/>
                    <a:pt x="1383436" y="33714"/>
                  </a:cubicBezTo>
                  <a:cubicBezTo>
                    <a:pt x="1405023" y="55300"/>
                    <a:pt x="1417150" y="84578"/>
                    <a:pt x="1417150" y="115106"/>
                  </a:cubicBezTo>
                  <a:lnTo>
                    <a:pt x="1417150" y="726827"/>
                  </a:lnTo>
                  <a:cubicBezTo>
                    <a:pt x="1417150" y="757355"/>
                    <a:pt x="1405023" y="786633"/>
                    <a:pt x="1383436" y="808219"/>
                  </a:cubicBezTo>
                  <a:cubicBezTo>
                    <a:pt x="1361850" y="829806"/>
                    <a:pt x="1332572" y="841933"/>
                    <a:pt x="1302044" y="841933"/>
                  </a:cubicBezTo>
                  <a:lnTo>
                    <a:pt x="115106" y="841933"/>
                  </a:lnTo>
                  <a:cubicBezTo>
                    <a:pt x="84578" y="841933"/>
                    <a:pt x="55300" y="829806"/>
                    <a:pt x="33714" y="808219"/>
                  </a:cubicBezTo>
                  <a:cubicBezTo>
                    <a:pt x="12127" y="786633"/>
                    <a:pt x="0" y="757355"/>
                    <a:pt x="0" y="726827"/>
                  </a:cubicBezTo>
                  <a:lnTo>
                    <a:pt x="0" y="115106"/>
                  </a:lnTo>
                  <a:cubicBezTo>
                    <a:pt x="0" y="84578"/>
                    <a:pt x="12127" y="55300"/>
                    <a:pt x="33714" y="33714"/>
                  </a:cubicBezTo>
                  <a:cubicBezTo>
                    <a:pt x="55300" y="12127"/>
                    <a:pt x="84578" y="0"/>
                    <a:pt x="11510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417150" cy="8895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Range:2-28 workers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Most finishing operations use around 7 to 12 workers, showing the typical team size.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524987" y="5773833"/>
            <a:ext cx="5408983" cy="3196713"/>
            <a:chOff x="0" y="0"/>
            <a:chExt cx="1424588" cy="8419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24588" cy="841933"/>
            </a:xfrm>
            <a:custGeom>
              <a:avLst/>
              <a:gdLst/>
              <a:ahLst/>
              <a:cxnLst/>
              <a:rect l="l" t="t" r="r" b="b"/>
              <a:pathLst>
                <a:path w="1424588" h="841933">
                  <a:moveTo>
                    <a:pt x="114505" y="0"/>
                  </a:moveTo>
                  <a:lnTo>
                    <a:pt x="1310083" y="0"/>
                  </a:lnTo>
                  <a:cubicBezTo>
                    <a:pt x="1340452" y="0"/>
                    <a:pt x="1369577" y="12064"/>
                    <a:pt x="1391050" y="33538"/>
                  </a:cubicBezTo>
                  <a:cubicBezTo>
                    <a:pt x="1412524" y="55011"/>
                    <a:pt x="1424588" y="84136"/>
                    <a:pt x="1424588" y="114505"/>
                  </a:cubicBezTo>
                  <a:lnTo>
                    <a:pt x="1424588" y="727428"/>
                  </a:lnTo>
                  <a:cubicBezTo>
                    <a:pt x="1424588" y="757797"/>
                    <a:pt x="1412524" y="786921"/>
                    <a:pt x="1391050" y="808395"/>
                  </a:cubicBezTo>
                  <a:cubicBezTo>
                    <a:pt x="1369577" y="829869"/>
                    <a:pt x="1340452" y="841933"/>
                    <a:pt x="1310083" y="841933"/>
                  </a:cubicBezTo>
                  <a:lnTo>
                    <a:pt x="114505" y="841933"/>
                  </a:lnTo>
                  <a:cubicBezTo>
                    <a:pt x="84136" y="841933"/>
                    <a:pt x="55011" y="829869"/>
                    <a:pt x="33538" y="808395"/>
                  </a:cubicBezTo>
                  <a:cubicBezTo>
                    <a:pt x="12064" y="786921"/>
                    <a:pt x="0" y="757797"/>
                    <a:pt x="0" y="727428"/>
                  </a:cubicBezTo>
                  <a:lnTo>
                    <a:pt x="0" y="114505"/>
                  </a:lnTo>
                  <a:cubicBezTo>
                    <a:pt x="0" y="84136"/>
                    <a:pt x="12064" y="55011"/>
                    <a:pt x="33538" y="33538"/>
                  </a:cubicBezTo>
                  <a:cubicBezTo>
                    <a:pt x="55011" y="12064"/>
                    <a:pt x="84136" y="0"/>
                    <a:pt x="114505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424588" cy="8895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Range:2.9 to 5.1 minutes.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220004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Most SMV values are between 3.8 and 4.2, indicating standard finishing operations</a:t>
              </a:r>
              <a:r>
                <a:rPr lang="en-US" sz="2400" b="1">
                  <a:solidFill>
                    <a:srgbClr val="000000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43213" y="7283388"/>
            <a:ext cx="5883462" cy="2624627"/>
            <a:chOff x="0" y="0"/>
            <a:chExt cx="1549554" cy="6912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49554" cy="691260"/>
            </a:xfrm>
            <a:custGeom>
              <a:avLst/>
              <a:gdLst/>
              <a:ahLst/>
              <a:cxnLst/>
              <a:rect l="l" t="t" r="r" b="b"/>
              <a:pathLst>
                <a:path w="1549554" h="691260">
                  <a:moveTo>
                    <a:pt x="61846" y="0"/>
                  </a:moveTo>
                  <a:lnTo>
                    <a:pt x="1487707" y="0"/>
                  </a:lnTo>
                  <a:cubicBezTo>
                    <a:pt x="1521864" y="0"/>
                    <a:pt x="1549554" y="27690"/>
                    <a:pt x="1549554" y="61846"/>
                  </a:cubicBezTo>
                  <a:lnTo>
                    <a:pt x="1549554" y="629413"/>
                  </a:lnTo>
                  <a:cubicBezTo>
                    <a:pt x="1549554" y="663570"/>
                    <a:pt x="1521864" y="691260"/>
                    <a:pt x="1487707" y="691260"/>
                  </a:cubicBezTo>
                  <a:lnTo>
                    <a:pt x="61846" y="691260"/>
                  </a:lnTo>
                  <a:cubicBezTo>
                    <a:pt x="27690" y="691260"/>
                    <a:pt x="0" y="663570"/>
                    <a:pt x="0" y="629413"/>
                  </a:cubicBezTo>
                  <a:lnTo>
                    <a:pt x="0" y="61846"/>
                  </a:lnTo>
                  <a:cubicBezTo>
                    <a:pt x="0" y="27690"/>
                    <a:pt x="27690" y="0"/>
                    <a:pt x="61846" y="0"/>
                  </a:cubicBezTo>
                  <a:close/>
                </a:path>
              </a:pathLst>
            </a:custGeom>
            <a:solidFill>
              <a:srgbClr val="FF2D98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549554" cy="748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Investigating the number of workers and Standard Minute Value (SMV) for the finishing Department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6560" y="8286914"/>
            <a:ext cx="4238126" cy="1648412"/>
            <a:chOff x="0" y="0"/>
            <a:chExt cx="1116214" cy="434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16214" cy="434150"/>
            </a:xfrm>
            <a:custGeom>
              <a:avLst/>
              <a:gdLst/>
              <a:ahLst/>
              <a:cxnLst/>
              <a:rect l="l" t="t" r="r" b="b"/>
              <a:pathLst>
                <a:path w="1116214" h="434150">
                  <a:moveTo>
                    <a:pt x="74896" y="0"/>
                  </a:moveTo>
                  <a:lnTo>
                    <a:pt x="1041318" y="0"/>
                  </a:lnTo>
                  <a:cubicBezTo>
                    <a:pt x="1082682" y="0"/>
                    <a:pt x="1116214" y="33532"/>
                    <a:pt x="1116214" y="74896"/>
                  </a:cubicBezTo>
                  <a:lnTo>
                    <a:pt x="1116214" y="359254"/>
                  </a:lnTo>
                  <a:cubicBezTo>
                    <a:pt x="1116214" y="379117"/>
                    <a:pt x="1108323" y="398167"/>
                    <a:pt x="1094278" y="412213"/>
                  </a:cubicBezTo>
                  <a:cubicBezTo>
                    <a:pt x="1080232" y="426259"/>
                    <a:pt x="1061182" y="434150"/>
                    <a:pt x="1041318" y="434150"/>
                  </a:cubicBezTo>
                  <a:lnTo>
                    <a:pt x="74896" y="434150"/>
                  </a:lnTo>
                  <a:cubicBezTo>
                    <a:pt x="33532" y="434150"/>
                    <a:pt x="0" y="400617"/>
                    <a:pt x="0" y="359254"/>
                  </a:cubicBezTo>
                  <a:lnTo>
                    <a:pt x="0" y="74896"/>
                  </a:lnTo>
                  <a:cubicBezTo>
                    <a:pt x="0" y="33532"/>
                    <a:pt x="33532" y="0"/>
                    <a:pt x="74896" y="0"/>
                  </a:cubicBezTo>
                  <a:close/>
                </a:path>
              </a:pathLst>
            </a:custGeom>
            <a:solidFill>
              <a:srgbClr val="FF2D9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116214" cy="510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  <a:spcBef>
                  <a:spcPct val="0"/>
                </a:spcBef>
              </a:pPr>
              <a:r>
                <a:rPr lang="en-US" sz="41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WIP vs over time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897286" y="475095"/>
            <a:ext cx="11515725" cy="9513083"/>
            <a:chOff x="0" y="0"/>
            <a:chExt cx="663821" cy="5483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3821" cy="548380"/>
            </a:xfrm>
            <a:custGeom>
              <a:avLst/>
              <a:gdLst/>
              <a:ahLst/>
              <a:cxnLst/>
              <a:rect l="l" t="t" r="r" b="b"/>
              <a:pathLst>
                <a:path w="663821" h="548380">
                  <a:moveTo>
                    <a:pt x="49371" y="0"/>
                  </a:moveTo>
                  <a:lnTo>
                    <a:pt x="614450" y="0"/>
                  </a:lnTo>
                  <a:cubicBezTo>
                    <a:pt x="641717" y="0"/>
                    <a:pt x="663821" y="22104"/>
                    <a:pt x="663821" y="49371"/>
                  </a:cubicBezTo>
                  <a:lnTo>
                    <a:pt x="663821" y="499008"/>
                  </a:lnTo>
                  <a:cubicBezTo>
                    <a:pt x="663821" y="526275"/>
                    <a:pt x="641717" y="548380"/>
                    <a:pt x="614450" y="548380"/>
                  </a:cubicBezTo>
                  <a:lnTo>
                    <a:pt x="49371" y="548380"/>
                  </a:lnTo>
                  <a:cubicBezTo>
                    <a:pt x="22104" y="548380"/>
                    <a:pt x="0" y="526275"/>
                    <a:pt x="0" y="499008"/>
                  </a:cubicBezTo>
                  <a:lnTo>
                    <a:pt x="0" y="49371"/>
                  </a:lnTo>
                  <a:cubicBezTo>
                    <a:pt x="0" y="22104"/>
                    <a:pt x="22104" y="0"/>
                    <a:pt x="4937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663821" cy="5960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310920" y="669396"/>
            <a:ext cx="8688459" cy="5473729"/>
          </a:xfrm>
          <a:custGeom>
            <a:avLst/>
            <a:gdLst/>
            <a:ahLst/>
            <a:cxnLst/>
            <a:rect l="l" t="t" r="r" b="b"/>
            <a:pathLst>
              <a:path w="8688459" h="5473729">
                <a:moveTo>
                  <a:pt x="0" y="0"/>
                </a:moveTo>
                <a:lnTo>
                  <a:pt x="8688458" y="0"/>
                </a:lnTo>
                <a:lnTo>
                  <a:pt x="8688458" y="5473729"/>
                </a:lnTo>
                <a:lnTo>
                  <a:pt x="0" y="54737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7150" cap="rnd">
            <a:solidFill>
              <a:srgbClr val="FFFFFF"/>
            </a:solidFill>
            <a:prstDash val="solid"/>
            <a:round/>
          </a:ln>
        </p:spPr>
      </p:sp>
      <p:sp>
        <p:nvSpPr>
          <p:cNvPr id="9" name="Freeform 9"/>
          <p:cNvSpPr/>
          <p:nvPr/>
        </p:nvSpPr>
        <p:spPr>
          <a:xfrm>
            <a:off x="11175629" y="6851689"/>
            <a:ext cx="5865214" cy="828691"/>
          </a:xfrm>
          <a:custGeom>
            <a:avLst/>
            <a:gdLst/>
            <a:ahLst/>
            <a:cxnLst/>
            <a:rect l="l" t="t" r="r" b="b"/>
            <a:pathLst>
              <a:path w="5865214" h="828691">
                <a:moveTo>
                  <a:pt x="0" y="0"/>
                </a:moveTo>
                <a:lnTo>
                  <a:pt x="5865214" y="0"/>
                </a:lnTo>
                <a:lnTo>
                  <a:pt x="5865214" y="828691"/>
                </a:lnTo>
                <a:lnTo>
                  <a:pt x="0" y="828691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157985" y="6143125"/>
            <a:ext cx="5017644" cy="2638066"/>
            <a:chOff x="0" y="0"/>
            <a:chExt cx="1321519" cy="6947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21519" cy="694799"/>
            </a:xfrm>
            <a:custGeom>
              <a:avLst/>
              <a:gdLst/>
              <a:ahLst/>
              <a:cxnLst/>
              <a:rect l="l" t="t" r="r" b="b"/>
              <a:pathLst>
                <a:path w="1321519" h="694799">
                  <a:moveTo>
                    <a:pt x="87948" y="0"/>
                  </a:moveTo>
                  <a:lnTo>
                    <a:pt x="1233572" y="0"/>
                  </a:lnTo>
                  <a:cubicBezTo>
                    <a:pt x="1282144" y="0"/>
                    <a:pt x="1321519" y="39375"/>
                    <a:pt x="1321519" y="87948"/>
                  </a:cubicBezTo>
                  <a:lnTo>
                    <a:pt x="1321519" y="606852"/>
                  </a:lnTo>
                  <a:cubicBezTo>
                    <a:pt x="1321519" y="655424"/>
                    <a:pt x="1282144" y="694799"/>
                    <a:pt x="1233572" y="694799"/>
                  </a:cubicBezTo>
                  <a:lnTo>
                    <a:pt x="87948" y="694799"/>
                  </a:lnTo>
                  <a:cubicBezTo>
                    <a:pt x="64622" y="694799"/>
                    <a:pt x="42253" y="685533"/>
                    <a:pt x="25759" y="669040"/>
                  </a:cubicBezTo>
                  <a:cubicBezTo>
                    <a:pt x="9266" y="652547"/>
                    <a:pt x="0" y="630177"/>
                    <a:pt x="0" y="606852"/>
                  </a:cubicBezTo>
                  <a:lnTo>
                    <a:pt x="0" y="87948"/>
                  </a:lnTo>
                  <a:cubicBezTo>
                    <a:pt x="0" y="39375"/>
                    <a:pt x="39375" y="0"/>
                    <a:pt x="87948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321519" cy="742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22000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Spearman correlation test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22000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p-value&lt;0.05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22000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So, There is a relationship between these two variables.</a:t>
              </a:r>
            </a:p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So, There is a relationship between these two variables.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265054" y="475095"/>
            <a:ext cx="5281138" cy="7477421"/>
          </a:xfrm>
          <a:custGeom>
            <a:avLst/>
            <a:gdLst/>
            <a:ahLst/>
            <a:cxnLst/>
            <a:rect l="l" t="t" r="r" b="b"/>
            <a:pathLst>
              <a:path w="5281138" h="7477421">
                <a:moveTo>
                  <a:pt x="0" y="0"/>
                </a:moveTo>
                <a:lnTo>
                  <a:pt x="5281138" y="0"/>
                </a:lnTo>
                <a:lnTo>
                  <a:pt x="5281138" y="7477421"/>
                </a:lnTo>
                <a:lnTo>
                  <a:pt x="0" y="7477421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76200" cap="rnd">
            <a:solidFill>
              <a:srgbClr val="FFFFFF"/>
            </a:solidFill>
            <a:prstDash val="solid"/>
            <a:round/>
          </a:ln>
        </p:spPr>
      </p:sp>
      <p:sp>
        <p:nvSpPr>
          <p:cNvPr id="14" name="TextBox 14"/>
          <p:cNvSpPr txBox="1"/>
          <p:nvPr/>
        </p:nvSpPr>
        <p:spPr>
          <a:xfrm>
            <a:off x="6565348" y="8839835"/>
            <a:ext cx="10179602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Basically, whenever there is more work filling up waiting to be finished, the team has to work more overtime hours to keep up.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36875" y="608211"/>
            <a:ext cx="10980065" cy="9487586"/>
            <a:chOff x="0" y="0"/>
            <a:chExt cx="663821" cy="5735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3821" cy="573591"/>
            </a:xfrm>
            <a:custGeom>
              <a:avLst/>
              <a:gdLst/>
              <a:ahLst/>
              <a:cxnLst/>
              <a:rect l="l" t="t" r="r" b="b"/>
              <a:pathLst>
                <a:path w="663821" h="573591">
                  <a:moveTo>
                    <a:pt x="51780" y="0"/>
                  </a:moveTo>
                  <a:lnTo>
                    <a:pt x="612042" y="0"/>
                  </a:lnTo>
                  <a:cubicBezTo>
                    <a:pt x="640639" y="0"/>
                    <a:pt x="663821" y="23183"/>
                    <a:pt x="663821" y="51780"/>
                  </a:cubicBezTo>
                  <a:lnTo>
                    <a:pt x="663821" y="521811"/>
                  </a:lnTo>
                  <a:cubicBezTo>
                    <a:pt x="663821" y="550408"/>
                    <a:pt x="640639" y="573591"/>
                    <a:pt x="612042" y="573591"/>
                  </a:cubicBezTo>
                  <a:lnTo>
                    <a:pt x="51780" y="573591"/>
                  </a:lnTo>
                  <a:cubicBezTo>
                    <a:pt x="23183" y="573591"/>
                    <a:pt x="0" y="550408"/>
                    <a:pt x="0" y="521811"/>
                  </a:cubicBezTo>
                  <a:lnTo>
                    <a:pt x="0" y="51780"/>
                  </a:lnTo>
                  <a:cubicBezTo>
                    <a:pt x="0" y="23183"/>
                    <a:pt x="23183" y="0"/>
                    <a:pt x="51780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663821" cy="6212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84832" y="7969026"/>
            <a:ext cx="6290888" cy="1967301"/>
            <a:chOff x="0" y="0"/>
            <a:chExt cx="1656859" cy="5181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56859" cy="518137"/>
            </a:xfrm>
            <a:custGeom>
              <a:avLst/>
              <a:gdLst/>
              <a:ahLst/>
              <a:cxnLst/>
              <a:rect l="l" t="t" r="r" b="b"/>
              <a:pathLst>
                <a:path w="1656859" h="518137">
                  <a:moveTo>
                    <a:pt x="57841" y="0"/>
                  </a:moveTo>
                  <a:lnTo>
                    <a:pt x="1599018" y="0"/>
                  </a:lnTo>
                  <a:cubicBezTo>
                    <a:pt x="1614359" y="0"/>
                    <a:pt x="1629071" y="6094"/>
                    <a:pt x="1639918" y="16941"/>
                  </a:cubicBezTo>
                  <a:cubicBezTo>
                    <a:pt x="1650765" y="27788"/>
                    <a:pt x="1656859" y="42500"/>
                    <a:pt x="1656859" y="57841"/>
                  </a:cubicBezTo>
                  <a:lnTo>
                    <a:pt x="1656859" y="460296"/>
                  </a:lnTo>
                  <a:cubicBezTo>
                    <a:pt x="1656859" y="475636"/>
                    <a:pt x="1650765" y="490348"/>
                    <a:pt x="1639918" y="501196"/>
                  </a:cubicBezTo>
                  <a:cubicBezTo>
                    <a:pt x="1629071" y="512043"/>
                    <a:pt x="1614359" y="518137"/>
                    <a:pt x="1599018" y="518137"/>
                  </a:cubicBezTo>
                  <a:lnTo>
                    <a:pt x="57841" y="518137"/>
                  </a:lnTo>
                  <a:cubicBezTo>
                    <a:pt x="42500" y="518137"/>
                    <a:pt x="27788" y="512043"/>
                    <a:pt x="16941" y="501196"/>
                  </a:cubicBezTo>
                  <a:cubicBezTo>
                    <a:pt x="6094" y="490348"/>
                    <a:pt x="0" y="475636"/>
                    <a:pt x="0" y="460296"/>
                  </a:cubicBezTo>
                  <a:lnTo>
                    <a:pt x="0" y="57841"/>
                  </a:lnTo>
                  <a:cubicBezTo>
                    <a:pt x="0" y="42500"/>
                    <a:pt x="6094" y="27788"/>
                    <a:pt x="16941" y="16941"/>
                  </a:cubicBezTo>
                  <a:cubicBezTo>
                    <a:pt x="27788" y="6094"/>
                    <a:pt x="42500" y="0"/>
                    <a:pt x="57841" y="0"/>
                  </a:cubicBezTo>
                  <a:close/>
                </a:path>
              </a:pathLst>
            </a:custGeom>
            <a:solidFill>
              <a:srgbClr val="FF2D9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1656859" cy="5943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  <a:spcBef>
                  <a:spcPct val="0"/>
                </a:spcBef>
              </a:pPr>
              <a:r>
                <a:rPr lang="en-US" sz="41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Overtime vs no of workers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8163821" y="789852"/>
            <a:ext cx="8726173" cy="5497489"/>
          </a:xfrm>
          <a:custGeom>
            <a:avLst/>
            <a:gdLst/>
            <a:ahLst/>
            <a:cxnLst/>
            <a:rect l="l" t="t" r="r" b="b"/>
            <a:pathLst>
              <a:path w="8726173" h="5497489">
                <a:moveTo>
                  <a:pt x="0" y="0"/>
                </a:moveTo>
                <a:lnTo>
                  <a:pt x="8726173" y="0"/>
                </a:lnTo>
                <a:lnTo>
                  <a:pt x="8726173" y="5497489"/>
                </a:lnTo>
                <a:lnTo>
                  <a:pt x="0" y="54974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674087" y="6959586"/>
            <a:ext cx="5156713" cy="744060"/>
          </a:xfrm>
          <a:custGeom>
            <a:avLst/>
            <a:gdLst/>
            <a:ahLst/>
            <a:cxnLst/>
            <a:rect l="l" t="t" r="r" b="b"/>
            <a:pathLst>
              <a:path w="5156713" h="744060">
                <a:moveTo>
                  <a:pt x="0" y="0"/>
                </a:moveTo>
                <a:lnTo>
                  <a:pt x="5156713" y="0"/>
                </a:lnTo>
                <a:lnTo>
                  <a:pt x="5156713" y="744060"/>
                </a:lnTo>
                <a:lnTo>
                  <a:pt x="0" y="744060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7329850" y="6452343"/>
            <a:ext cx="5197057" cy="1799866"/>
            <a:chOff x="0" y="0"/>
            <a:chExt cx="1368772" cy="47403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68772" cy="474039"/>
            </a:xfrm>
            <a:custGeom>
              <a:avLst/>
              <a:gdLst/>
              <a:ahLst/>
              <a:cxnLst/>
              <a:rect l="l" t="t" r="r" b="b"/>
              <a:pathLst>
                <a:path w="1368772" h="474039">
                  <a:moveTo>
                    <a:pt x="84911" y="0"/>
                  </a:moveTo>
                  <a:lnTo>
                    <a:pt x="1283861" y="0"/>
                  </a:lnTo>
                  <a:cubicBezTo>
                    <a:pt x="1330756" y="0"/>
                    <a:pt x="1368772" y="38016"/>
                    <a:pt x="1368772" y="84911"/>
                  </a:cubicBezTo>
                  <a:lnTo>
                    <a:pt x="1368772" y="389127"/>
                  </a:lnTo>
                  <a:cubicBezTo>
                    <a:pt x="1368772" y="436023"/>
                    <a:pt x="1330756" y="474039"/>
                    <a:pt x="1283861" y="474039"/>
                  </a:cubicBezTo>
                  <a:lnTo>
                    <a:pt x="84911" y="474039"/>
                  </a:lnTo>
                  <a:cubicBezTo>
                    <a:pt x="62391" y="474039"/>
                    <a:pt x="40794" y="465093"/>
                    <a:pt x="24870" y="449169"/>
                  </a:cubicBezTo>
                  <a:cubicBezTo>
                    <a:pt x="8946" y="433245"/>
                    <a:pt x="0" y="411647"/>
                    <a:pt x="0" y="389127"/>
                  </a:cubicBezTo>
                  <a:lnTo>
                    <a:pt x="0" y="84911"/>
                  </a:lnTo>
                  <a:cubicBezTo>
                    <a:pt x="0" y="38016"/>
                    <a:pt x="38016" y="0"/>
                    <a:pt x="8491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368772" cy="5216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22000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Spearman correlation test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22000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p-value&lt;0.05</a:t>
              </a:r>
            </a:p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22000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So,There is a relationship between these two variables..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489621" y="8375891"/>
            <a:ext cx="10074573" cy="1560436"/>
            <a:chOff x="0" y="0"/>
            <a:chExt cx="2653385" cy="41097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653386" cy="410979"/>
            </a:xfrm>
            <a:custGeom>
              <a:avLst/>
              <a:gdLst/>
              <a:ahLst/>
              <a:cxnLst/>
              <a:rect l="l" t="t" r="r" b="b"/>
              <a:pathLst>
                <a:path w="2653386" h="410979">
                  <a:moveTo>
                    <a:pt x="47645" y="0"/>
                  </a:moveTo>
                  <a:lnTo>
                    <a:pt x="2605741" y="0"/>
                  </a:lnTo>
                  <a:cubicBezTo>
                    <a:pt x="2632054" y="0"/>
                    <a:pt x="2653386" y="21331"/>
                    <a:pt x="2653386" y="47645"/>
                  </a:cubicBezTo>
                  <a:lnTo>
                    <a:pt x="2653386" y="363335"/>
                  </a:lnTo>
                  <a:cubicBezTo>
                    <a:pt x="2653386" y="389648"/>
                    <a:pt x="2632054" y="410979"/>
                    <a:pt x="2605741" y="410979"/>
                  </a:cubicBezTo>
                  <a:lnTo>
                    <a:pt x="47645" y="410979"/>
                  </a:lnTo>
                  <a:cubicBezTo>
                    <a:pt x="21331" y="410979"/>
                    <a:pt x="0" y="389648"/>
                    <a:pt x="0" y="363335"/>
                  </a:cubicBezTo>
                  <a:lnTo>
                    <a:pt x="0" y="47645"/>
                  </a:lnTo>
                  <a:cubicBezTo>
                    <a:pt x="0" y="21331"/>
                    <a:pt x="21331" y="0"/>
                    <a:pt x="476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653385" cy="4681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22000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When work piles up, overtime goes up automatically, but simply hiring more people doesn't guarantee less overtime.</a:t>
              </a:r>
            </a:p>
            <a:p>
              <a:pPr algn="ctr">
                <a:lnSpc>
                  <a:spcPts val="3779"/>
                </a:lnSpc>
              </a:pPr>
              <a:endParaRPr lang="en-US" sz="2699" b="1">
                <a:solidFill>
                  <a:srgbClr val="220004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sp>
        <p:nvSpPr>
          <p:cNvPr id="16" name="Freeform 16"/>
          <p:cNvSpPr/>
          <p:nvPr/>
        </p:nvSpPr>
        <p:spPr>
          <a:xfrm>
            <a:off x="584832" y="789852"/>
            <a:ext cx="6290888" cy="6922377"/>
          </a:xfrm>
          <a:custGeom>
            <a:avLst/>
            <a:gdLst/>
            <a:ahLst/>
            <a:cxnLst/>
            <a:rect l="l" t="t" r="r" b="b"/>
            <a:pathLst>
              <a:path w="6290888" h="6922377">
                <a:moveTo>
                  <a:pt x="0" y="0"/>
                </a:moveTo>
                <a:lnTo>
                  <a:pt x="6290888" y="0"/>
                </a:lnTo>
                <a:lnTo>
                  <a:pt x="6290888" y="6922377"/>
                </a:lnTo>
                <a:lnTo>
                  <a:pt x="0" y="6922377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95250" cap="rnd">
            <a:solidFill>
              <a:srgbClr val="FFFFFF"/>
            </a:solidFill>
            <a:prstDash val="solid"/>
            <a:round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80155" y="1935105"/>
            <a:ext cx="10015021" cy="3893285"/>
          </a:xfrm>
          <a:custGeom>
            <a:avLst/>
            <a:gdLst/>
            <a:ahLst/>
            <a:cxnLst/>
            <a:rect l="l" t="t" r="r" b="b"/>
            <a:pathLst>
              <a:path w="10015021" h="3893285">
                <a:moveTo>
                  <a:pt x="0" y="0"/>
                </a:moveTo>
                <a:lnTo>
                  <a:pt x="10015021" y="0"/>
                </a:lnTo>
                <a:lnTo>
                  <a:pt x="10015021" y="3893286"/>
                </a:lnTo>
                <a:lnTo>
                  <a:pt x="0" y="389328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980155" y="5961741"/>
            <a:ext cx="10015021" cy="3880821"/>
          </a:xfrm>
          <a:custGeom>
            <a:avLst/>
            <a:gdLst/>
            <a:ahLst/>
            <a:cxnLst/>
            <a:rect l="l" t="t" r="r" b="b"/>
            <a:pathLst>
              <a:path w="10015021" h="3880821">
                <a:moveTo>
                  <a:pt x="0" y="0"/>
                </a:moveTo>
                <a:lnTo>
                  <a:pt x="10015021" y="0"/>
                </a:lnTo>
                <a:lnTo>
                  <a:pt x="10015021" y="3880820"/>
                </a:lnTo>
                <a:lnTo>
                  <a:pt x="0" y="3880820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7293464" y="2373642"/>
            <a:ext cx="0" cy="6692558"/>
          </a:xfrm>
          <a:prstGeom prst="line">
            <a:avLst/>
          </a:prstGeom>
          <a:ln w="38100" cap="flat">
            <a:solidFill>
              <a:srgbClr val="D24D65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767877" y="257175"/>
            <a:ext cx="16817067" cy="1543050"/>
            <a:chOff x="0" y="0"/>
            <a:chExt cx="4429186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29186" cy="406400"/>
            </a:xfrm>
            <a:custGeom>
              <a:avLst/>
              <a:gdLst/>
              <a:ahLst/>
              <a:cxnLst/>
              <a:rect l="l" t="t" r="r" b="b"/>
              <a:pathLst>
                <a:path w="4429186" h="406400">
                  <a:moveTo>
                    <a:pt x="4225986" y="0"/>
                  </a:moveTo>
                  <a:cubicBezTo>
                    <a:pt x="4338210" y="0"/>
                    <a:pt x="4429186" y="90976"/>
                    <a:pt x="4429186" y="203200"/>
                  </a:cubicBezTo>
                  <a:cubicBezTo>
                    <a:pt x="4429186" y="315424"/>
                    <a:pt x="4338210" y="406400"/>
                    <a:pt x="422598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24D6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4429186" cy="530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8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68829" y="5961741"/>
            <a:ext cx="3258093" cy="376516"/>
            <a:chOff x="0" y="0"/>
            <a:chExt cx="858099" cy="9916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58099" cy="99165"/>
            </a:xfrm>
            <a:custGeom>
              <a:avLst/>
              <a:gdLst/>
              <a:ahLst/>
              <a:cxnLst/>
              <a:rect l="l" t="t" r="r" b="b"/>
              <a:pathLst>
                <a:path w="858099" h="99165">
                  <a:moveTo>
                    <a:pt x="654899" y="0"/>
                  </a:moveTo>
                  <a:cubicBezTo>
                    <a:pt x="767123" y="0"/>
                    <a:pt x="858099" y="22199"/>
                    <a:pt x="858099" y="49582"/>
                  </a:cubicBezTo>
                  <a:cubicBezTo>
                    <a:pt x="858099" y="76966"/>
                    <a:pt x="767123" y="99165"/>
                    <a:pt x="654899" y="99165"/>
                  </a:cubicBezTo>
                  <a:lnTo>
                    <a:pt x="203200" y="99165"/>
                  </a:lnTo>
                  <a:cubicBezTo>
                    <a:pt x="90976" y="99165"/>
                    <a:pt x="0" y="76966"/>
                    <a:pt x="0" y="49582"/>
                  </a:cubicBezTo>
                  <a:cubicBezTo>
                    <a:pt x="0" y="22199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58099" cy="146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4172" y="683258"/>
            <a:ext cx="3270829" cy="622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1"/>
              </a:lnSpc>
              <a:spcBef>
                <a:spcPct val="0"/>
              </a:spcBef>
            </a:pPr>
            <a:r>
              <a:rPr lang="en-US" sz="360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Insights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7452" y="6252062"/>
            <a:ext cx="5878294" cy="2836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8"/>
              </a:lnSpc>
              <a:spcBef>
                <a:spcPct val="0"/>
              </a:spcBef>
            </a:pPr>
            <a:r>
              <a:rPr lang="en-US" sz="2706" b="1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 Factories often pay bonuses based on exceeding productivity targets. This is why "Incentive" is such a critical variable , it directly motivates operators to work faster while maintaining quality.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7877" y="2998206"/>
            <a:ext cx="5947868" cy="240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3"/>
              </a:lnSpc>
              <a:spcBef>
                <a:spcPct val="0"/>
              </a:spcBef>
            </a:pPr>
            <a:r>
              <a:rPr lang="en-US" sz="2738" b="1">
                <a:solidFill>
                  <a:srgbClr val="FFFFFF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 Since finishing is the last stop before a shipping deadline, this department often uses overtime to catch up on delays from earlier stages.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370" y="7676712"/>
            <a:ext cx="5241904" cy="2391362"/>
            <a:chOff x="0" y="0"/>
            <a:chExt cx="1380584" cy="6298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80584" cy="629824"/>
            </a:xfrm>
            <a:custGeom>
              <a:avLst/>
              <a:gdLst/>
              <a:ahLst/>
              <a:cxnLst/>
              <a:rect l="l" t="t" r="r" b="b"/>
              <a:pathLst>
                <a:path w="1380584" h="629824">
                  <a:moveTo>
                    <a:pt x="69416" y="0"/>
                  </a:moveTo>
                  <a:lnTo>
                    <a:pt x="1311168" y="0"/>
                  </a:lnTo>
                  <a:cubicBezTo>
                    <a:pt x="1349505" y="0"/>
                    <a:pt x="1380584" y="31078"/>
                    <a:pt x="1380584" y="69416"/>
                  </a:cubicBezTo>
                  <a:lnTo>
                    <a:pt x="1380584" y="560408"/>
                  </a:lnTo>
                  <a:cubicBezTo>
                    <a:pt x="1380584" y="578818"/>
                    <a:pt x="1373270" y="596474"/>
                    <a:pt x="1360252" y="609492"/>
                  </a:cubicBezTo>
                  <a:cubicBezTo>
                    <a:pt x="1347234" y="622510"/>
                    <a:pt x="1329578" y="629824"/>
                    <a:pt x="1311168" y="629824"/>
                  </a:cubicBezTo>
                  <a:lnTo>
                    <a:pt x="69416" y="629824"/>
                  </a:lnTo>
                  <a:cubicBezTo>
                    <a:pt x="51005" y="629824"/>
                    <a:pt x="33349" y="622510"/>
                    <a:pt x="20331" y="609492"/>
                  </a:cubicBezTo>
                  <a:cubicBezTo>
                    <a:pt x="7313" y="596474"/>
                    <a:pt x="0" y="578818"/>
                    <a:pt x="0" y="560408"/>
                  </a:cubicBezTo>
                  <a:lnTo>
                    <a:pt x="0" y="69416"/>
                  </a:lnTo>
                  <a:cubicBezTo>
                    <a:pt x="0" y="51005"/>
                    <a:pt x="7313" y="33349"/>
                    <a:pt x="20331" y="20331"/>
                  </a:cubicBezTo>
                  <a:cubicBezTo>
                    <a:pt x="33349" y="7313"/>
                    <a:pt x="51005" y="0"/>
                    <a:pt x="69416" y="0"/>
                  </a:cubicBezTo>
                  <a:close/>
                </a:path>
              </a:pathLst>
            </a:custGeom>
            <a:solidFill>
              <a:srgbClr val="FF2D9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380584" cy="70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</a:pPr>
              <a:r>
                <a:rPr lang="en-US" sz="41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Investigating</a:t>
              </a:r>
            </a:p>
            <a:p>
              <a:pPr algn="ctr">
                <a:lnSpc>
                  <a:spcPts val="5879"/>
                </a:lnSpc>
                <a:spcBef>
                  <a:spcPct val="0"/>
                </a:spcBef>
              </a:pPr>
              <a:r>
                <a:rPr lang="en-US" sz="41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Incentive of both department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333746" y="347559"/>
            <a:ext cx="4870743" cy="7146711"/>
          </a:xfrm>
          <a:custGeom>
            <a:avLst/>
            <a:gdLst/>
            <a:ahLst/>
            <a:cxnLst/>
            <a:rect l="l" t="t" r="r" b="b"/>
            <a:pathLst>
              <a:path w="4870743" h="7146711">
                <a:moveTo>
                  <a:pt x="0" y="0"/>
                </a:moveTo>
                <a:lnTo>
                  <a:pt x="4870743" y="0"/>
                </a:lnTo>
                <a:lnTo>
                  <a:pt x="4870743" y="7146711"/>
                </a:lnTo>
                <a:lnTo>
                  <a:pt x="0" y="7146711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85725" cap="rnd">
            <a:solidFill>
              <a:srgbClr val="FFFFFF"/>
            </a:solidFill>
            <a:prstDash val="solid"/>
            <a:round/>
          </a:ln>
        </p:spPr>
      </p:sp>
      <p:grpSp>
        <p:nvGrpSpPr>
          <p:cNvPr id="6" name="Group 6"/>
          <p:cNvGrpSpPr/>
          <p:nvPr/>
        </p:nvGrpSpPr>
        <p:grpSpPr>
          <a:xfrm>
            <a:off x="5625500" y="347559"/>
            <a:ext cx="12396201" cy="9720514"/>
            <a:chOff x="0" y="0"/>
            <a:chExt cx="624140" cy="4894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24140" cy="489421"/>
            </a:xfrm>
            <a:custGeom>
              <a:avLst/>
              <a:gdLst/>
              <a:ahLst/>
              <a:cxnLst/>
              <a:rect l="l" t="t" r="r" b="b"/>
              <a:pathLst>
                <a:path w="624140" h="489421">
                  <a:moveTo>
                    <a:pt x="45865" y="0"/>
                  </a:moveTo>
                  <a:lnTo>
                    <a:pt x="578276" y="0"/>
                  </a:lnTo>
                  <a:cubicBezTo>
                    <a:pt x="590440" y="0"/>
                    <a:pt x="602105" y="4832"/>
                    <a:pt x="610707" y="13433"/>
                  </a:cubicBezTo>
                  <a:cubicBezTo>
                    <a:pt x="619308" y="22035"/>
                    <a:pt x="624140" y="33701"/>
                    <a:pt x="624140" y="45865"/>
                  </a:cubicBezTo>
                  <a:lnTo>
                    <a:pt x="624140" y="443557"/>
                  </a:lnTo>
                  <a:cubicBezTo>
                    <a:pt x="624140" y="468887"/>
                    <a:pt x="603606" y="489421"/>
                    <a:pt x="578276" y="489421"/>
                  </a:cubicBezTo>
                  <a:lnTo>
                    <a:pt x="45865" y="489421"/>
                  </a:lnTo>
                  <a:cubicBezTo>
                    <a:pt x="20534" y="489421"/>
                    <a:pt x="0" y="468887"/>
                    <a:pt x="0" y="443557"/>
                  </a:cubicBezTo>
                  <a:lnTo>
                    <a:pt x="0" y="45865"/>
                  </a:lnTo>
                  <a:cubicBezTo>
                    <a:pt x="0" y="20534"/>
                    <a:pt x="20534" y="0"/>
                    <a:pt x="45865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624140" cy="5370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5844987" y="928578"/>
            <a:ext cx="11957227" cy="4214922"/>
          </a:xfrm>
          <a:custGeom>
            <a:avLst/>
            <a:gdLst/>
            <a:ahLst/>
            <a:cxnLst/>
            <a:rect l="l" t="t" r="r" b="b"/>
            <a:pathLst>
              <a:path w="11957227" h="4214922">
                <a:moveTo>
                  <a:pt x="0" y="0"/>
                </a:moveTo>
                <a:lnTo>
                  <a:pt x="11957227" y="0"/>
                </a:lnTo>
                <a:lnTo>
                  <a:pt x="11957227" y="4214922"/>
                </a:lnTo>
                <a:lnTo>
                  <a:pt x="0" y="4214922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 cap="rnd">
            <a:solidFill>
              <a:srgbClr val="FFFFFF"/>
            </a:solidFill>
            <a:prstDash val="solid"/>
            <a:round/>
          </a:ln>
        </p:spPr>
      </p:sp>
      <p:grpSp>
        <p:nvGrpSpPr>
          <p:cNvPr id="10" name="Group 10"/>
          <p:cNvGrpSpPr/>
          <p:nvPr/>
        </p:nvGrpSpPr>
        <p:grpSpPr>
          <a:xfrm>
            <a:off x="12039208" y="5951220"/>
            <a:ext cx="5740823" cy="3086100"/>
            <a:chOff x="0" y="0"/>
            <a:chExt cx="1511986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11986" cy="812800"/>
            </a:xfrm>
            <a:custGeom>
              <a:avLst/>
              <a:gdLst/>
              <a:ahLst/>
              <a:cxnLst/>
              <a:rect l="l" t="t" r="r" b="b"/>
              <a:pathLst>
                <a:path w="1511986" h="812800">
                  <a:moveTo>
                    <a:pt x="109234" y="0"/>
                  </a:moveTo>
                  <a:lnTo>
                    <a:pt x="1402752" y="0"/>
                  </a:lnTo>
                  <a:cubicBezTo>
                    <a:pt x="1463080" y="0"/>
                    <a:pt x="1511986" y="48906"/>
                    <a:pt x="1511986" y="109234"/>
                  </a:cubicBezTo>
                  <a:lnTo>
                    <a:pt x="1511986" y="703566"/>
                  </a:lnTo>
                  <a:cubicBezTo>
                    <a:pt x="1511986" y="763894"/>
                    <a:pt x="1463080" y="812800"/>
                    <a:pt x="1402752" y="812800"/>
                  </a:cubicBezTo>
                  <a:lnTo>
                    <a:pt x="109234" y="812800"/>
                  </a:lnTo>
                  <a:cubicBezTo>
                    <a:pt x="48906" y="812800"/>
                    <a:pt x="0" y="763894"/>
                    <a:pt x="0" y="703566"/>
                  </a:cubicBezTo>
                  <a:lnTo>
                    <a:pt x="0" y="109234"/>
                  </a:lnTo>
                  <a:cubicBezTo>
                    <a:pt x="0" y="48906"/>
                    <a:pt x="48906" y="0"/>
                    <a:pt x="10923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51198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132933" y="6566535"/>
            <a:ext cx="5553375" cy="1610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0"/>
              </a:lnSpc>
              <a:spcBef>
                <a:spcPct val="0"/>
              </a:spcBef>
            </a:pPr>
            <a:r>
              <a:rPr lang="en-US" sz="2321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Incentives vary widely, with many low incentives and a few very high payments, suggesting uneven workload or performance differences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891971" y="5951220"/>
            <a:ext cx="6147237" cy="3086100"/>
            <a:chOff x="0" y="0"/>
            <a:chExt cx="8196316" cy="41148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7949400" cy="4114800"/>
              <a:chOff x="0" y="0"/>
              <a:chExt cx="1570252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57025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570252" h="812800">
                    <a:moveTo>
                      <a:pt x="105181" y="0"/>
                    </a:moveTo>
                    <a:lnTo>
                      <a:pt x="1465071" y="0"/>
                    </a:lnTo>
                    <a:cubicBezTo>
                      <a:pt x="1492966" y="0"/>
                      <a:pt x="1519720" y="11082"/>
                      <a:pt x="1539445" y="30807"/>
                    </a:cubicBezTo>
                    <a:cubicBezTo>
                      <a:pt x="1559170" y="50532"/>
                      <a:pt x="1570252" y="77285"/>
                      <a:pt x="1570252" y="105181"/>
                    </a:cubicBezTo>
                    <a:lnTo>
                      <a:pt x="1570252" y="707619"/>
                    </a:lnTo>
                    <a:cubicBezTo>
                      <a:pt x="1570252" y="735515"/>
                      <a:pt x="1559170" y="762268"/>
                      <a:pt x="1539445" y="781993"/>
                    </a:cubicBezTo>
                    <a:cubicBezTo>
                      <a:pt x="1519720" y="801718"/>
                      <a:pt x="1492966" y="812800"/>
                      <a:pt x="1465071" y="812800"/>
                    </a:cubicBezTo>
                    <a:lnTo>
                      <a:pt x="105181" y="812800"/>
                    </a:lnTo>
                    <a:cubicBezTo>
                      <a:pt x="77285" y="812800"/>
                      <a:pt x="50532" y="801718"/>
                      <a:pt x="30807" y="781993"/>
                    </a:cubicBezTo>
                    <a:cubicBezTo>
                      <a:pt x="11082" y="762268"/>
                      <a:pt x="0" y="735515"/>
                      <a:pt x="0" y="707619"/>
                    </a:cubicBezTo>
                    <a:lnTo>
                      <a:pt x="0" y="105181"/>
                    </a:lnTo>
                    <a:cubicBezTo>
                      <a:pt x="0" y="77285"/>
                      <a:pt x="11082" y="50532"/>
                      <a:pt x="30807" y="30807"/>
                    </a:cubicBezTo>
                    <a:cubicBezTo>
                      <a:pt x="50532" y="11082"/>
                      <a:pt x="77285" y="0"/>
                      <a:pt x="1051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1570252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541886" y="836295"/>
              <a:ext cx="7654431" cy="2201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Incentives are fairly consistent, meaning workers receive regular and balanced payments, indicating stable productivity.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6766" y="7753788"/>
            <a:ext cx="4401241" cy="2005502"/>
            <a:chOff x="0" y="0"/>
            <a:chExt cx="1159175" cy="5281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9175" cy="528198"/>
            </a:xfrm>
            <a:custGeom>
              <a:avLst/>
              <a:gdLst/>
              <a:ahLst/>
              <a:cxnLst/>
              <a:rect l="l" t="t" r="r" b="b"/>
              <a:pathLst>
                <a:path w="1159175" h="528198">
                  <a:moveTo>
                    <a:pt x="82674" y="0"/>
                  </a:moveTo>
                  <a:lnTo>
                    <a:pt x="1076500" y="0"/>
                  </a:lnTo>
                  <a:cubicBezTo>
                    <a:pt x="1098427" y="0"/>
                    <a:pt x="1119455" y="8710"/>
                    <a:pt x="1134960" y="24215"/>
                  </a:cubicBezTo>
                  <a:cubicBezTo>
                    <a:pt x="1150464" y="39719"/>
                    <a:pt x="1159175" y="60748"/>
                    <a:pt x="1159175" y="82674"/>
                  </a:cubicBezTo>
                  <a:lnTo>
                    <a:pt x="1159175" y="445523"/>
                  </a:lnTo>
                  <a:cubicBezTo>
                    <a:pt x="1159175" y="491183"/>
                    <a:pt x="1122160" y="528198"/>
                    <a:pt x="1076500" y="528198"/>
                  </a:cubicBezTo>
                  <a:lnTo>
                    <a:pt x="82674" y="528198"/>
                  </a:lnTo>
                  <a:cubicBezTo>
                    <a:pt x="60748" y="528198"/>
                    <a:pt x="39719" y="519488"/>
                    <a:pt x="24215" y="503983"/>
                  </a:cubicBezTo>
                  <a:cubicBezTo>
                    <a:pt x="8710" y="488479"/>
                    <a:pt x="0" y="467450"/>
                    <a:pt x="0" y="445523"/>
                  </a:cubicBezTo>
                  <a:lnTo>
                    <a:pt x="0" y="82674"/>
                  </a:lnTo>
                  <a:cubicBezTo>
                    <a:pt x="0" y="60748"/>
                    <a:pt x="8710" y="39719"/>
                    <a:pt x="24215" y="24215"/>
                  </a:cubicBezTo>
                  <a:cubicBezTo>
                    <a:pt x="39719" y="8710"/>
                    <a:pt x="60748" y="0"/>
                    <a:pt x="82674" y="0"/>
                  </a:cubicBezTo>
                  <a:close/>
                </a:path>
              </a:pathLst>
            </a:custGeom>
            <a:solidFill>
              <a:srgbClr val="FF2D9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159175" cy="585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99"/>
                </a:lnSpc>
              </a:pPr>
              <a:r>
                <a:rPr lang="en-US" sz="34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Investigating Over Time for</a:t>
              </a:r>
            </a:p>
            <a:p>
              <a:pPr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both department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254406" y="333261"/>
            <a:ext cx="4458965" cy="7243546"/>
          </a:xfrm>
          <a:custGeom>
            <a:avLst/>
            <a:gdLst/>
            <a:ahLst/>
            <a:cxnLst/>
            <a:rect l="l" t="t" r="r" b="b"/>
            <a:pathLst>
              <a:path w="4458965" h="7243546">
                <a:moveTo>
                  <a:pt x="0" y="0"/>
                </a:moveTo>
                <a:lnTo>
                  <a:pt x="4458965" y="0"/>
                </a:lnTo>
                <a:lnTo>
                  <a:pt x="4458965" y="7243545"/>
                </a:lnTo>
                <a:lnTo>
                  <a:pt x="0" y="724354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6675" cap="rnd">
            <a:solidFill>
              <a:srgbClr val="FFFFFF"/>
            </a:solidFill>
            <a:prstDash val="solid"/>
            <a:round/>
          </a:ln>
        </p:spPr>
      </p:sp>
      <p:grpSp>
        <p:nvGrpSpPr>
          <p:cNvPr id="6" name="Group 6"/>
          <p:cNvGrpSpPr/>
          <p:nvPr/>
        </p:nvGrpSpPr>
        <p:grpSpPr>
          <a:xfrm>
            <a:off x="4913396" y="283243"/>
            <a:ext cx="13184319" cy="9720514"/>
            <a:chOff x="0" y="0"/>
            <a:chExt cx="663821" cy="4894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3821" cy="489421"/>
            </a:xfrm>
            <a:custGeom>
              <a:avLst/>
              <a:gdLst/>
              <a:ahLst/>
              <a:cxnLst/>
              <a:rect l="l" t="t" r="r" b="b"/>
              <a:pathLst>
                <a:path w="663821" h="489421">
                  <a:moveTo>
                    <a:pt x="43123" y="0"/>
                  </a:moveTo>
                  <a:lnTo>
                    <a:pt x="620698" y="0"/>
                  </a:lnTo>
                  <a:cubicBezTo>
                    <a:pt x="644515" y="0"/>
                    <a:pt x="663821" y="19307"/>
                    <a:pt x="663821" y="43123"/>
                  </a:cubicBezTo>
                  <a:lnTo>
                    <a:pt x="663821" y="446298"/>
                  </a:lnTo>
                  <a:cubicBezTo>
                    <a:pt x="663821" y="470114"/>
                    <a:pt x="644515" y="489421"/>
                    <a:pt x="620698" y="489421"/>
                  </a:cubicBezTo>
                  <a:lnTo>
                    <a:pt x="43123" y="489421"/>
                  </a:lnTo>
                  <a:cubicBezTo>
                    <a:pt x="19307" y="489421"/>
                    <a:pt x="0" y="470114"/>
                    <a:pt x="0" y="446298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663821" cy="5370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5535368" y="591873"/>
            <a:ext cx="8356337" cy="5264492"/>
          </a:xfrm>
          <a:custGeom>
            <a:avLst/>
            <a:gdLst/>
            <a:ahLst/>
            <a:cxnLst/>
            <a:rect l="l" t="t" r="r" b="b"/>
            <a:pathLst>
              <a:path w="8356337" h="5264492">
                <a:moveTo>
                  <a:pt x="0" y="0"/>
                </a:moveTo>
                <a:lnTo>
                  <a:pt x="8356336" y="0"/>
                </a:lnTo>
                <a:lnTo>
                  <a:pt x="8356336" y="5264493"/>
                </a:lnTo>
                <a:lnTo>
                  <a:pt x="0" y="52644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 cap="rnd">
            <a:solidFill>
              <a:srgbClr val="FFFFFF"/>
            </a:solidFill>
            <a:prstDash val="solid"/>
            <a:round/>
          </a:ln>
        </p:spPr>
      </p:sp>
      <p:sp>
        <p:nvSpPr>
          <p:cNvPr id="10" name="Freeform 10"/>
          <p:cNvSpPr/>
          <p:nvPr/>
        </p:nvSpPr>
        <p:spPr>
          <a:xfrm>
            <a:off x="5933622" y="6196807"/>
            <a:ext cx="11143868" cy="1380000"/>
          </a:xfrm>
          <a:custGeom>
            <a:avLst/>
            <a:gdLst/>
            <a:ahLst/>
            <a:cxnLst/>
            <a:rect l="l" t="t" r="r" b="b"/>
            <a:pathLst>
              <a:path w="11143868" h="1380000">
                <a:moveTo>
                  <a:pt x="0" y="0"/>
                </a:moveTo>
                <a:lnTo>
                  <a:pt x="11143868" y="0"/>
                </a:lnTo>
                <a:lnTo>
                  <a:pt x="11143868" y="1379999"/>
                </a:lnTo>
                <a:lnTo>
                  <a:pt x="0" y="13799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4117735" y="591873"/>
            <a:ext cx="3595075" cy="2348121"/>
            <a:chOff x="0" y="0"/>
            <a:chExt cx="946851" cy="6184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46851" cy="618435"/>
            </a:xfrm>
            <a:custGeom>
              <a:avLst/>
              <a:gdLst/>
              <a:ahLst/>
              <a:cxnLst/>
              <a:rect l="l" t="t" r="r" b="b"/>
              <a:pathLst>
                <a:path w="946851" h="618435">
                  <a:moveTo>
                    <a:pt x="142130" y="0"/>
                  </a:moveTo>
                  <a:lnTo>
                    <a:pt x="804721" y="0"/>
                  </a:lnTo>
                  <a:cubicBezTo>
                    <a:pt x="842417" y="0"/>
                    <a:pt x="878568" y="14974"/>
                    <a:pt x="905222" y="41629"/>
                  </a:cubicBezTo>
                  <a:cubicBezTo>
                    <a:pt x="931877" y="68283"/>
                    <a:pt x="946851" y="104435"/>
                    <a:pt x="946851" y="142130"/>
                  </a:cubicBezTo>
                  <a:lnTo>
                    <a:pt x="946851" y="476305"/>
                  </a:lnTo>
                  <a:cubicBezTo>
                    <a:pt x="946851" y="514001"/>
                    <a:pt x="931877" y="550152"/>
                    <a:pt x="905222" y="576806"/>
                  </a:cubicBezTo>
                  <a:cubicBezTo>
                    <a:pt x="878568" y="603461"/>
                    <a:pt x="842417" y="618435"/>
                    <a:pt x="804721" y="618435"/>
                  </a:cubicBezTo>
                  <a:lnTo>
                    <a:pt x="142130" y="618435"/>
                  </a:lnTo>
                  <a:cubicBezTo>
                    <a:pt x="104435" y="618435"/>
                    <a:pt x="68283" y="603461"/>
                    <a:pt x="41629" y="576806"/>
                  </a:cubicBezTo>
                  <a:cubicBezTo>
                    <a:pt x="14974" y="550152"/>
                    <a:pt x="0" y="514001"/>
                    <a:pt x="0" y="476305"/>
                  </a:cubicBezTo>
                  <a:lnTo>
                    <a:pt x="0" y="142130"/>
                  </a:lnTo>
                  <a:cubicBezTo>
                    <a:pt x="0" y="104435"/>
                    <a:pt x="14974" y="68283"/>
                    <a:pt x="41629" y="41629"/>
                  </a:cubicBezTo>
                  <a:cubicBezTo>
                    <a:pt x="68283" y="14974"/>
                    <a:pt x="104435" y="0"/>
                    <a:pt x="142130" y="0"/>
                  </a:cubicBezTo>
                  <a:close/>
                </a:path>
              </a:pathLst>
            </a:custGeom>
            <a:solidFill>
              <a:srgbClr val="D9DAD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946851" cy="666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220004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Shapiro-wilks test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220004"/>
                  </a:solidFill>
                  <a:latin typeface="Arial Unicode"/>
                  <a:ea typeface="Arial Unicode"/>
                  <a:cs typeface="Arial Unicode"/>
                  <a:sym typeface="Arial Unicode"/>
                </a:rPr>
                <a:t>p-value&lt;0.05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220004"/>
                  </a:solidFill>
                  <a:latin typeface="Arial Unicode"/>
                  <a:ea typeface="Arial Unicode"/>
                  <a:cs typeface="Arial Unicode"/>
                  <a:sym typeface="Arial Unicode"/>
                </a:rPr>
                <a:t>Over time is not normally distributed for both department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144847" y="3165345"/>
            <a:ext cx="3567963" cy="2691021"/>
            <a:chOff x="0" y="0"/>
            <a:chExt cx="939710" cy="70874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39710" cy="708746"/>
            </a:xfrm>
            <a:custGeom>
              <a:avLst/>
              <a:gdLst/>
              <a:ahLst/>
              <a:cxnLst/>
              <a:rect l="l" t="t" r="r" b="b"/>
              <a:pathLst>
                <a:path w="939710" h="708746">
                  <a:moveTo>
                    <a:pt x="143210" y="0"/>
                  </a:moveTo>
                  <a:lnTo>
                    <a:pt x="796501" y="0"/>
                  </a:lnTo>
                  <a:cubicBezTo>
                    <a:pt x="834482" y="0"/>
                    <a:pt x="870908" y="15088"/>
                    <a:pt x="897765" y="41945"/>
                  </a:cubicBezTo>
                  <a:cubicBezTo>
                    <a:pt x="924622" y="68802"/>
                    <a:pt x="939710" y="105228"/>
                    <a:pt x="939710" y="143210"/>
                  </a:cubicBezTo>
                  <a:lnTo>
                    <a:pt x="939710" y="565537"/>
                  </a:lnTo>
                  <a:cubicBezTo>
                    <a:pt x="939710" y="603518"/>
                    <a:pt x="924622" y="639944"/>
                    <a:pt x="897765" y="666801"/>
                  </a:cubicBezTo>
                  <a:cubicBezTo>
                    <a:pt x="870908" y="693658"/>
                    <a:pt x="834482" y="708746"/>
                    <a:pt x="796501" y="708746"/>
                  </a:cubicBezTo>
                  <a:lnTo>
                    <a:pt x="143210" y="708746"/>
                  </a:lnTo>
                  <a:cubicBezTo>
                    <a:pt x="64117" y="708746"/>
                    <a:pt x="0" y="644629"/>
                    <a:pt x="0" y="565537"/>
                  </a:cubicBezTo>
                  <a:lnTo>
                    <a:pt x="0" y="143210"/>
                  </a:lnTo>
                  <a:cubicBezTo>
                    <a:pt x="0" y="105228"/>
                    <a:pt x="15088" y="68802"/>
                    <a:pt x="41945" y="41945"/>
                  </a:cubicBezTo>
                  <a:cubicBezTo>
                    <a:pt x="68802" y="15088"/>
                    <a:pt x="105228" y="0"/>
                    <a:pt x="143210" y="0"/>
                  </a:cubicBezTo>
                  <a:close/>
                </a:path>
              </a:pathLst>
            </a:custGeom>
            <a:solidFill>
              <a:srgbClr val="D9DADB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939710" cy="756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220004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Mann-Whitney test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220004"/>
                  </a:solidFill>
                  <a:latin typeface="Arial Unicode"/>
                  <a:ea typeface="Arial Unicode"/>
                  <a:cs typeface="Arial Unicode"/>
                  <a:sym typeface="Arial Unicode"/>
                </a:rPr>
                <a:t>p-value&lt;0.05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220004"/>
                  </a:solidFill>
                  <a:latin typeface="Arial Unicode"/>
                  <a:ea typeface="Arial Unicode"/>
                  <a:cs typeface="Arial Unicode"/>
                  <a:sym typeface="Arial Unicode"/>
                </a:rPr>
                <a:t>Over time is distributed as differently over department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04616" y="7754069"/>
            <a:ext cx="12408194" cy="2005221"/>
            <a:chOff x="0" y="0"/>
            <a:chExt cx="3268002" cy="52812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268002" cy="528124"/>
            </a:xfrm>
            <a:custGeom>
              <a:avLst/>
              <a:gdLst/>
              <a:ahLst/>
              <a:cxnLst/>
              <a:rect l="l" t="t" r="r" b="b"/>
              <a:pathLst>
                <a:path w="3268002" h="528124">
                  <a:moveTo>
                    <a:pt x="38060" y="0"/>
                  </a:moveTo>
                  <a:lnTo>
                    <a:pt x="3229942" y="0"/>
                  </a:lnTo>
                  <a:cubicBezTo>
                    <a:pt x="3240036" y="0"/>
                    <a:pt x="3249717" y="4010"/>
                    <a:pt x="3256854" y="11148"/>
                  </a:cubicBezTo>
                  <a:cubicBezTo>
                    <a:pt x="3263992" y="18285"/>
                    <a:pt x="3268002" y="27966"/>
                    <a:pt x="3268002" y="38060"/>
                  </a:cubicBezTo>
                  <a:lnTo>
                    <a:pt x="3268002" y="490064"/>
                  </a:lnTo>
                  <a:cubicBezTo>
                    <a:pt x="3268002" y="500158"/>
                    <a:pt x="3263992" y="509839"/>
                    <a:pt x="3256854" y="516976"/>
                  </a:cubicBezTo>
                  <a:cubicBezTo>
                    <a:pt x="3249717" y="524114"/>
                    <a:pt x="3240036" y="528124"/>
                    <a:pt x="3229942" y="528124"/>
                  </a:cubicBezTo>
                  <a:lnTo>
                    <a:pt x="38060" y="528124"/>
                  </a:lnTo>
                  <a:cubicBezTo>
                    <a:pt x="27966" y="528124"/>
                    <a:pt x="18285" y="524114"/>
                    <a:pt x="11148" y="516976"/>
                  </a:cubicBezTo>
                  <a:cubicBezTo>
                    <a:pt x="4010" y="509839"/>
                    <a:pt x="0" y="500158"/>
                    <a:pt x="0" y="490064"/>
                  </a:cubicBezTo>
                  <a:lnTo>
                    <a:pt x="0" y="38060"/>
                  </a:lnTo>
                  <a:cubicBezTo>
                    <a:pt x="0" y="27966"/>
                    <a:pt x="4010" y="18285"/>
                    <a:pt x="11148" y="11148"/>
                  </a:cubicBezTo>
                  <a:cubicBezTo>
                    <a:pt x="18285" y="4010"/>
                    <a:pt x="27966" y="0"/>
                    <a:pt x="38060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3268002" cy="5757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220004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The sewing department works longer and more regularly, while the finishing department has changing workloads with some days having more work and some days having less work.</a:t>
              </a:r>
            </a:p>
            <a:p>
              <a:pPr algn="ctr">
                <a:lnSpc>
                  <a:spcPts val="3359"/>
                </a:lnSpc>
              </a:pPr>
              <a:endParaRPr lang="en-US" sz="2400" b="1">
                <a:solidFill>
                  <a:srgbClr val="220004"/>
                </a:solidFill>
                <a:latin typeface="Arial Unicode Bold"/>
                <a:ea typeface="Arial Unicode Bold"/>
                <a:cs typeface="Arial Unicode Bold"/>
                <a:sym typeface="Arial Unicode Bold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4086" y="187874"/>
            <a:ext cx="9789275" cy="1300645"/>
            <a:chOff x="0" y="0"/>
            <a:chExt cx="2578245" cy="3425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78245" cy="342557"/>
            </a:xfrm>
            <a:custGeom>
              <a:avLst/>
              <a:gdLst/>
              <a:ahLst/>
              <a:cxnLst/>
              <a:rect l="l" t="t" r="r" b="b"/>
              <a:pathLst>
                <a:path w="2578245" h="342557">
                  <a:moveTo>
                    <a:pt x="69595" y="0"/>
                  </a:moveTo>
                  <a:lnTo>
                    <a:pt x="2508650" y="0"/>
                  </a:lnTo>
                  <a:cubicBezTo>
                    <a:pt x="2527108" y="0"/>
                    <a:pt x="2544810" y="7332"/>
                    <a:pt x="2557861" y="20384"/>
                  </a:cubicBezTo>
                  <a:cubicBezTo>
                    <a:pt x="2570913" y="33436"/>
                    <a:pt x="2578245" y="51138"/>
                    <a:pt x="2578245" y="69595"/>
                  </a:cubicBezTo>
                  <a:lnTo>
                    <a:pt x="2578245" y="272961"/>
                  </a:lnTo>
                  <a:cubicBezTo>
                    <a:pt x="2578245" y="291419"/>
                    <a:pt x="2570913" y="309121"/>
                    <a:pt x="2557861" y="322173"/>
                  </a:cubicBezTo>
                  <a:cubicBezTo>
                    <a:pt x="2544810" y="335224"/>
                    <a:pt x="2527108" y="342557"/>
                    <a:pt x="2508650" y="342557"/>
                  </a:cubicBezTo>
                  <a:lnTo>
                    <a:pt x="69595" y="342557"/>
                  </a:lnTo>
                  <a:cubicBezTo>
                    <a:pt x="51138" y="342557"/>
                    <a:pt x="33436" y="335224"/>
                    <a:pt x="20384" y="322173"/>
                  </a:cubicBezTo>
                  <a:cubicBezTo>
                    <a:pt x="7332" y="309121"/>
                    <a:pt x="0" y="291419"/>
                    <a:pt x="0" y="272961"/>
                  </a:cubicBezTo>
                  <a:lnTo>
                    <a:pt x="0" y="69595"/>
                  </a:lnTo>
                  <a:cubicBezTo>
                    <a:pt x="0" y="51138"/>
                    <a:pt x="7332" y="33436"/>
                    <a:pt x="20384" y="20384"/>
                  </a:cubicBezTo>
                  <a:cubicBezTo>
                    <a:pt x="33436" y="7332"/>
                    <a:pt x="51138" y="0"/>
                    <a:pt x="69595" y="0"/>
                  </a:cubicBezTo>
                  <a:close/>
                </a:path>
              </a:pathLst>
            </a:custGeom>
            <a:solidFill>
              <a:srgbClr val="0ABDC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2578245" cy="4473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839"/>
                </a:lnSpc>
              </a:pPr>
              <a:r>
                <a:rPr lang="en-US" sz="5599" b="1">
                  <a:solidFill>
                    <a:srgbClr val="1B250A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Conclusion from the EDA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6982" y="7654420"/>
            <a:ext cx="15972084" cy="1935720"/>
            <a:chOff x="0" y="0"/>
            <a:chExt cx="4206639" cy="5098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06639" cy="509819"/>
            </a:xfrm>
            <a:custGeom>
              <a:avLst/>
              <a:gdLst/>
              <a:ahLst/>
              <a:cxnLst/>
              <a:rect l="l" t="t" r="r" b="b"/>
              <a:pathLst>
                <a:path w="4206639" h="509819">
                  <a:moveTo>
                    <a:pt x="38293" y="0"/>
                  </a:moveTo>
                  <a:lnTo>
                    <a:pt x="4168347" y="0"/>
                  </a:lnTo>
                  <a:cubicBezTo>
                    <a:pt x="4189495" y="0"/>
                    <a:pt x="4206639" y="17144"/>
                    <a:pt x="4206639" y="38293"/>
                  </a:cubicBezTo>
                  <a:lnTo>
                    <a:pt x="4206639" y="471527"/>
                  </a:lnTo>
                  <a:cubicBezTo>
                    <a:pt x="4206639" y="492675"/>
                    <a:pt x="4189495" y="509819"/>
                    <a:pt x="4168347" y="509819"/>
                  </a:cubicBezTo>
                  <a:lnTo>
                    <a:pt x="38293" y="509819"/>
                  </a:lnTo>
                  <a:cubicBezTo>
                    <a:pt x="17144" y="509819"/>
                    <a:pt x="0" y="492675"/>
                    <a:pt x="0" y="471527"/>
                  </a:cubicBezTo>
                  <a:lnTo>
                    <a:pt x="0" y="38293"/>
                  </a:lnTo>
                  <a:cubicBezTo>
                    <a:pt x="0" y="17144"/>
                    <a:pt x="17144" y="0"/>
                    <a:pt x="3829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206639" cy="557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1B250A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The finishing department has fewer workers and its productivity is influenced by clear, structured factors like workload and overtime, making its performance more stable and easier to manage.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83578" y="2882353"/>
            <a:ext cx="15972084" cy="1935720"/>
            <a:chOff x="0" y="0"/>
            <a:chExt cx="4206639" cy="50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06639" cy="509819"/>
            </a:xfrm>
            <a:custGeom>
              <a:avLst/>
              <a:gdLst/>
              <a:ahLst/>
              <a:cxnLst/>
              <a:rect l="l" t="t" r="r" b="b"/>
              <a:pathLst>
                <a:path w="4206639" h="509819">
                  <a:moveTo>
                    <a:pt x="33445" y="0"/>
                  </a:moveTo>
                  <a:lnTo>
                    <a:pt x="4173194" y="0"/>
                  </a:lnTo>
                  <a:cubicBezTo>
                    <a:pt x="4182064" y="0"/>
                    <a:pt x="4190571" y="3524"/>
                    <a:pt x="4196843" y="9796"/>
                  </a:cubicBezTo>
                  <a:cubicBezTo>
                    <a:pt x="4203116" y="16068"/>
                    <a:pt x="4206639" y="24575"/>
                    <a:pt x="4206639" y="33445"/>
                  </a:cubicBezTo>
                  <a:lnTo>
                    <a:pt x="4206639" y="476374"/>
                  </a:lnTo>
                  <a:cubicBezTo>
                    <a:pt x="4206639" y="485244"/>
                    <a:pt x="4203116" y="493751"/>
                    <a:pt x="4196843" y="500023"/>
                  </a:cubicBezTo>
                  <a:cubicBezTo>
                    <a:pt x="4190571" y="506296"/>
                    <a:pt x="4182064" y="509819"/>
                    <a:pt x="4173194" y="509819"/>
                  </a:cubicBezTo>
                  <a:lnTo>
                    <a:pt x="33445" y="509819"/>
                  </a:lnTo>
                  <a:cubicBezTo>
                    <a:pt x="24575" y="509819"/>
                    <a:pt x="16068" y="506296"/>
                    <a:pt x="9796" y="500023"/>
                  </a:cubicBezTo>
                  <a:cubicBezTo>
                    <a:pt x="3524" y="493751"/>
                    <a:pt x="0" y="485244"/>
                    <a:pt x="0" y="476374"/>
                  </a:cubicBezTo>
                  <a:lnTo>
                    <a:pt x="0" y="33445"/>
                  </a:lnTo>
                  <a:cubicBezTo>
                    <a:pt x="0" y="24575"/>
                    <a:pt x="3524" y="16068"/>
                    <a:pt x="9796" y="9796"/>
                  </a:cubicBezTo>
                  <a:cubicBezTo>
                    <a:pt x="16068" y="3524"/>
                    <a:pt x="24575" y="0"/>
                    <a:pt x="33445" y="0"/>
                  </a:cubicBezTo>
                  <a:close/>
                </a:path>
              </a:pathLst>
            </a:custGeom>
            <a:solidFill>
              <a:srgbClr val="FFFFFF"/>
            </a:solidFill>
            <a:ln w="1333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206639" cy="557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1B250A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The sewing department has a larger workforce and more complex tasks, so its productivity varies more and depends on multiple factors like workload,worker efficiency, overtime, and incentives.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6982" y="1905784"/>
            <a:ext cx="5080753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Sewing Department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505860" y="1806379"/>
            <a:ext cx="2657163" cy="1075974"/>
            <a:chOff x="0" y="0"/>
            <a:chExt cx="2007243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07243" cy="812800"/>
            </a:xfrm>
            <a:custGeom>
              <a:avLst/>
              <a:gdLst/>
              <a:ahLst/>
              <a:cxnLst/>
              <a:rect l="l" t="t" r="r" b="b"/>
              <a:pathLst>
                <a:path w="2007243" h="812800">
                  <a:moveTo>
                    <a:pt x="2007243" y="406400"/>
                  </a:moveTo>
                  <a:lnTo>
                    <a:pt x="1600843" y="0"/>
                  </a:lnTo>
                  <a:lnTo>
                    <a:pt x="1600843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600843" y="609600"/>
                  </a:lnTo>
                  <a:lnTo>
                    <a:pt x="1600843" y="812800"/>
                  </a:lnTo>
                  <a:lnTo>
                    <a:pt x="2007243" y="406400"/>
                  </a:lnTo>
                  <a:close/>
                </a:path>
              </a:pathLst>
            </a:custGeom>
            <a:solidFill>
              <a:srgbClr val="A3D13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155575"/>
              <a:ext cx="1905643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744860" y="6769418"/>
            <a:ext cx="7049673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Finishing Department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974566" y="6560894"/>
            <a:ext cx="2418307" cy="1093526"/>
            <a:chOff x="0" y="0"/>
            <a:chExt cx="1797487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97487" cy="812800"/>
            </a:xfrm>
            <a:custGeom>
              <a:avLst/>
              <a:gdLst/>
              <a:ahLst/>
              <a:cxnLst/>
              <a:rect l="l" t="t" r="r" b="b"/>
              <a:pathLst>
                <a:path w="1797487" h="812800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1797487" y="203200"/>
                  </a:lnTo>
                  <a:lnTo>
                    <a:pt x="1797487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A3D13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01600" y="155575"/>
              <a:ext cx="1695887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66581" y="295273"/>
            <a:ext cx="8556045" cy="940905"/>
            <a:chOff x="0" y="0"/>
            <a:chExt cx="2253444" cy="2478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53444" cy="247810"/>
            </a:xfrm>
            <a:custGeom>
              <a:avLst/>
              <a:gdLst/>
              <a:ahLst/>
              <a:cxnLst/>
              <a:rect l="l" t="t" r="r" b="b"/>
              <a:pathLst>
                <a:path w="2253444" h="247810">
                  <a:moveTo>
                    <a:pt x="15382" y="0"/>
                  </a:moveTo>
                  <a:lnTo>
                    <a:pt x="2238062" y="0"/>
                  </a:lnTo>
                  <a:cubicBezTo>
                    <a:pt x="2242141" y="0"/>
                    <a:pt x="2246054" y="1621"/>
                    <a:pt x="2248939" y="4505"/>
                  </a:cubicBezTo>
                  <a:cubicBezTo>
                    <a:pt x="2251823" y="7390"/>
                    <a:pt x="2253444" y="11303"/>
                    <a:pt x="2253444" y="15382"/>
                  </a:cubicBezTo>
                  <a:lnTo>
                    <a:pt x="2253444" y="232428"/>
                  </a:lnTo>
                  <a:cubicBezTo>
                    <a:pt x="2253444" y="240923"/>
                    <a:pt x="2246557" y="247810"/>
                    <a:pt x="2238062" y="247810"/>
                  </a:cubicBezTo>
                  <a:lnTo>
                    <a:pt x="15382" y="247810"/>
                  </a:lnTo>
                  <a:cubicBezTo>
                    <a:pt x="6887" y="247810"/>
                    <a:pt x="0" y="240923"/>
                    <a:pt x="0" y="232428"/>
                  </a:cubicBezTo>
                  <a:lnTo>
                    <a:pt x="0" y="15382"/>
                  </a:lnTo>
                  <a:cubicBezTo>
                    <a:pt x="0" y="6887"/>
                    <a:pt x="6887" y="0"/>
                    <a:pt x="15382" y="0"/>
                  </a:cubicBezTo>
                  <a:close/>
                </a:path>
              </a:pathLst>
            </a:custGeom>
            <a:solidFill>
              <a:srgbClr val="FF2D9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2253444" cy="324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220004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VIF VALUES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0242034" y="2943054"/>
            <a:ext cx="2920505" cy="3102163"/>
          </a:xfrm>
          <a:custGeom>
            <a:avLst/>
            <a:gdLst/>
            <a:ahLst/>
            <a:cxnLst/>
            <a:rect l="l" t="t" r="r" b="b"/>
            <a:pathLst>
              <a:path w="2920505" h="3102163">
                <a:moveTo>
                  <a:pt x="0" y="0"/>
                </a:moveTo>
                <a:lnTo>
                  <a:pt x="2920505" y="0"/>
                </a:lnTo>
                <a:lnTo>
                  <a:pt x="2920505" y="3102163"/>
                </a:lnTo>
                <a:lnTo>
                  <a:pt x="0" y="31021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671700" y="2943054"/>
            <a:ext cx="2424835" cy="3102163"/>
          </a:xfrm>
          <a:custGeom>
            <a:avLst/>
            <a:gdLst/>
            <a:ahLst/>
            <a:cxnLst/>
            <a:rect l="l" t="t" r="r" b="b"/>
            <a:pathLst>
              <a:path w="2424835" h="3102163">
                <a:moveTo>
                  <a:pt x="0" y="0"/>
                </a:moveTo>
                <a:lnTo>
                  <a:pt x="2424835" y="0"/>
                </a:lnTo>
                <a:lnTo>
                  <a:pt x="2424835" y="3102163"/>
                </a:lnTo>
                <a:lnTo>
                  <a:pt x="0" y="31021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378184" y="3028775"/>
            <a:ext cx="2723806" cy="6828343"/>
          </a:xfrm>
          <a:custGeom>
            <a:avLst/>
            <a:gdLst/>
            <a:ahLst/>
            <a:cxnLst/>
            <a:rect l="l" t="t" r="r" b="b"/>
            <a:pathLst>
              <a:path w="2723806" h="6828343">
                <a:moveTo>
                  <a:pt x="0" y="0"/>
                </a:moveTo>
                <a:lnTo>
                  <a:pt x="2723806" y="0"/>
                </a:lnTo>
                <a:lnTo>
                  <a:pt x="2723806" y="6828343"/>
                </a:lnTo>
                <a:lnTo>
                  <a:pt x="0" y="6828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691488" y="2943054"/>
            <a:ext cx="2032622" cy="6828343"/>
          </a:xfrm>
          <a:custGeom>
            <a:avLst/>
            <a:gdLst/>
            <a:ahLst/>
            <a:cxnLst/>
            <a:rect l="l" t="t" r="r" b="b"/>
            <a:pathLst>
              <a:path w="2032622" h="6828343">
                <a:moveTo>
                  <a:pt x="0" y="0"/>
                </a:moveTo>
                <a:lnTo>
                  <a:pt x="2032622" y="0"/>
                </a:lnTo>
                <a:lnTo>
                  <a:pt x="2032622" y="6828343"/>
                </a:lnTo>
                <a:lnTo>
                  <a:pt x="0" y="6828343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941927" y="1799392"/>
            <a:ext cx="4441224" cy="940905"/>
            <a:chOff x="0" y="0"/>
            <a:chExt cx="1169705" cy="2478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69705" cy="247810"/>
            </a:xfrm>
            <a:custGeom>
              <a:avLst/>
              <a:gdLst/>
              <a:ahLst/>
              <a:cxnLst/>
              <a:rect l="l" t="t" r="r" b="b"/>
              <a:pathLst>
                <a:path w="1169705" h="247810">
                  <a:moveTo>
                    <a:pt x="29634" y="0"/>
                  </a:moveTo>
                  <a:lnTo>
                    <a:pt x="1140071" y="0"/>
                  </a:lnTo>
                  <a:cubicBezTo>
                    <a:pt x="1156438" y="0"/>
                    <a:pt x="1169705" y="13268"/>
                    <a:pt x="1169705" y="29634"/>
                  </a:cubicBezTo>
                  <a:lnTo>
                    <a:pt x="1169705" y="218176"/>
                  </a:lnTo>
                  <a:cubicBezTo>
                    <a:pt x="1169705" y="226036"/>
                    <a:pt x="1166583" y="233573"/>
                    <a:pt x="1161026" y="239131"/>
                  </a:cubicBezTo>
                  <a:cubicBezTo>
                    <a:pt x="1155468" y="244688"/>
                    <a:pt x="1147930" y="247810"/>
                    <a:pt x="1140071" y="247810"/>
                  </a:cubicBezTo>
                  <a:lnTo>
                    <a:pt x="29634" y="247810"/>
                  </a:lnTo>
                  <a:cubicBezTo>
                    <a:pt x="21775" y="247810"/>
                    <a:pt x="14237" y="244688"/>
                    <a:pt x="8680" y="239131"/>
                  </a:cubicBezTo>
                  <a:cubicBezTo>
                    <a:pt x="3122" y="233573"/>
                    <a:pt x="0" y="226036"/>
                    <a:pt x="0" y="218176"/>
                  </a:cubicBezTo>
                  <a:lnTo>
                    <a:pt x="0" y="29634"/>
                  </a:lnTo>
                  <a:cubicBezTo>
                    <a:pt x="0" y="21775"/>
                    <a:pt x="3122" y="14237"/>
                    <a:pt x="8680" y="8680"/>
                  </a:cubicBezTo>
                  <a:cubicBezTo>
                    <a:pt x="14237" y="3122"/>
                    <a:pt x="21775" y="0"/>
                    <a:pt x="29634" y="0"/>
                  </a:cubicBezTo>
                  <a:close/>
                </a:path>
              </a:pathLst>
            </a:custGeom>
            <a:solidFill>
              <a:srgbClr val="FF2D9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169705" cy="324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FINISHING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745969" y="1799392"/>
            <a:ext cx="4441224" cy="940905"/>
            <a:chOff x="0" y="0"/>
            <a:chExt cx="1169705" cy="24781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69705" cy="247810"/>
            </a:xfrm>
            <a:custGeom>
              <a:avLst/>
              <a:gdLst/>
              <a:ahLst/>
              <a:cxnLst/>
              <a:rect l="l" t="t" r="r" b="b"/>
              <a:pathLst>
                <a:path w="1169705" h="247810">
                  <a:moveTo>
                    <a:pt x="29634" y="0"/>
                  </a:moveTo>
                  <a:lnTo>
                    <a:pt x="1140071" y="0"/>
                  </a:lnTo>
                  <a:cubicBezTo>
                    <a:pt x="1156438" y="0"/>
                    <a:pt x="1169705" y="13268"/>
                    <a:pt x="1169705" y="29634"/>
                  </a:cubicBezTo>
                  <a:lnTo>
                    <a:pt x="1169705" y="218176"/>
                  </a:lnTo>
                  <a:cubicBezTo>
                    <a:pt x="1169705" y="226036"/>
                    <a:pt x="1166583" y="233573"/>
                    <a:pt x="1161026" y="239131"/>
                  </a:cubicBezTo>
                  <a:cubicBezTo>
                    <a:pt x="1155468" y="244688"/>
                    <a:pt x="1147930" y="247810"/>
                    <a:pt x="1140071" y="247810"/>
                  </a:cubicBezTo>
                  <a:lnTo>
                    <a:pt x="29634" y="247810"/>
                  </a:lnTo>
                  <a:cubicBezTo>
                    <a:pt x="21775" y="247810"/>
                    <a:pt x="14237" y="244688"/>
                    <a:pt x="8680" y="239131"/>
                  </a:cubicBezTo>
                  <a:cubicBezTo>
                    <a:pt x="3122" y="233573"/>
                    <a:pt x="0" y="226036"/>
                    <a:pt x="0" y="218176"/>
                  </a:cubicBezTo>
                  <a:lnTo>
                    <a:pt x="0" y="29634"/>
                  </a:lnTo>
                  <a:cubicBezTo>
                    <a:pt x="0" y="21775"/>
                    <a:pt x="3122" y="14237"/>
                    <a:pt x="8680" y="8680"/>
                  </a:cubicBezTo>
                  <a:cubicBezTo>
                    <a:pt x="14237" y="3122"/>
                    <a:pt x="21775" y="0"/>
                    <a:pt x="29634" y="0"/>
                  </a:cubicBezTo>
                  <a:close/>
                </a:path>
              </a:pathLst>
            </a:custGeom>
            <a:solidFill>
              <a:srgbClr val="FF2D9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1169705" cy="324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SEWING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800307" y="6357226"/>
            <a:ext cx="8724464" cy="3499892"/>
            <a:chOff x="0" y="0"/>
            <a:chExt cx="969807" cy="38904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69807" cy="389046"/>
            </a:xfrm>
            <a:custGeom>
              <a:avLst/>
              <a:gdLst/>
              <a:ahLst/>
              <a:cxnLst/>
              <a:rect l="l" t="t" r="r" b="b"/>
              <a:pathLst>
                <a:path w="969807" h="389046">
                  <a:moveTo>
                    <a:pt x="33277" y="0"/>
                  </a:moveTo>
                  <a:lnTo>
                    <a:pt x="936530" y="0"/>
                  </a:lnTo>
                  <a:cubicBezTo>
                    <a:pt x="954908" y="0"/>
                    <a:pt x="969807" y="14899"/>
                    <a:pt x="969807" y="33277"/>
                  </a:cubicBezTo>
                  <a:lnTo>
                    <a:pt x="969807" y="355769"/>
                  </a:lnTo>
                  <a:cubicBezTo>
                    <a:pt x="969807" y="364595"/>
                    <a:pt x="966301" y="373059"/>
                    <a:pt x="960060" y="379300"/>
                  </a:cubicBezTo>
                  <a:cubicBezTo>
                    <a:pt x="953820" y="385540"/>
                    <a:pt x="945356" y="389046"/>
                    <a:pt x="936530" y="389046"/>
                  </a:cubicBezTo>
                  <a:lnTo>
                    <a:pt x="33277" y="389046"/>
                  </a:lnTo>
                  <a:cubicBezTo>
                    <a:pt x="14899" y="389046"/>
                    <a:pt x="0" y="374148"/>
                    <a:pt x="0" y="355769"/>
                  </a:cubicBezTo>
                  <a:lnTo>
                    <a:pt x="0" y="33277"/>
                  </a:lnTo>
                  <a:cubicBezTo>
                    <a:pt x="0" y="14899"/>
                    <a:pt x="14899" y="0"/>
                    <a:pt x="33277" y="0"/>
                  </a:cubicBezTo>
                  <a:close/>
                </a:path>
              </a:pathLst>
            </a:custGeom>
            <a:solidFill>
              <a:srgbClr val="FFB5C2">
                <a:alpha val="95686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123825"/>
              <a:ext cx="969807" cy="5128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87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719190" y="7234010"/>
            <a:ext cx="7316152" cy="1679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0"/>
              </a:lnSpc>
              <a:spcBef>
                <a:spcPct val="0"/>
              </a:spcBef>
            </a:pPr>
            <a:r>
              <a:rPr lang="en-US" sz="3235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Multicollinearity exists in the Finishing department, but not in the Sewing department.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5472" y="1422820"/>
            <a:ext cx="11515027" cy="8679219"/>
            <a:chOff x="0" y="0"/>
            <a:chExt cx="637950" cy="4808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7950" cy="480842"/>
            </a:xfrm>
            <a:custGeom>
              <a:avLst/>
              <a:gdLst/>
              <a:ahLst/>
              <a:cxnLst/>
              <a:rect l="l" t="t" r="r" b="b"/>
              <a:pathLst>
                <a:path w="637950" h="480842">
                  <a:moveTo>
                    <a:pt x="49374" y="0"/>
                  </a:moveTo>
                  <a:lnTo>
                    <a:pt x="588575" y="0"/>
                  </a:lnTo>
                  <a:cubicBezTo>
                    <a:pt x="601670" y="0"/>
                    <a:pt x="614229" y="5202"/>
                    <a:pt x="623488" y="14461"/>
                  </a:cubicBezTo>
                  <a:cubicBezTo>
                    <a:pt x="632748" y="23721"/>
                    <a:pt x="637950" y="36279"/>
                    <a:pt x="637950" y="49374"/>
                  </a:cubicBezTo>
                  <a:lnTo>
                    <a:pt x="637950" y="431467"/>
                  </a:lnTo>
                  <a:cubicBezTo>
                    <a:pt x="637950" y="458736"/>
                    <a:pt x="615844" y="480842"/>
                    <a:pt x="588575" y="480842"/>
                  </a:cubicBezTo>
                  <a:lnTo>
                    <a:pt x="49374" y="480842"/>
                  </a:lnTo>
                  <a:cubicBezTo>
                    <a:pt x="22106" y="480842"/>
                    <a:pt x="0" y="458736"/>
                    <a:pt x="0" y="431467"/>
                  </a:cubicBezTo>
                  <a:lnTo>
                    <a:pt x="0" y="49374"/>
                  </a:lnTo>
                  <a:cubicBezTo>
                    <a:pt x="0" y="22106"/>
                    <a:pt x="22106" y="0"/>
                    <a:pt x="49374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637950" cy="528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78565" y="1624629"/>
            <a:ext cx="8888842" cy="5333305"/>
          </a:xfrm>
          <a:custGeom>
            <a:avLst/>
            <a:gdLst/>
            <a:ahLst/>
            <a:cxnLst/>
            <a:rect l="l" t="t" r="r" b="b"/>
            <a:pathLst>
              <a:path w="8888842" h="5333305">
                <a:moveTo>
                  <a:pt x="0" y="0"/>
                </a:moveTo>
                <a:lnTo>
                  <a:pt x="8888842" y="0"/>
                </a:lnTo>
                <a:lnTo>
                  <a:pt x="8888842" y="5333305"/>
                </a:lnTo>
                <a:lnTo>
                  <a:pt x="0" y="533330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9050" cap="sq">
            <a:solidFill>
              <a:srgbClr val="FFFBFA"/>
            </a:solidFill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2048029" y="7805345"/>
            <a:ext cx="2551058" cy="1769795"/>
            <a:chOff x="0" y="0"/>
            <a:chExt cx="671884" cy="4661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1884" cy="466119"/>
            </a:xfrm>
            <a:custGeom>
              <a:avLst/>
              <a:gdLst/>
              <a:ahLst/>
              <a:cxnLst/>
              <a:rect l="l" t="t" r="r" b="b"/>
              <a:pathLst>
                <a:path w="671884" h="466119">
                  <a:moveTo>
                    <a:pt x="157809" y="0"/>
                  </a:moveTo>
                  <a:lnTo>
                    <a:pt x="514075" y="0"/>
                  </a:lnTo>
                  <a:cubicBezTo>
                    <a:pt x="601230" y="0"/>
                    <a:pt x="671884" y="70653"/>
                    <a:pt x="671884" y="157809"/>
                  </a:cubicBezTo>
                  <a:lnTo>
                    <a:pt x="671884" y="308310"/>
                  </a:lnTo>
                  <a:cubicBezTo>
                    <a:pt x="671884" y="395465"/>
                    <a:pt x="601230" y="466119"/>
                    <a:pt x="514075" y="466119"/>
                  </a:cubicBezTo>
                  <a:lnTo>
                    <a:pt x="157809" y="466119"/>
                  </a:lnTo>
                  <a:cubicBezTo>
                    <a:pt x="70653" y="466119"/>
                    <a:pt x="0" y="395465"/>
                    <a:pt x="0" y="308310"/>
                  </a:cubicBezTo>
                  <a:lnTo>
                    <a:pt x="0" y="157809"/>
                  </a:lnTo>
                  <a:cubicBezTo>
                    <a:pt x="0" y="70653"/>
                    <a:pt x="70653" y="0"/>
                    <a:pt x="157809" y="0"/>
                  </a:cubicBezTo>
                  <a:close/>
                </a:path>
              </a:pathLst>
            </a:custGeom>
            <a:solidFill>
              <a:srgbClr val="D6DBE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671884" cy="5137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Most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Impotant Features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103911" y="8458258"/>
            <a:ext cx="1452049" cy="463968"/>
            <a:chOff x="0" y="0"/>
            <a:chExt cx="2543763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43763" cy="812800"/>
            </a:xfrm>
            <a:custGeom>
              <a:avLst/>
              <a:gdLst/>
              <a:ahLst/>
              <a:cxnLst/>
              <a:rect l="l" t="t" r="r" b="b"/>
              <a:pathLst>
                <a:path w="2543763" h="812800">
                  <a:moveTo>
                    <a:pt x="2543763" y="406400"/>
                  </a:moveTo>
                  <a:lnTo>
                    <a:pt x="2137363" y="0"/>
                  </a:lnTo>
                  <a:lnTo>
                    <a:pt x="2137363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137363" y="609600"/>
                  </a:lnTo>
                  <a:lnTo>
                    <a:pt x="2137363" y="812800"/>
                  </a:lnTo>
                  <a:lnTo>
                    <a:pt x="2543763" y="406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155575"/>
              <a:ext cx="2442163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060000" y="7554282"/>
            <a:ext cx="3666390" cy="2271921"/>
            <a:chOff x="0" y="0"/>
            <a:chExt cx="965596" cy="59839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65596" cy="598393"/>
            </a:xfrm>
            <a:custGeom>
              <a:avLst/>
              <a:gdLst/>
              <a:ahLst/>
              <a:cxnLst/>
              <a:rect l="l" t="t" r="r" b="b"/>
              <a:pathLst>
                <a:path w="965596" h="598393">
                  <a:moveTo>
                    <a:pt x="965596" y="78129"/>
                  </a:moveTo>
                  <a:lnTo>
                    <a:pt x="965596" y="520264"/>
                  </a:lnTo>
                  <a:cubicBezTo>
                    <a:pt x="965596" y="563413"/>
                    <a:pt x="930616" y="598393"/>
                    <a:pt x="887467" y="598393"/>
                  </a:cubicBezTo>
                  <a:lnTo>
                    <a:pt x="78129" y="598393"/>
                  </a:lnTo>
                  <a:cubicBezTo>
                    <a:pt x="57408" y="598393"/>
                    <a:pt x="37535" y="590161"/>
                    <a:pt x="22883" y="575509"/>
                  </a:cubicBezTo>
                  <a:cubicBezTo>
                    <a:pt x="8231" y="560857"/>
                    <a:pt x="0" y="540985"/>
                    <a:pt x="0" y="520264"/>
                  </a:cubicBezTo>
                  <a:lnTo>
                    <a:pt x="0" y="78129"/>
                  </a:lnTo>
                  <a:cubicBezTo>
                    <a:pt x="0" y="57408"/>
                    <a:pt x="8231" y="37535"/>
                    <a:pt x="22883" y="22883"/>
                  </a:cubicBezTo>
                  <a:cubicBezTo>
                    <a:pt x="37535" y="8231"/>
                    <a:pt x="57408" y="0"/>
                    <a:pt x="78129" y="0"/>
                  </a:cubicBezTo>
                  <a:lnTo>
                    <a:pt x="887467" y="0"/>
                  </a:lnTo>
                  <a:cubicBezTo>
                    <a:pt x="908188" y="0"/>
                    <a:pt x="928060" y="8231"/>
                    <a:pt x="942712" y="22883"/>
                  </a:cubicBezTo>
                  <a:cubicBezTo>
                    <a:pt x="957364" y="37535"/>
                    <a:pt x="965596" y="57408"/>
                    <a:pt x="965596" y="78129"/>
                  </a:cubicBezTo>
                  <a:close/>
                </a:path>
              </a:pathLst>
            </a:custGeom>
            <a:solidFill>
              <a:srgbClr val="2555B7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65596" cy="646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incentive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smv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targeted_productivity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over_time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no_of_workers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2004724" y="1624629"/>
            <a:ext cx="5955901" cy="8363720"/>
          </a:xfrm>
          <a:custGeom>
            <a:avLst/>
            <a:gdLst/>
            <a:ahLst/>
            <a:cxnLst/>
            <a:rect l="l" t="t" r="r" b="b"/>
            <a:pathLst>
              <a:path w="5955901" h="8363720">
                <a:moveTo>
                  <a:pt x="0" y="0"/>
                </a:moveTo>
                <a:lnTo>
                  <a:pt x="5955902" y="0"/>
                </a:lnTo>
                <a:lnTo>
                  <a:pt x="5955902" y="8363720"/>
                </a:lnTo>
                <a:lnTo>
                  <a:pt x="0" y="83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33350" cap="rnd">
            <a:solidFill>
              <a:srgbClr val="FFFBFA"/>
            </a:solidFill>
            <a:prstDash val="solid"/>
            <a:round/>
          </a:ln>
        </p:spPr>
      </p:sp>
      <p:grpSp>
        <p:nvGrpSpPr>
          <p:cNvPr id="16" name="Group 16"/>
          <p:cNvGrpSpPr/>
          <p:nvPr/>
        </p:nvGrpSpPr>
        <p:grpSpPr>
          <a:xfrm>
            <a:off x="5318784" y="296219"/>
            <a:ext cx="8556045" cy="940905"/>
            <a:chOff x="0" y="0"/>
            <a:chExt cx="2253444" cy="24781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53444" cy="247810"/>
            </a:xfrm>
            <a:custGeom>
              <a:avLst/>
              <a:gdLst/>
              <a:ahLst/>
              <a:cxnLst/>
              <a:rect l="l" t="t" r="r" b="b"/>
              <a:pathLst>
                <a:path w="2253444" h="247810">
                  <a:moveTo>
                    <a:pt x="15382" y="0"/>
                  </a:moveTo>
                  <a:lnTo>
                    <a:pt x="2238062" y="0"/>
                  </a:lnTo>
                  <a:cubicBezTo>
                    <a:pt x="2242141" y="0"/>
                    <a:pt x="2246054" y="1621"/>
                    <a:pt x="2248939" y="4505"/>
                  </a:cubicBezTo>
                  <a:cubicBezTo>
                    <a:pt x="2251823" y="7390"/>
                    <a:pt x="2253444" y="11303"/>
                    <a:pt x="2253444" y="15382"/>
                  </a:cubicBezTo>
                  <a:lnTo>
                    <a:pt x="2253444" y="232428"/>
                  </a:lnTo>
                  <a:cubicBezTo>
                    <a:pt x="2253444" y="240923"/>
                    <a:pt x="2246557" y="247810"/>
                    <a:pt x="2238062" y="247810"/>
                  </a:cubicBezTo>
                  <a:lnTo>
                    <a:pt x="15382" y="247810"/>
                  </a:lnTo>
                  <a:cubicBezTo>
                    <a:pt x="6887" y="247810"/>
                    <a:pt x="0" y="240923"/>
                    <a:pt x="0" y="232428"/>
                  </a:cubicBezTo>
                  <a:lnTo>
                    <a:pt x="0" y="15382"/>
                  </a:lnTo>
                  <a:cubicBezTo>
                    <a:pt x="0" y="6887"/>
                    <a:pt x="6887" y="0"/>
                    <a:pt x="15382" y="0"/>
                  </a:cubicBezTo>
                  <a:close/>
                </a:path>
              </a:pathLst>
            </a:custGeom>
            <a:solidFill>
              <a:srgbClr val="FF2D9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2253444" cy="324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220004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MUTUAL INFORMATION - SEWING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62502" y="1391983"/>
            <a:ext cx="11957481" cy="8679219"/>
            <a:chOff x="0" y="0"/>
            <a:chExt cx="662462" cy="4808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2462" cy="480842"/>
            </a:xfrm>
            <a:custGeom>
              <a:avLst/>
              <a:gdLst/>
              <a:ahLst/>
              <a:cxnLst/>
              <a:rect l="l" t="t" r="r" b="b"/>
              <a:pathLst>
                <a:path w="662462" h="480842">
                  <a:moveTo>
                    <a:pt x="47547" y="0"/>
                  </a:moveTo>
                  <a:lnTo>
                    <a:pt x="614915" y="0"/>
                  </a:lnTo>
                  <a:cubicBezTo>
                    <a:pt x="627525" y="0"/>
                    <a:pt x="639619" y="5009"/>
                    <a:pt x="648536" y="13926"/>
                  </a:cubicBezTo>
                  <a:cubicBezTo>
                    <a:pt x="657453" y="22843"/>
                    <a:pt x="662462" y="34937"/>
                    <a:pt x="662462" y="47547"/>
                  </a:cubicBezTo>
                  <a:lnTo>
                    <a:pt x="662462" y="433294"/>
                  </a:lnTo>
                  <a:cubicBezTo>
                    <a:pt x="662462" y="445905"/>
                    <a:pt x="657453" y="457999"/>
                    <a:pt x="648536" y="466915"/>
                  </a:cubicBezTo>
                  <a:cubicBezTo>
                    <a:pt x="639619" y="475832"/>
                    <a:pt x="627525" y="480842"/>
                    <a:pt x="614915" y="480842"/>
                  </a:cubicBezTo>
                  <a:lnTo>
                    <a:pt x="47547" y="480842"/>
                  </a:lnTo>
                  <a:cubicBezTo>
                    <a:pt x="34937" y="480842"/>
                    <a:pt x="22843" y="475832"/>
                    <a:pt x="13926" y="466915"/>
                  </a:cubicBezTo>
                  <a:cubicBezTo>
                    <a:pt x="5009" y="457999"/>
                    <a:pt x="0" y="445905"/>
                    <a:pt x="0" y="433294"/>
                  </a:cubicBezTo>
                  <a:lnTo>
                    <a:pt x="0" y="47547"/>
                  </a:lnTo>
                  <a:cubicBezTo>
                    <a:pt x="0" y="34937"/>
                    <a:pt x="5009" y="22843"/>
                    <a:pt x="13926" y="13926"/>
                  </a:cubicBezTo>
                  <a:cubicBezTo>
                    <a:pt x="22843" y="5009"/>
                    <a:pt x="34937" y="0"/>
                    <a:pt x="47547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662462" cy="528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214399" y="1602691"/>
            <a:ext cx="8088660" cy="4853196"/>
          </a:xfrm>
          <a:custGeom>
            <a:avLst/>
            <a:gdLst/>
            <a:ahLst/>
            <a:cxnLst/>
            <a:rect l="l" t="t" r="r" b="b"/>
            <a:pathLst>
              <a:path w="8088660" h="4853196">
                <a:moveTo>
                  <a:pt x="0" y="0"/>
                </a:moveTo>
                <a:lnTo>
                  <a:pt x="8088660" y="0"/>
                </a:lnTo>
                <a:lnTo>
                  <a:pt x="8088660" y="4853196"/>
                </a:lnTo>
                <a:lnTo>
                  <a:pt x="0" y="485319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 cap="rnd">
            <a:solidFill>
              <a:srgbClr val="FFFBFA"/>
            </a:solidFill>
            <a:prstDash val="solid"/>
            <a:round/>
          </a:ln>
        </p:spPr>
      </p:sp>
      <p:grpSp>
        <p:nvGrpSpPr>
          <p:cNvPr id="6" name="Group 6"/>
          <p:cNvGrpSpPr/>
          <p:nvPr/>
        </p:nvGrpSpPr>
        <p:grpSpPr>
          <a:xfrm>
            <a:off x="8319884" y="6579712"/>
            <a:ext cx="3518354" cy="1151800"/>
            <a:chOff x="0" y="0"/>
            <a:chExt cx="926645" cy="303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26645" cy="303355"/>
            </a:xfrm>
            <a:custGeom>
              <a:avLst/>
              <a:gdLst/>
              <a:ahLst/>
              <a:cxnLst/>
              <a:rect l="l" t="t" r="r" b="b"/>
              <a:pathLst>
                <a:path w="926645" h="303355">
                  <a:moveTo>
                    <a:pt x="37407" y="0"/>
                  </a:moveTo>
                  <a:lnTo>
                    <a:pt x="889237" y="0"/>
                  </a:lnTo>
                  <a:cubicBezTo>
                    <a:pt x="899158" y="0"/>
                    <a:pt x="908673" y="3941"/>
                    <a:pt x="915688" y="10956"/>
                  </a:cubicBezTo>
                  <a:cubicBezTo>
                    <a:pt x="922703" y="17972"/>
                    <a:pt x="926645" y="27486"/>
                    <a:pt x="926645" y="37407"/>
                  </a:cubicBezTo>
                  <a:lnTo>
                    <a:pt x="926645" y="265947"/>
                  </a:lnTo>
                  <a:cubicBezTo>
                    <a:pt x="926645" y="286607"/>
                    <a:pt x="909897" y="303355"/>
                    <a:pt x="889237" y="303355"/>
                  </a:cubicBezTo>
                  <a:lnTo>
                    <a:pt x="37407" y="303355"/>
                  </a:lnTo>
                  <a:cubicBezTo>
                    <a:pt x="16748" y="303355"/>
                    <a:pt x="0" y="286607"/>
                    <a:pt x="0" y="265947"/>
                  </a:cubicBezTo>
                  <a:lnTo>
                    <a:pt x="0" y="37407"/>
                  </a:lnTo>
                  <a:cubicBezTo>
                    <a:pt x="0" y="16748"/>
                    <a:pt x="16748" y="0"/>
                    <a:pt x="37407" y="0"/>
                  </a:cubicBezTo>
                  <a:close/>
                </a:path>
              </a:pathLst>
            </a:custGeom>
            <a:solidFill>
              <a:srgbClr val="D6DBE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26645" cy="350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Zero importance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319884" y="7857533"/>
            <a:ext cx="3666390" cy="1989963"/>
            <a:chOff x="0" y="0"/>
            <a:chExt cx="965596" cy="52412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65596" cy="524129"/>
            </a:xfrm>
            <a:custGeom>
              <a:avLst/>
              <a:gdLst/>
              <a:ahLst/>
              <a:cxnLst/>
              <a:rect l="l" t="t" r="r" b="b"/>
              <a:pathLst>
                <a:path w="965596" h="524129">
                  <a:moveTo>
                    <a:pt x="965596" y="78129"/>
                  </a:moveTo>
                  <a:lnTo>
                    <a:pt x="965596" y="446000"/>
                  </a:lnTo>
                  <a:cubicBezTo>
                    <a:pt x="965596" y="489150"/>
                    <a:pt x="930616" y="524129"/>
                    <a:pt x="887467" y="524129"/>
                  </a:cubicBezTo>
                  <a:lnTo>
                    <a:pt x="78129" y="524129"/>
                  </a:lnTo>
                  <a:cubicBezTo>
                    <a:pt x="34980" y="524129"/>
                    <a:pt x="0" y="489150"/>
                    <a:pt x="0" y="446000"/>
                  </a:cubicBezTo>
                  <a:lnTo>
                    <a:pt x="0" y="78129"/>
                  </a:lnTo>
                  <a:cubicBezTo>
                    <a:pt x="0" y="57408"/>
                    <a:pt x="8231" y="37535"/>
                    <a:pt x="22883" y="22883"/>
                  </a:cubicBezTo>
                  <a:cubicBezTo>
                    <a:pt x="37535" y="8231"/>
                    <a:pt x="57408" y="0"/>
                    <a:pt x="78129" y="0"/>
                  </a:cubicBezTo>
                  <a:lnTo>
                    <a:pt x="887467" y="0"/>
                  </a:lnTo>
                  <a:cubicBezTo>
                    <a:pt x="908188" y="0"/>
                    <a:pt x="928060" y="8231"/>
                    <a:pt x="942712" y="22883"/>
                  </a:cubicBezTo>
                  <a:cubicBezTo>
                    <a:pt x="957364" y="37535"/>
                    <a:pt x="965596" y="57408"/>
                    <a:pt x="965596" y="78129"/>
                  </a:cubicBezTo>
                  <a:close/>
                </a:path>
              </a:pathLst>
            </a:custGeom>
            <a:solidFill>
              <a:srgbClr val="2555B7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965596" cy="571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idle_men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incentive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idel_time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no_of_style_change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244368" y="6579712"/>
            <a:ext cx="3666390" cy="915872"/>
            <a:chOff x="0" y="0"/>
            <a:chExt cx="965634" cy="24121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65634" cy="241217"/>
            </a:xfrm>
            <a:custGeom>
              <a:avLst/>
              <a:gdLst/>
              <a:ahLst/>
              <a:cxnLst/>
              <a:rect l="l" t="t" r="r" b="b"/>
              <a:pathLst>
                <a:path w="965634" h="241217">
                  <a:moveTo>
                    <a:pt x="35897" y="0"/>
                  </a:moveTo>
                  <a:lnTo>
                    <a:pt x="929737" y="0"/>
                  </a:lnTo>
                  <a:cubicBezTo>
                    <a:pt x="939257" y="0"/>
                    <a:pt x="948388" y="3782"/>
                    <a:pt x="955120" y="10514"/>
                  </a:cubicBezTo>
                  <a:cubicBezTo>
                    <a:pt x="961852" y="17246"/>
                    <a:pt x="965634" y="26377"/>
                    <a:pt x="965634" y="35897"/>
                  </a:cubicBezTo>
                  <a:lnTo>
                    <a:pt x="965634" y="205320"/>
                  </a:lnTo>
                  <a:cubicBezTo>
                    <a:pt x="965634" y="214841"/>
                    <a:pt x="961852" y="223971"/>
                    <a:pt x="955120" y="230703"/>
                  </a:cubicBezTo>
                  <a:cubicBezTo>
                    <a:pt x="948388" y="237435"/>
                    <a:pt x="939257" y="241217"/>
                    <a:pt x="929737" y="241217"/>
                  </a:cubicBezTo>
                  <a:lnTo>
                    <a:pt x="35897" y="241217"/>
                  </a:lnTo>
                  <a:cubicBezTo>
                    <a:pt x="26377" y="241217"/>
                    <a:pt x="17246" y="237435"/>
                    <a:pt x="10514" y="230703"/>
                  </a:cubicBezTo>
                  <a:cubicBezTo>
                    <a:pt x="3782" y="223971"/>
                    <a:pt x="0" y="214841"/>
                    <a:pt x="0" y="205320"/>
                  </a:cubicBezTo>
                  <a:lnTo>
                    <a:pt x="0" y="35897"/>
                  </a:lnTo>
                  <a:cubicBezTo>
                    <a:pt x="0" y="26377"/>
                    <a:pt x="3782" y="17246"/>
                    <a:pt x="10514" y="10514"/>
                  </a:cubicBezTo>
                  <a:cubicBezTo>
                    <a:pt x="17246" y="3782"/>
                    <a:pt x="26377" y="0"/>
                    <a:pt x="35897" y="0"/>
                  </a:cubicBezTo>
                  <a:close/>
                </a:path>
              </a:pathLst>
            </a:custGeom>
            <a:solidFill>
              <a:srgbClr val="D6DBE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65634" cy="288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Impotant features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244368" y="7621605"/>
            <a:ext cx="3666390" cy="2271921"/>
            <a:chOff x="0" y="0"/>
            <a:chExt cx="965596" cy="59839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65596" cy="598393"/>
            </a:xfrm>
            <a:custGeom>
              <a:avLst/>
              <a:gdLst/>
              <a:ahLst/>
              <a:cxnLst/>
              <a:rect l="l" t="t" r="r" b="b"/>
              <a:pathLst>
                <a:path w="965596" h="598393">
                  <a:moveTo>
                    <a:pt x="965596" y="78129"/>
                  </a:moveTo>
                  <a:lnTo>
                    <a:pt x="965596" y="520264"/>
                  </a:lnTo>
                  <a:cubicBezTo>
                    <a:pt x="965596" y="563413"/>
                    <a:pt x="930616" y="598393"/>
                    <a:pt x="887467" y="598393"/>
                  </a:cubicBezTo>
                  <a:lnTo>
                    <a:pt x="78129" y="598393"/>
                  </a:lnTo>
                  <a:cubicBezTo>
                    <a:pt x="57408" y="598393"/>
                    <a:pt x="37535" y="590161"/>
                    <a:pt x="22883" y="575509"/>
                  </a:cubicBezTo>
                  <a:cubicBezTo>
                    <a:pt x="8231" y="560857"/>
                    <a:pt x="0" y="540985"/>
                    <a:pt x="0" y="520264"/>
                  </a:cubicBezTo>
                  <a:lnTo>
                    <a:pt x="0" y="78129"/>
                  </a:lnTo>
                  <a:cubicBezTo>
                    <a:pt x="0" y="57408"/>
                    <a:pt x="8231" y="37535"/>
                    <a:pt x="22883" y="22883"/>
                  </a:cubicBezTo>
                  <a:cubicBezTo>
                    <a:pt x="37535" y="8231"/>
                    <a:pt x="57408" y="0"/>
                    <a:pt x="78129" y="0"/>
                  </a:cubicBezTo>
                  <a:lnTo>
                    <a:pt x="887467" y="0"/>
                  </a:lnTo>
                  <a:cubicBezTo>
                    <a:pt x="908188" y="0"/>
                    <a:pt x="928060" y="8231"/>
                    <a:pt x="942712" y="22883"/>
                  </a:cubicBezTo>
                  <a:cubicBezTo>
                    <a:pt x="957364" y="37535"/>
                    <a:pt x="965596" y="57408"/>
                    <a:pt x="965596" y="78129"/>
                  </a:cubicBezTo>
                  <a:close/>
                </a:path>
              </a:pathLst>
            </a:custGeom>
            <a:solidFill>
              <a:srgbClr val="2555B7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965596" cy="646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wip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over_time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smv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no_of_workers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targeted_productivity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205238" y="1425014"/>
            <a:ext cx="5721455" cy="8468512"/>
          </a:xfrm>
          <a:custGeom>
            <a:avLst/>
            <a:gdLst/>
            <a:ahLst/>
            <a:cxnLst/>
            <a:rect l="l" t="t" r="r" b="b"/>
            <a:pathLst>
              <a:path w="5721455" h="8468512">
                <a:moveTo>
                  <a:pt x="0" y="0"/>
                </a:moveTo>
                <a:lnTo>
                  <a:pt x="5721455" y="0"/>
                </a:lnTo>
                <a:lnTo>
                  <a:pt x="5721455" y="8468512"/>
                </a:lnTo>
                <a:lnTo>
                  <a:pt x="0" y="8468512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95250" cap="rnd">
            <a:solidFill>
              <a:srgbClr val="FFFBFA"/>
            </a:solidFill>
            <a:prstDash val="solid"/>
            <a:round/>
          </a:ln>
        </p:spPr>
      </p:sp>
      <p:grpSp>
        <p:nvGrpSpPr>
          <p:cNvPr id="19" name="Group 19"/>
          <p:cNvGrpSpPr/>
          <p:nvPr/>
        </p:nvGrpSpPr>
        <p:grpSpPr>
          <a:xfrm>
            <a:off x="5318784" y="296219"/>
            <a:ext cx="8556045" cy="940905"/>
            <a:chOff x="0" y="0"/>
            <a:chExt cx="2253444" cy="24781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253444" cy="247810"/>
            </a:xfrm>
            <a:custGeom>
              <a:avLst/>
              <a:gdLst/>
              <a:ahLst/>
              <a:cxnLst/>
              <a:rect l="l" t="t" r="r" b="b"/>
              <a:pathLst>
                <a:path w="2253444" h="247810">
                  <a:moveTo>
                    <a:pt x="15382" y="0"/>
                  </a:moveTo>
                  <a:lnTo>
                    <a:pt x="2238062" y="0"/>
                  </a:lnTo>
                  <a:cubicBezTo>
                    <a:pt x="2242141" y="0"/>
                    <a:pt x="2246054" y="1621"/>
                    <a:pt x="2248939" y="4505"/>
                  </a:cubicBezTo>
                  <a:cubicBezTo>
                    <a:pt x="2251823" y="7390"/>
                    <a:pt x="2253444" y="11303"/>
                    <a:pt x="2253444" y="15382"/>
                  </a:cubicBezTo>
                  <a:lnTo>
                    <a:pt x="2253444" y="232428"/>
                  </a:lnTo>
                  <a:cubicBezTo>
                    <a:pt x="2253444" y="240923"/>
                    <a:pt x="2246557" y="247810"/>
                    <a:pt x="2238062" y="247810"/>
                  </a:cubicBezTo>
                  <a:lnTo>
                    <a:pt x="15382" y="247810"/>
                  </a:lnTo>
                  <a:cubicBezTo>
                    <a:pt x="6887" y="247810"/>
                    <a:pt x="0" y="240923"/>
                    <a:pt x="0" y="232428"/>
                  </a:cubicBezTo>
                  <a:lnTo>
                    <a:pt x="0" y="15382"/>
                  </a:lnTo>
                  <a:cubicBezTo>
                    <a:pt x="0" y="6887"/>
                    <a:pt x="6887" y="0"/>
                    <a:pt x="15382" y="0"/>
                  </a:cubicBezTo>
                  <a:close/>
                </a:path>
              </a:pathLst>
            </a:custGeom>
            <a:solidFill>
              <a:srgbClr val="FF2D9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2253444" cy="3240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220004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MUTUAL INFORMATION - FINISHING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26236" y="-255895"/>
            <a:ext cx="16545936" cy="14841203"/>
          </a:xfrm>
          <a:custGeom>
            <a:avLst/>
            <a:gdLst/>
            <a:ahLst/>
            <a:cxnLst/>
            <a:rect l="l" t="t" r="r" b="b"/>
            <a:pathLst>
              <a:path w="16545936" h="14841203">
                <a:moveTo>
                  <a:pt x="16545935" y="14841203"/>
                </a:moveTo>
                <a:lnTo>
                  <a:pt x="0" y="14841203"/>
                </a:lnTo>
                <a:lnTo>
                  <a:pt x="0" y="0"/>
                </a:lnTo>
                <a:lnTo>
                  <a:pt x="16545935" y="0"/>
                </a:lnTo>
                <a:lnTo>
                  <a:pt x="16545935" y="14841203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0" y="-808138"/>
            <a:ext cx="14682067" cy="13169369"/>
          </a:xfrm>
          <a:custGeom>
            <a:avLst/>
            <a:gdLst/>
            <a:ahLst/>
            <a:cxnLst/>
            <a:rect l="l" t="t" r="r" b="b"/>
            <a:pathLst>
              <a:path w="14682067" h="13169369">
                <a:moveTo>
                  <a:pt x="14682067" y="13169368"/>
                </a:moveTo>
                <a:lnTo>
                  <a:pt x="0" y="13169368"/>
                </a:lnTo>
                <a:lnTo>
                  <a:pt x="0" y="0"/>
                </a:lnTo>
                <a:lnTo>
                  <a:pt x="14682067" y="0"/>
                </a:lnTo>
                <a:lnTo>
                  <a:pt x="14682067" y="13169368"/>
                </a:lnTo>
                <a:close/>
              </a:path>
            </a:pathLst>
          </a:custGeom>
          <a:blipFill>
            <a:blip r:embed="rId4">
              <a:alphaModFix amt="41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52741" y="4194993"/>
            <a:ext cx="9521008" cy="2840428"/>
            <a:chOff x="0" y="0"/>
            <a:chExt cx="2281091" cy="6805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81091" cy="680524"/>
            </a:xfrm>
            <a:custGeom>
              <a:avLst/>
              <a:gdLst/>
              <a:ahLst/>
              <a:cxnLst/>
              <a:rect l="l" t="t" r="r" b="b"/>
              <a:pathLst>
                <a:path w="2281091" h="680524">
                  <a:moveTo>
                    <a:pt x="2077891" y="0"/>
                  </a:moveTo>
                  <a:cubicBezTo>
                    <a:pt x="2190116" y="0"/>
                    <a:pt x="2281091" y="152341"/>
                    <a:pt x="2281091" y="340262"/>
                  </a:cubicBezTo>
                  <a:cubicBezTo>
                    <a:pt x="2281091" y="528184"/>
                    <a:pt x="2190116" y="680524"/>
                    <a:pt x="2077891" y="680524"/>
                  </a:cubicBezTo>
                  <a:lnTo>
                    <a:pt x="203200" y="680524"/>
                  </a:lnTo>
                  <a:cubicBezTo>
                    <a:pt x="90976" y="680524"/>
                    <a:pt x="0" y="528184"/>
                    <a:pt x="0" y="340262"/>
                  </a:cubicBezTo>
                  <a:cubicBezTo>
                    <a:pt x="0" y="1523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281091" cy="728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316085" y="0"/>
            <a:ext cx="8303755" cy="10287000"/>
          </a:xfrm>
          <a:custGeom>
            <a:avLst/>
            <a:gdLst/>
            <a:ahLst/>
            <a:cxnLst/>
            <a:rect l="l" t="t" r="r" b="b"/>
            <a:pathLst>
              <a:path w="8303755" h="10287000">
                <a:moveTo>
                  <a:pt x="0" y="0"/>
                </a:moveTo>
                <a:lnTo>
                  <a:pt x="8303755" y="0"/>
                </a:lnTo>
                <a:lnTo>
                  <a:pt x="830375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228600" cap="rnd">
            <a:solidFill>
              <a:srgbClr val="000000"/>
            </a:solidFill>
            <a:prstDash val="solid"/>
            <a:round/>
          </a:ln>
        </p:spPr>
      </p:sp>
      <p:sp>
        <p:nvSpPr>
          <p:cNvPr id="8" name="TextBox 8"/>
          <p:cNvSpPr txBox="1"/>
          <p:nvPr/>
        </p:nvSpPr>
        <p:spPr>
          <a:xfrm>
            <a:off x="3708306" y="4707973"/>
            <a:ext cx="5960150" cy="1068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7"/>
              </a:lnSpc>
              <a:spcBef>
                <a:spcPct val="0"/>
              </a:spcBef>
            </a:pPr>
            <a:r>
              <a:rPr lang="en-US" sz="6305" b="1">
                <a:solidFill>
                  <a:srgbClr val="D24D65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Model Building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65323" y="5884902"/>
            <a:ext cx="3895844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B5C2"/>
                </a:solidFill>
                <a:latin typeface="Arial Unicode"/>
                <a:ea typeface="Arial Unicode"/>
                <a:cs typeface="Arial Unicode"/>
                <a:sym typeface="Arial Unicode"/>
              </a:rPr>
              <a:t>For sewing department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089509"/>
            <a:ext cx="11096764" cy="5434303"/>
          </a:xfrm>
          <a:custGeom>
            <a:avLst/>
            <a:gdLst/>
            <a:ahLst/>
            <a:cxnLst/>
            <a:rect l="l" t="t" r="r" b="b"/>
            <a:pathLst>
              <a:path w="11096764" h="5434303">
                <a:moveTo>
                  <a:pt x="0" y="0"/>
                </a:moveTo>
                <a:lnTo>
                  <a:pt x="11096764" y="0"/>
                </a:lnTo>
                <a:lnTo>
                  <a:pt x="11096764" y="5434303"/>
                </a:lnTo>
                <a:lnTo>
                  <a:pt x="0" y="5434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7150" cap="rnd">
            <a:solidFill>
              <a:srgbClr val="000000"/>
            </a:solidFill>
            <a:prstDash val="solid"/>
            <a:round/>
          </a:ln>
        </p:spPr>
      </p:sp>
      <p:grpSp>
        <p:nvGrpSpPr>
          <p:cNvPr id="3" name="Group 3"/>
          <p:cNvGrpSpPr/>
          <p:nvPr/>
        </p:nvGrpSpPr>
        <p:grpSpPr>
          <a:xfrm>
            <a:off x="1505663" y="8000757"/>
            <a:ext cx="4291657" cy="1745110"/>
            <a:chOff x="0" y="0"/>
            <a:chExt cx="1130313" cy="4596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30313" cy="459617"/>
            </a:xfrm>
            <a:custGeom>
              <a:avLst/>
              <a:gdLst/>
              <a:ahLst/>
              <a:cxnLst/>
              <a:rect l="l" t="t" r="r" b="b"/>
              <a:pathLst>
                <a:path w="1130313" h="459617">
                  <a:moveTo>
                    <a:pt x="68550" y="0"/>
                  </a:moveTo>
                  <a:lnTo>
                    <a:pt x="1061763" y="0"/>
                  </a:lnTo>
                  <a:cubicBezTo>
                    <a:pt x="1099622" y="0"/>
                    <a:pt x="1130313" y="30691"/>
                    <a:pt x="1130313" y="68550"/>
                  </a:cubicBezTo>
                  <a:lnTo>
                    <a:pt x="1130313" y="391067"/>
                  </a:lnTo>
                  <a:cubicBezTo>
                    <a:pt x="1130313" y="428926"/>
                    <a:pt x="1099622" y="459617"/>
                    <a:pt x="1061763" y="459617"/>
                  </a:cubicBezTo>
                  <a:lnTo>
                    <a:pt x="68550" y="459617"/>
                  </a:lnTo>
                  <a:cubicBezTo>
                    <a:pt x="30691" y="459617"/>
                    <a:pt x="0" y="428926"/>
                    <a:pt x="0" y="391067"/>
                  </a:cubicBezTo>
                  <a:lnTo>
                    <a:pt x="0" y="68550"/>
                  </a:lnTo>
                  <a:cubicBezTo>
                    <a:pt x="0" y="30691"/>
                    <a:pt x="30691" y="0"/>
                    <a:pt x="68550" y="0"/>
                  </a:cubicBezTo>
                  <a:close/>
                </a:path>
              </a:pathLst>
            </a:custGeom>
            <a:solidFill>
              <a:srgbClr val="FFB5C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130313" cy="507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1"/>
                </a:lnSpc>
              </a:pPr>
              <a:r>
                <a:rPr lang="en-US" sz="3299" b="1" spc="-141">
                  <a:solidFill>
                    <a:srgbClr val="000000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BEST PREDICTIVE MODEL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8748" y="257175"/>
            <a:ext cx="13247728" cy="1543050"/>
            <a:chOff x="0" y="0"/>
            <a:chExt cx="3489113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89113" cy="406400"/>
            </a:xfrm>
            <a:custGeom>
              <a:avLst/>
              <a:gdLst/>
              <a:ahLst/>
              <a:cxnLst/>
              <a:rect l="l" t="t" r="r" b="b"/>
              <a:pathLst>
                <a:path w="3489113" h="406400">
                  <a:moveTo>
                    <a:pt x="3285913" y="0"/>
                  </a:moveTo>
                  <a:cubicBezTo>
                    <a:pt x="3398138" y="0"/>
                    <a:pt x="3489113" y="90976"/>
                    <a:pt x="3489113" y="203200"/>
                  </a:cubicBezTo>
                  <a:cubicBezTo>
                    <a:pt x="3489113" y="315424"/>
                    <a:pt x="3398138" y="406400"/>
                    <a:pt x="328591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24D6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23825"/>
              <a:ext cx="3489113" cy="530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8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604790" y="8295337"/>
            <a:ext cx="3225024" cy="1147611"/>
            <a:chOff x="0" y="0"/>
            <a:chExt cx="849389" cy="30225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49389" cy="302251"/>
            </a:xfrm>
            <a:custGeom>
              <a:avLst/>
              <a:gdLst/>
              <a:ahLst/>
              <a:cxnLst/>
              <a:rect l="l" t="t" r="r" b="b"/>
              <a:pathLst>
                <a:path w="849389" h="302251">
                  <a:moveTo>
                    <a:pt x="40810" y="0"/>
                  </a:moveTo>
                  <a:lnTo>
                    <a:pt x="808579" y="0"/>
                  </a:lnTo>
                  <a:cubicBezTo>
                    <a:pt x="831118" y="0"/>
                    <a:pt x="849389" y="18271"/>
                    <a:pt x="849389" y="40810"/>
                  </a:cubicBezTo>
                  <a:lnTo>
                    <a:pt x="849389" y="261442"/>
                  </a:lnTo>
                  <a:cubicBezTo>
                    <a:pt x="849389" y="283980"/>
                    <a:pt x="831118" y="302251"/>
                    <a:pt x="808579" y="302251"/>
                  </a:cubicBezTo>
                  <a:lnTo>
                    <a:pt x="40810" y="302251"/>
                  </a:lnTo>
                  <a:cubicBezTo>
                    <a:pt x="18271" y="302251"/>
                    <a:pt x="0" y="283980"/>
                    <a:pt x="0" y="261442"/>
                  </a:cubicBezTo>
                  <a:lnTo>
                    <a:pt x="0" y="40810"/>
                  </a:lnTo>
                  <a:cubicBezTo>
                    <a:pt x="0" y="18271"/>
                    <a:pt x="18271" y="0"/>
                    <a:pt x="40810" y="0"/>
                  </a:cubicBezTo>
                  <a:close/>
                </a:path>
              </a:pathLst>
            </a:custGeom>
            <a:solidFill>
              <a:srgbClr val="D24D6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171450"/>
              <a:ext cx="849389" cy="1308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75"/>
                </a:lnSpc>
              </a:pPr>
              <a:r>
                <a:rPr lang="en-US" sz="4199" b="1" spc="-180">
                  <a:solidFill>
                    <a:srgbClr val="000000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XGBOOST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56259" y="0"/>
            <a:ext cx="5707119" cy="10287000"/>
            <a:chOff x="0" y="0"/>
            <a:chExt cx="884182" cy="15937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84182" cy="1593725"/>
            </a:xfrm>
            <a:custGeom>
              <a:avLst/>
              <a:gdLst/>
              <a:ahLst/>
              <a:cxnLst/>
              <a:rect l="l" t="t" r="r" b="b"/>
              <a:pathLst>
                <a:path w="884182" h="1593725">
                  <a:moveTo>
                    <a:pt x="104453" y="0"/>
                  </a:moveTo>
                  <a:lnTo>
                    <a:pt x="779729" y="0"/>
                  </a:lnTo>
                  <a:cubicBezTo>
                    <a:pt x="807431" y="0"/>
                    <a:pt x="834000" y="11005"/>
                    <a:pt x="853588" y="30594"/>
                  </a:cubicBezTo>
                  <a:cubicBezTo>
                    <a:pt x="873177" y="50182"/>
                    <a:pt x="884182" y="76751"/>
                    <a:pt x="884182" y="104453"/>
                  </a:cubicBezTo>
                  <a:lnTo>
                    <a:pt x="884182" y="1489272"/>
                  </a:lnTo>
                  <a:cubicBezTo>
                    <a:pt x="884182" y="1546960"/>
                    <a:pt x="837417" y="1593725"/>
                    <a:pt x="779729" y="1593725"/>
                  </a:cubicBezTo>
                  <a:lnTo>
                    <a:pt x="104453" y="1593725"/>
                  </a:lnTo>
                  <a:cubicBezTo>
                    <a:pt x="46765" y="1593725"/>
                    <a:pt x="0" y="1546960"/>
                    <a:pt x="0" y="1489272"/>
                  </a:cubicBezTo>
                  <a:lnTo>
                    <a:pt x="0" y="104453"/>
                  </a:lnTo>
                  <a:cubicBezTo>
                    <a:pt x="0" y="46765"/>
                    <a:pt x="46765" y="0"/>
                    <a:pt x="104453" y="0"/>
                  </a:cubicBez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123825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id="14" name="Freeform 14"/>
          <p:cNvSpPr/>
          <p:nvPr/>
        </p:nvSpPr>
        <p:spPr>
          <a:xfrm>
            <a:off x="5947591" y="7843083"/>
            <a:ext cx="2917973" cy="2830434"/>
          </a:xfrm>
          <a:custGeom>
            <a:avLst/>
            <a:gdLst/>
            <a:ahLst/>
            <a:cxnLst/>
            <a:rect l="l" t="t" r="r" b="b"/>
            <a:pathLst>
              <a:path w="2917973" h="2830434">
                <a:moveTo>
                  <a:pt x="0" y="0"/>
                </a:moveTo>
                <a:lnTo>
                  <a:pt x="2917973" y="0"/>
                </a:lnTo>
                <a:lnTo>
                  <a:pt x="2917973" y="2830434"/>
                </a:lnTo>
                <a:lnTo>
                  <a:pt x="0" y="2830434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073221" y="662030"/>
            <a:ext cx="7538782" cy="655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 spc="-163">
                <a:solidFill>
                  <a:srgbClr val="FFFBFA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 SUMMARY (SEWING)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81552" y="1391983"/>
            <a:ext cx="11957481" cy="8679219"/>
            <a:chOff x="0" y="0"/>
            <a:chExt cx="662462" cy="4808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2462" cy="480842"/>
            </a:xfrm>
            <a:custGeom>
              <a:avLst/>
              <a:gdLst/>
              <a:ahLst/>
              <a:cxnLst/>
              <a:rect l="l" t="t" r="r" b="b"/>
              <a:pathLst>
                <a:path w="662462" h="480842">
                  <a:moveTo>
                    <a:pt x="47547" y="0"/>
                  </a:moveTo>
                  <a:lnTo>
                    <a:pt x="614915" y="0"/>
                  </a:lnTo>
                  <a:cubicBezTo>
                    <a:pt x="627525" y="0"/>
                    <a:pt x="639619" y="5009"/>
                    <a:pt x="648536" y="13926"/>
                  </a:cubicBezTo>
                  <a:cubicBezTo>
                    <a:pt x="657453" y="22843"/>
                    <a:pt x="662462" y="34937"/>
                    <a:pt x="662462" y="47547"/>
                  </a:cubicBezTo>
                  <a:lnTo>
                    <a:pt x="662462" y="433294"/>
                  </a:lnTo>
                  <a:cubicBezTo>
                    <a:pt x="662462" y="445905"/>
                    <a:pt x="657453" y="457999"/>
                    <a:pt x="648536" y="466915"/>
                  </a:cubicBezTo>
                  <a:cubicBezTo>
                    <a:pt x="639619" y="475832"/>
                    <a:pt x="627525" y="480842"/>
                    <a:pt x="614915" y="480842"/>
                  </a:cubicBezTo>
                  <a:lnTo>
                    <a:pt x="47547" y="480842"/>
                  </a:lnTo>
                  <a:cubicBezTo>
                    <a:pt x="34937" y="480842"/>
                    <a:pt x="22843" y="475832"/>
                    <a:pt x="13926" y="466915"/>
                  </a:cubicBezTo>
                  <a:cubicBezTo>
                    <a:pt x="5009" y="457999"/>
                    <a:pt x="0" y="445905"/>
                    <a:pt x="0" y="433294"/>
                  </a:cubicBezTo>
                  <a:lnTo>
                    <a:pt x="0" y="47547"/>
                  </a:lnTo>
                  <a:cubicBezTo>
                    <a:pt x="0" y="34937"/>
                    <a:pt x="5009" y="22843"/>
                    <a:pt x="13926" y="13926"/>
                  </a:cubicBezTo>
                  <a:cubicBezTo>
                    <a:pt x="22843" y="5009"/>
                    <a:pt x="34937" y="0"/>
                    <a:pt x="47547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662462" cy="528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10805" y="6580810"/>
            <a:ext cx="3666390" cy="915872"/>
            <a:chOff x="0" y="0"/>
            <a:chExt cx="965634" cy="2412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65634" cy="241217"/>
            </a:xfrm>
            <a:custGeom>
              <a:avLst/>
              <a:gdLst/>
              <a:ahLst/>
              <a:cxnLst/>
              <a:rect l="l" t="t" r="r" b="b"/>
              <a:pathLst>
                <a:path w="965634" h="241217">
                  <a:moveTo>
                    <a:pt x="35897" y="0"/>
                  </a:moveTo>
                  <a:lnTo>
                    <a:pt x="929737" y="0"/>
                  </a:lnTo>
                  <a:cubicBezTo>
                    <a:pt x="939257" y="0"/>
                    <a:pt x="948388" y="3782"/>
                    <a:pt x="955120" y="10514"/>
                  </a:cubicBezTo>
                  <a:cubicBezTo>
                    <a:pt x="961852" y="17246"/>
                    <a:pt x="965634" y="26377"/>
                    <a:pt x="965634" y="35897"/>
                  </a:cubicBezTo>
                  <a:lnTo>
                    <a:pt x="965634" y="205320"/>
                  </a:lnTo>
                  <a:cubicBezTo>
                    <a:pt x="965634" y="214841"/>
                    <a:pt x="961852" y="223971"/>
                    <a:pt x="955120" y="230703"/>
                  </a:cubicBezTo>
                  <a:cubicBezTo>
                    <a:pt x="948388" y="237435"/>
                    <a:pt x="939257" y="241217"/>
                    <a:pt x="929737" y="241217"/>
                  </a:cubicBezTo>
                  <a:lnTo>
                    <a:pt x="35897" y="241217"/>
                  </a:lnTo>
                  <a:cubicBezTo>
                    <a:pt x="26377" y="241217"/>
                    <a:pt x="17246" y="237435"/>
                    <a:pt x="10514" y="230703"/>
                  </a:cubicBezTo>
                  <a:cubicBezTo>
                    <a:pt x="3782" y="223971"/>
                    <a:pt x="0" y="214841"/>
                    <a:pt x="0" y="205320"/>
                  </a:cubicBezTo>
                  <a:lnTo>
                    <a:pt x="0" y="35897"/>
                  </a:lnTo>
                  <a:cubicBezTo>
                    <a:pt x="0" y="26377"/>
                    <a:pt x="3782" y="17246"/>
                    <a:pt x="10514" y="10514"/>
                  </a:cubicBezTo>
                  <a:cubicBezTo>
                    <a:pt x="17246" y="3782"/>
                    <a:pt x="26377" y="0"/>
                    <a:pt x="35897" y="0"/>
                  </a:cubicBezTo>
                  <a:close/>
                </a:path>
              </a:pathLst>
            </a:custGeom>
            <a:solidFill>
              <a:srgbClr val="D6DBE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65634" cy="288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Impotant features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497528" y="1876366"/>
            <a:ext cx="5310766" cy="7971131"/>
          </a:xfrm>
          <a:custGeom>
            <a:avLst/>
            <a:gdLst/>
            <a:ahLst/>
            <a:cxnLst/>
            <a:rect l="l" t="t" r="r" b="b"/>
            <a:pathLst>
              <a:path w="5310766" h="7971131">
                <a:moveTo>
                  <a:pt x="0" y="0"/>
                </a:moveTo>
                <a:lnTo>
                  <a:pt x="5310766" y="0"/>
                </a:lnTo>
                <a:lnTo>
                  <a:pt x="5310766" y="7971130"/>
                </a:lnTo>
                <a:lnTo>
                  <a:pt x="0" y="797113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14300" cap="rnd">
            <a:solidFill>
              <a:srgbClr val="FFFFFF"/>
            </a:solidFill>
            <a:prstDash val="solid"/>
            <a:round/>
          </a:ln>
        </p:spPr>
      </p:sp>
      <p:grpSp>
        <p:nvGrpSpPr>
          <p:cNvPr id="9" name="Group 9"/>
          <p:cNvGrpSpPr/>
          <p:nvPr/>
        </p:nvGrpSpPr>
        <p:grpSpPr>
          <a:xfrm>
            <a:off x="5515703" y="443382"/>
            <a:ext cx="6544589" cy="824776"/>
            <a:chOff x="0" y="0"/>
            <a:chExt cx="1723678" cy="2172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23678" cy="217225"/>
            </a:xfrm>
            <a:custGeom>
              <a:avLst/>
              <a:gdLst/>
              <a:ahLst/>
              <a:cxnLst/>
              <a:rect l="l" t="t" r="r" b="b"/>
              <a:pathLst>
                <a:path w="1723678" h="217225">
                  <a:moveTo>
                    <a:pt x="20110" y="0"/>
                  </a:moveTo>
                  <a:lnTo>
                    <a:pt x="1703568" y="0"/>
                  </a:lnTo>
                  <a:cubicBezTo>
                    <a:pt x="1714674" y="0"/>
                    <a:pt x="1723678" y="9004"/>
                    <a:pt x="1723678" y="20110"/>
                  </a:cubicBezTo>
                  <a:lnTo>
                    <a:pt x="1723678" y="197115"/>
                  </a:lnTo>
                  <a:cubicBezTo>
                    <a:pt x="1723678" y="208221"/>
                    <a:pt x="1714674" y="217225"/>
                    <a:pt x="1703568" y="217225"/>
                  </a:cubicBezTo>
                  <a:lnTo>
                    <a:pt x="20110" y="217225"/>
                  </a:lnTo>
                  <a:cubicBezTo>
                    <a:pt x="9004" y="217225"/>
                    <a:pt x="0" y="208221"/>
                    <a:pt x="0" y="197115"/>
                  </a:cubicBezTo>
                  <a:lnTo>
                    <a:pt x="0" y="20110"/>
                  </a:lnTo>
                  <a:cubicBezTo>
                    <a:pt x="0" y="9004"/>
                    <a:pt x="9004" y="0"/>
                    <a:pt x="2011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723678" cy="27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39"/>
                </a:lnSpc>
              </a:pPr>
              <a:r>
                <a:rPr lang="en-US" sz="3099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F</a:t>
              </a:r>
              <a:r>
                <a:rPr lang="en-US" sz="3099" b="1">
                  <a:solidFill>
                    <a:srgbClr val="220004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FEATURE IMPORTANCE</a:t>
              </a:r>
              <a:r>
                <a:rPr lang="en-US" sz="3099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F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26745" y="223058"/>
            <a:ext cx="5652332" cy="1379633"/>
            <a:chOff x="0" y="0"/>
            <a:chExt cx="1488680" cy="3633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88680" cy="363360"/>
            </a:xfrm>
            <a:custGeom>
              <a:avLst/>
              <a:gdLst/>
              <a:ahLst/>
              <a:cxnLst/>
              <a:rect l="l" t="t" r="r" b="b"/>
              <a:pathLst>
                <a:path w="1488680" h="363360">
                  <a:moveTo>
                    <a:pt x="23285" y="0"/>
                  </a:moveTo>
                  <a:lnTo>
                    <a:pt x="1465395" y="0"/>
                  </a:lnTo>
                  <a:cubicBezTo>
                    <a:pt x="1471571" y="0"/>
                    <a:pt x="1477493" y="2453"/>
                    <a:pt x="1481860" y="6820"/>
                  </a:cubicBezTo>
                  <a:cubicBezTo>
                    <a:pt x="1486227" y="11187"/>
                    <a:pt x="1488680" y="17109"/>
                    <a:pt x="1488680" y="23285"/>
                  </a:cubicBezTo>
                  <a:lnTo>
                    <a:pt x="1488680" y="340075"/>
                  </a:lnTo>
                  <a:cubicBezTo>
                    <a:pt x="1488680" y="346251"/>
                    <a:pt x="1486227" y="352173"/>
                    <a:pt x="1481860" y="356540"/>
                  </a:cubicBezTo>
                  <a:cubicBezTo>
                    <a:pt x="1477493" y="360907"/>
                    <a:pt x="1471571" y="363360"/>
                    <a:pt x="1465395" y="363360"/>
                  </a:cubicBezTo>
                  <a:lnTo>
                    <a:pt x="23285" y="363360"/>
                  </a:lnTo>
                  <a:cubicBezTo>
                    <a:pt x="17109" y="363360"/>
                    <a:pt x="11187" y="360907"/>
                    <a:pt x="6820" y="356540"/>
                  </a:cubicBezTo>
                  <a:cubicBezTo>
                    <a:pt x="2453" y="352173"/>
                    <a:pt x="0" y="346251"/>
                    <a:pt x="0" y="340075"/>
                  </a:cubicBezTo>
                  <a:lnTo>
                    <a:pt x="0" y="23285"/>
                  </a:lnTo>
                  <a:cubicBezTo>
                    <a:pt x="0" y="17109"/>
                    <a:pt x="2453" y="11187"/>
                    <a:pt x="6820" y="6820"/>
                  </a:cubicBezTo>
                  <a:cubicBezTo>
                    <a:pt x="11187" y="2453"/>
                    <a:pt x="17109" y="0"/>
                    <a:pt x="23285" y="0"/>
                  </a:cubicBezTo>
                  <a:close/>
                </a:path>
              </a:pathLst>
            </a:custGeom>
            <a:solidFill>
              <a:srgbClr val="D24D65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228600"/>
              <a:ext cx="1488680" cy="134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67"/>
                </a:lnSpc>
              </a:pPr>
              <a:r>
                <a:rPr lang="en-US" sz="5599" b="1" spc="-240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XGBOOST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8229721" y="1475142"/>
            <a:ext cx="8681037" cy="4980745"/>
          </a:xfrm>
          <a:custGeom>
            <a:avLst/>
            <a:gdLst/>
            <a:ahLst/>
            <a:cxnLst/>
            <a:rect l="l" t="t" r="r" b="b"/>
            <a:pathLst>
              <a:path w="8681037" h="4980745">
                <a:moveTo>
                  <a:pt x="0" y="0"/>
                </a:moveTo>
                <a:lnTo>
                  <a:pt x="8681037" y="0"/>
                </a:lnTo>
                <a:lnTo>
                  <a:pt x="8681037" y="4980745"/>
                </a:lnTo>
                <a:lnTo>
                  <a:pt x="0" y="4980745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grpSp>
        <p:nvGrpSpPr>
          <p:cNvPr id="16" name="Group 16"/>
          <p:cNvGrpSpPr/>
          <p:nvPr/>
        </p:nvGrpSpPr>
        <p:grpSpPr>
          <a:xfrm>
            <a:off x="7310805" y="7621605"/>
            <a:ext cx="3666390" cy="2271921"/>
            <a:chOff x="0" y="0"/>
            <a:chExt cx="965596" cy="5983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65596" cy="598393"/>
            </a:xfrm>
            <a:custGeom>
              <a:avLst/>
              <a:gdLst/>
              <a:ahLst/>
              <a:cxnLst/>
              <a:rect l="l" t="t" r="r" b="b"/>
              <a:pathLst>
                <a:path w="965596" h="598393">
                  <a:moveTo>
                    <a:pt x="965596" y="78129"/>
                  </a:moveTo>
                  <a:lnTo>
                    <a:pt x="965596" y="520264"/>
                  </a:lnTo>
                  <a:cubicBezTo>
                    <a:pt x="965596" y="563413"/>
                    <a:pt x="930616" y="598393"/>
                    <a:pt x="887467" y="598393"/>
                  </a:cubicBezTo>
                  <a:lnTo>
                    <a:pt x="78129" y="598393"/>
                  </a:lnTo>
                  <a:cubicBezTo>
                    <a:pt x="57408" y="598393"/>
                    <a:pt x="37535" y="590161"/>
                    <a:pt x="22883" y="575509"/>
                  </a:cubicBezTo>
                  <a:cubicBezTo>
                    <a:pt x="8231" y="560857"/>
                    <a:pt x="0" y="540985"/>
                    <a:pt x="0" y="520264"/>
                  </a:cubicBezTo>
                  <a:lnTo>
                    <a:pt x="0" y="78129"/>
                  </a:lnTo>
                  <a:cubicBezTo>
                    <a:pt x="0" y="57408"/>
                    <a:pt x="8231" y="37535"/>
                    <a:pt x="22883" y="22883"/>
                  </a:cubicBezTo>
                  <a:cubicBezTo>
                    <a:pt x="37535" y="8231"/>
                    <a:pt x="57408" y="0"/>
                    <a:pt x="78129" y="0"/>
                  </a:cubicBezTo>
                  <a:lnTo>
                    <a:pt x="887467" y="0"/>
                  </a:lnTo>
                  <a:cubicBezTo>
                    <a:pt x="908188" y="0"/>
                    <a:pt x="928060" y="8231"/>
                    <a:pt x="942712" y="22883"/>
                  </a:cubicBezTo>
                  <a:cubicBezTo>
                    <a:pt x="957364" y="37535"/>
                    <a:pt x="965596" y="57408"/>
                    <a:pt x="965596" y="78129"/>
                  </a:cubicBezTo>
                  <a:close/>
                </a:path>
              </a:pathLst>
            </a:custGeom>
            <a:solidFill>
              <a:srgbClr val="2555B7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965596" cy="646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incentive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smv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targeted_productivity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over_time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no_of_workers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232343" y="7621605"/>
            <a:ext cx="5678415" cy="2193930"/>
            <a:chOff x="0" y="0"/>
            <a:chExt cx="1006945" cy="38904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06945" cy="389046"/>
            </a:xfrm>
            <a:custGeom>
              <a:avLst/>
              <a:gdLst/>
              <a:ahLst/>
              <a:cxnLst/>
              <a:rect l="l" t="t" r="r" b="b"/>
              <a:pathLst>
                <a:path w="1006945" h="389046">
                  <a:moveTo>
                    <a:pt x="51127" y="0"/>
                  </a:moveTo>
                  <a:lnTo>
                    <a:pt x="955817" y="0"/>
                  </a:lnTo>
                  <a:cubicBezTo>
                    <a:pt x="984054" y="0"/>
                    <a:pt x="1006945" y="22890"/>
                    <a:pt x="1006945" y="51127"/>
                  </a:cubicBezTo>
                  <a:lnTo>
                    <a:pt x="1006945" y="337919"/>
                  </a:lnTo>
                  <a:cubicBezTo>
                    <a:pt x="1006945" y="366156"/>
                    <a:pt x="984054" y="389046"/>
                    <a:pt x="955817" y="389046"/>
                  </a:cubicBezTo>
                  <a:lnTo>
                    <a:pt x="51127" y="389046"/>
                  </a:lnTo>
                  <a:cubicBezTo>
                    <a:pt x="22890" y="389046"/>
                    <a:pt x="0" y="366156"/>
                    <a:pt x="0" y="337919"/>
                  </a:cubicBezTo>
                  <a:lnTo>
                    <a:pt x="0" y="51127"/>
                  </a:lnTo>
                  <a:cubicBezTo>
                    <a:pt x="0" y="22890"/>
                    <a:pt x="22890" y="0"/>
                    <a:pt x="51127" y="0"/>
                  </a:cubicBezTo>
                  <a:close/>
                </a:path>
              </a:pathLst>
            </a:custGeom>
            <a:solidFill>
              <a:srgbClr val="FFB5C2">
                <a:alpha val="95686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42875"/>
              <a:ext cx="1006945" cy="5319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1"/>
                </a:lnSpc>
              </a:pPr>
              <a:r>
                <a:rPr lang="en-US" sz="2208" b="1" spc="141">
                  <a:solidFill>
                    <a:srgbClr val="000000">
                      <a:alpha val="95686"/>
                    </a:srgbClr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These features were obtained from the mutual information too.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413657" y="-410373"/>
            <a:ext cx="16545936" cy="14841203"/>
          </a:xfrm>
          <a:custGeom>
            <a:avLst/>
            <a:gdLst/>
            <a:ahLst/>
            <a:cxnLst/>
            <a:rect l="l" t="t" r="r" b="b"/>
            <a:pathLst>
              <a:path w="16545936" h="14841203">
                <a:moveTo>
                  <a:pt x="16545936" y="14841203"/>
                </a:moveTo>
                <a:lnTo>
                  <a:pt x="0" y="14841203"/>
                </a:lnTo>
                <a:lnTo>
                  <a:pt x="0" y="0"/>
                </a:lnTo>
                <a:lnTo>
                  <a:pt x="16545936" y="0"/>
                </a:lnTo>
                <a:lnTo>
                  <a:pt x="16545936" y="14841203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33126" y="616312"/>
            <a:ext cx="6544589" cy="824776"/>
            <a:chOff x="0" y="0"/>
            <a:chExt cx="1723678" cy="2172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23678" cy="217225"/>
            </a:xfrm>
            <a:custGeom>
              <a:avLst/>
              <a:gdLst/>
              <a:ahLst/>
              <a:cxnLst/>
              <a:rect l="l" t="t" r="r" b="b"/>
              <a:pathLst>
                <a:path w="1723678" h="217225">
                  <a:moveTo>
                    <a:pt x="20110" y="0"/>
                  </a:moveTo>
                  <a:lnTo>
                    <a:pt x="1703568" y="0"/>
                  </a:lnTo>
                  <a:cubicBezTo>
                    <a:pt x="1714674" y="0"/>
                    <a:pt x="1723678" y="9004"/>
                    <a:pt x="1723678" y="20110"/>
                  </a:cubicBezTo>
                  <a:lnTo>
                    <a:pt x="1723678" y="197115"/>
                  </a:lnTo>
                  <a:cubicBezTo>
                    <a:pt x="1723678" y="208221"/>
                    <a:pt x="1714674" y="217225"/>
                    <a:pt x="1703568" y="217225"/>
                  </a:cubicBezTo>
                  <a:lnTo>
                    <a:pt x="20110" y="217225"/>
                  </a:lnTo>
                  <a:cubicBezTo>
                    <a:pt x="9004" y="217225"/>
                    <a:pt x="0" y="208221"/>
                    <a:pt x="0" y="197115"/>
                  </a:cubicBezTo>
                  <a:lnTo>
                    <a:pt x="0" y="20110"/>
                  </a:lnTo>
                  <a:cubicBezTo>
                    <a:pt x="0" y="9004"/>
                    <a:pt x="9004" y="0"/>
                    <a:pt x="20110" y="0"/>
                  </a:cubicBezTo>
                  <a:close/>
                </a:path>
              </a:pathLst>
            </a:custGeom>
            <a:solidFill>
              <a:srgbClr val="FF2D9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723678" cy="27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39"/>
                </a:lnSpc>
              </a:pPr>
              <a:r>
                <a:rPr lang="en-US" sz="3099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Partial Dependency Plots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211096" y="2527561"/>
            <a:ext cx="9710274" cy="6098861"/>
          </a:xfrm>
          <a:custGeom>
            <a:avLst/>
            <a:gdLst/>
            <a:ahLst/>
            <a:cxnLst/>
            <a:rect l="l" t="t" r="r" b="b"/>
            <a:pathLst>
              <a:path w="9710274" h="6098861">
                <a:moveTo>
                  <a:pt x="0" y="0"/>
                </a:moveTo>
                <a:lnTo>
                  <a:pt x="9710275" y="0"/>
                </a:lnTo>
                <a:lnTo>
                  <a:pt x="9710275" y="6098861"/>
                </a:lnTo>
                <a:lnTo>
                  <a:pt x="0" y="6098861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7150" cap="rnd">
            <a:solidFill>
              <a:srgbClr val="FFFFFF"/>
            </a:solidFill>
            <a:prstDash val="solid"/>
            <a:round/>
          </a:ln>
        </p:spPr>
      </p:sp>
      <p:grpSp>
        <p:nvGrpSpPr>
          <p:cNvPr id="7" name="Group 7"/>
          <p:cNvGrpSpPr/>
          <p:nvPr/>
        </p:nvGrpSpPr>
        <p:grpSpPr>
          <a:xfrm>
            <a:off x="9921371" y="930103"/>
            <a:ext cx="8132401" cy="8426795"/>
            <a:chOff x="0" y="0"/>
            <a:chExt cx="10843201" cy="11235727"/>
          </a:xfrm>
        </p:grpSpPr>
        <p:sp>
          <p:nvSpPr>
            <p:cNvPr id="8" name="Freeform 8"/>
            <p:cNvSpPr/>
            <p:nvPr/>
          </p:nvSpPr>
          <p:spPr>
            <a:xfrm>
              <a:off x="805253" y="427707"/>
              <a:ext cx="10037948" cy="10808020"/>
            </a:xfrm>
            <a:custGeom>
              <a:avLst/>
              <a:gdLst/>
              <a:ahLst/>
              <a:cxnLst/>
              <a:rect l="l" t="t" r="r" b="b"/>
              <a:pathLst>
                <a:path w="10037948" h="10808020">
                  <a:moveTo>
                    <a:pt x="0" y="0"/>
                  </a:moveTo>
                  <a:lnTo>
                    <a:pt x="10037948" y="0"/>
                  </a:lnTo>
                  <a:lnTo>
                    <a:pt x="10037948" y="10808020"/>
                  </a:lnTo>
                  <a:lnTo>
                    <a:pt x="0" y="108080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9" name="Group 9"/>
            <p:cNvGrpSpPr/>
            <p:nvPr/>
          </p:nvGrpSpPr>
          <p:grpSpPr>
            <a:xfrm rot="1953026">
              <a:off x="460509" y="690983"/>
              <a:ext cx="3326659" cy="2596840"/>
              <a:chOff x="0" y="0"/>
              <a:chExt cx="657118" cy="51295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57118" cy="512956"/>
              </a:xfrm>
              <a:custGeom>
                <a:avLst/>
                <a:gdLst/>
                <a:ahLst/>
                <a:cxnLst/>
                <a:rect l="l" t="t" r="r" b="b"/>
                <a:pathLst>
                  <a:path w="657118" h="512956">
                    <a:moveTo>
                      <a:pt x="52751" y="0"/>
                    </a:moveTo>
                    <a:lnTo>
                      <a:pt x="604367" y="0"/>
                    </a:lnTo>
                    <a:cubicBezTo>
                      <a:pt x="618358" y="0"/>
                      <a:pt x="631775" y="5558"/>
                      <a:pt x="641668" y="15450"/>
                    </a:cubicBezTo>
                    <a:cubicBezTo>
                      <a:pt x="651560" y="25343"/>
                      <a:pt x="657118" y="38760"/>
                      <a:pt x="657118" y="52751"/>
                    </a:cubicBezTo>
                    <a:lnTo>
                      <a:pt x="657118" y="460205"/>
                    </a:lnTo>
                    <a:cubicBezTo>
                      <a:pt x="657118" y="489339"/>
                      <a:pt x="633501" y="512956"/>
                      <a:pt x="604367" y="512956"/>
                    </a:cubicBezTo>
                    <a:lnTo>
                      <a:pt x="52751" y="512956"/>
                    </a:lnTo>
                    <a:cubicBezTo>
                      <a:pt x="38760" y="512956"/>
                      <a:pt x="25343" y="507398"/>
                      <a:pt x="15450" y="497506"/>
                    </a:cubicBezTo>
                    <a:cubicBezTo>
                      <a:pt x="5558" y="487613"/>
                      <a:pt x="0" y="474196"/>
                      <a:pt x="0" y="460205"/>
                    </a:cubicBezTo>
                    <a:lnTo>
                      <a:pt x="0" y="52751"/>
                    </a:lnTo>
                    <a:cubicBezTo>
                      <a:pt x="0" y="38760"/>
                      <a:pt x="5558" y="25343"/>
                      <a:pt x="15450" y="15450"/>
                    </a:cubicBezTo>
                    <a:cubicBezTo>
                      <a:pt x="25343" y="5558"/>
                      <a:pt x="38760" y="0"/>
                      <a:pt x="52751" y="0"/>
                    </a:cubicBezTo>
                    <a:close/>
                  </a:path>
                </a:pathLst>
              </a:custGeom>
              <a:solidFill>
                <a:srgbClr val="FF2D98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57150"/>
                <a:ext cx="657118" cy="5701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339"/>
                  </a:lnSpc>
                </a:pPr>
                <a:r>
                  <a:rPr lang="en-US" sz="3099" b="1">
                    <a:solidFill>
                      <a:srgbClr val="FFFFFF"/>
                    </a:solidFill>
                    <a:latin typeface="Arial Unicode Bold"/>
                    <a:ea typeface="Arial Unicode Bold"/>
                    <a:cs typeface="Arial Unicode Bold"/>
                    <a:sym typeface="Arial Unicode Bold"/>
                  </a:rPr>
                  <a:t> Positive Impact on Productivity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1953026">
              <a:off x="540310" y="4285964"/>
              <a:ext cx="3254461" cy="2547502"/>
              <a:chOff x="0" y="0"/>
              <a:chExt cx="642857" cy="50321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42857" cy="503210"/>
              </a:xfrm>
              <a:custGeom>
                <a:avLst/>
                <a:gdLst/>
                <a:ahLst/>
                <a:cxnLst/>
                <a:rect l="l" t="t" r="r" b="b"/>
                <a:pathLst>
                  <a:path w="642857" h="503210">
                    <a:moveTo>
                      <a:pt x="53921" y="0"/>
                    </a:moveTo>
                    <a:lnTo>
                      <a:pt x="588936" y="0"/>
                    </a:lnTo>
                    <a:cubicBezTo>
                      <a:pt x="618715" y="0"/>
                      <a:pt x="642857" y="24141"/>
                      <a:pt x="642857" y="53921"/>
                    </a:cubicBezTo>
                    <a:lnTo>
                      <a:pt x="642857" y="449289"/>
                    </a:lnTo>
                    <a:cubicBezTo>
                      <a:pt x="642857" y="479069"/>
                      <a:pt x="618715" y="503210"/>
                      <a:pt x="588936" y="503210"/>
                    </a:cubicBezTo>
                    <a:lnTo>
                      <a:pt x="53921" y="503210"/>
                    </a:lnTo>
                    <a:cubicBezTo>
                      <a:pt x="24141" y="503210"/>
                      <a:pt x="0" y="479069"/>
                      <a:pt x="0" y="449289"/>
                    </a:cubicBezTo>
                    <a:lnTo>
                      <a:pt x="0" y="53921"/>
                    </a:lnTo>
                    <a:cubicBezTo>
                      <a:pt x="0" y="24141"/>
                      <a:pt x="24141" y="0"/>
                      <a:pt x="53921" y="0"/>
                    </a:cubicBezTo>
                    <a:close/>
                  </a:path>
                </a:pathLst>
              </a:custGeom>
              <a:solidFill>
                <a:srgbClr val="FF2D98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57150"/>
                <a:ext cx="642857" cy="5603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339"/>
                  </a:lnSpc>
                </a:pPr>
                <a:r>
                  <a:rPr lang="en-US" sz="3099" b="1">
                    <a:solidFill>
                      <a:srgbClr val="FFFFFF"/>
                    </a:solidFill>
                    <a:latin typeface="Arial Unicode Bold"/>
                    <a:ea typeface="Arial Unicode Bold"/>
                    <a:cs typeface="Arial Unicode Bold"/>
                    <a:sym typeface="Arial Unicode Bold"/>
                  </a:rPr>
                  <a:t> Negative Impact on Productivity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1953026">
              <a:off x="419419" y="7977496"/>
              <a:ext cx="3385656" cy="2547502"/>
              <a:chOff x="0" y="0"/>
              <a:chExt cx="668772" cy="50321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68772" cy="503210"/>
              </a:xfrm>
              <a:custGeom>
                <a:avLst/>
                <a:gdLst/>
                <a:ahLst/>
                <a:cxnLst/>
                <a:rect l="l" t="t" r="r" b="b"/>
                <a:pathLst>
                  <a:path w="668772" h="503210">
                    <a:moveTo>
                      <a:pt x="51831" y="0"/>
                    </a:moveTo>
                    <a:lnTo>
                      <a:pt x="616940" y="0"/>
                    </a:lnTo>
                    <a:cubicBezTo>
                      <a:pt x="645566" y="0"/>
                      <a:pt x="668772" y="23206"/>
                      <a:pt x="668772" y="51831"/>
                    </a:cubicBezTo>
                    <a:lnTo>
                      <a:pt x="668772" y="451379"/>
                    </a:lnTo>
                    <a:cubicBezTo>
                      <a:pt x="668772" y="465125"/>
                      <a:pt x="663311" y="478309"/>
                      <a:pt x="653591" y="488029"/>
                    </a:cubicBezTo>
                    <a:cubicBezTo>
                      <a:pt x="643870" y="497749"/>
                      <a:pt x="630687" y="503210"/>
                      <a:pt x="616940" y="503210"/>
                    </a:cubicBezTo>
                    <a:lnTo>
                      <a:pt x="51831" y="503210"/>
                    </a:lnTo>
                    <a:cubicBezTo>
                      <a:pt x="38085" y="503210"/>
                      <a:pt x="24901" y="497749"/>
                      <a:pt x="15181" y="488029"/>
                    </a:cubicBezTo>
                    <a:cubicBezTo>
                      <a:pt x="5461" y="478309"/>
                      <a:pt x="0" y="465125"/>
                      <a:pt x="0" y="451379"/>
                    </a:cubicBezTo>
                    <a:lnTo>
                      <a:pt x="0" y="51831"/>
                    </a:lnTo>
                    <a:cubicBezTo>
                      <a:pt x="0" y="38085"/>
                      <a:pt x="5461" y="24901"/>
                      <a:pt x="15181" y="15181"/>
                    </a:cubicBezTo>
                    <a:cubicBezTo>
                      <a:pt x="24901" y="5461"/>
                      <a:pt x="38085" y="0"/>
                      <a:pt x="51831" y="0"/>
                    </a:cubicBezTo>
                    <a:close/>
                  </a:path>
                </a:pathLst>
              </a:custGeom>
              <a:solidFill>
                <a:srgbClr val="FF2D98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57150"/>
                <a:ext cx="668772" cy="5603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339"/>
                  </a:lnSpc>
                </a:pPr>
                <a:r>
                  <a:rPr lang="en-US" sz="3099" b="1">
                    <a:solidFill>
                      <a:srgbClr val="FFFFFF"/>
                    </a:solidFill>
                    <a:latin typeface="Arial Unicode Bold"/>
                    <a:ea typeface="Arial Unicode Bold"/>
                    <a:cs typeface="Arial Unicode Bold"/>
                    <a:sym typeface="Arial Unicode Bold"/>
                  </a:rPr>
                  <a:t> Minimal  Impact on Productivity</a:t>
                </a:r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13212604" y="1944204"/>
            <a:ext cx="4046696" cy="1589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Targeted Productivity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Incentive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No. of Workers.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412635" y="4629588"/>
            <a:ext cx="1646634" cy="184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sz="2651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SMV</a:t>
            </a:r>
          </a:p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sz="2651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Over Time</a:t>
            </a:r>
          </a:p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sz="2651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Idle Time</a:t>
            </a:r>
          </a:p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sz="2651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Idle Men.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212604" y="7702094"/>
            <a:ext cx="3827621" cy="1064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WIP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No. of Style Change.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946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073677" y="-795891"/>
            <a:ext cx="16545936" cy="14841203"/>
          </a:xfrm>
          <a:custGeom>
            <a:avLst/>
            <a:gdLst/>
            <a:ahLst/>
            <a:cxnLst/>
            <a:rect l="l" t="t" r="r" b="b"/>
            <a:pathLst>
              <a:path w="16545936" h="14841203">
                <a:moveTo>
                  <a:pt x="16545935" y="14841203"/>
                </a:moveTo>
                <a:lnTo>
                  <a:pt x="0" y="14841203"/>
                </a:lnTo>
                <a:lnTo>
                  <a:pt x="0" y="0"/>
                </a:lnTo>
                <a:lnTo>
                  <a:pt x="16545935" y="0"/>
                </a:lnTo>
                <a:lnTo>
                  <a:pt x="16545935" y="14841203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34401" y="708839"/>
            <a:ext cx="13938465" cy="8689389"/>
          </a:xfrm>
          <a:custGeom>
            <a:avLst/>
            <a:gdLst/>
            <a:ahLst/>
            <a:cxnLst/>
            <a:rect l="l" t="t" r="r" b="b"/>
            <a:pathLst>
              <a:path w="13938465" h="8689389">
                <a:moveTo>
                  <a:pt x="0" y="0"/>
                </a:moveTo>
                <a:lnTo>
                  <a:pt x="13938465" y="0"/>
                </a:lnTo>
                <a:lnTo>
                  <a:pt x="13938465" y="8689389"/>
                </a:lnTo>
                <a:lnTo>
                  <a:pt x="0" y="8689389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66675" cap="rnd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469242" y="-280425"/>
            <a:ext cx="16545936" cy="14841203"/>
          </a:xfrm>
          <a:custGeom>
            <a:avLst/>
            <a:gdLst/>
            <a:ahLst/>
            <a:cxnLst/>
            <a:rect l="l" t="t" r="r" b="b"/>
            <a:pathLst>
              <a:path w="16545936" h="14841203">
                <a:moveTo>
                  <a:pt x="16545935" y="14841203"/>
                </a:moveTo>
                <a:lnTo>
                  <a:pt x="0" y="14841203"/>
                </a:lnTo>
                <a:lnTo>
                  <a:pt x="0" y="0"/>
                </a:lnTo>
                <a:lnTo>
                  <a:pt x="16545935" y="0"/>
                </a:lnTo>
                <a:lnTo>
                  <a:pt x="16545935" y="14841203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290425" y="553594"/>
            <a:ext cx="16545936" cy="14841203"/>
          </a:xfrm>
          <a:custGeom>
            <a:avLst/>
            <a:gdLst/>
            <a:ahLst/>
            <a:cxnLst/>
            <a:rect l="l" t="t" r="r" b="b"/>
            <a:pathLst>
              <a:path w="16545936" h="14841203">
                <a:moveTo>
                  <a:pt x="16545935" y="14841203"/>
                </a:moveTo>
                <a:lnTo>
                  <a:pt x="0" y="14841203"/>
                </a:lnTo>
                <a:lnTo>
                  <a:pt x="0" y="0"/>
                </a:lnTo>
                <a:lnTo>
                  <a:pt x="16545935" y="0"/>
                </a:lnTo>
                <a:lnTo>
                  <a:pt x="16545935" y="14841203"/>
                </a:lnTo>
                <a:close/>
              </a:path>
            </a:pathLst>
          </a:custGeom>
          <a:blipFill>
            <a:blip r:embed="rId4">
              <a:alphaModFix amt="41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100884" y="4194993"/>
            <a:ext cx="9072865" cy="2673760"/>
            <a:chOff x="0" y="0"/>
            <a:chExt cx="2389561" cy="704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89561" cy="704200"/>
            </a:xfrm>
            <a:custGeom>
              <a:avLst/>
              <a:gdLst/>
              <a:ahLst/>
              <a:cxnLst/>
              <a:rect l="l" t="t" r="r" b="b"/>
              <a:pathLst>
                <a:path w="2389561" h="704200">
                  <a:moveTo>
                    <a:pt x="2186361" y="0"/>
                  </a:moveTo>
                  <a:cubicBezTo>
                    <a:pt x="2298585" y="0"/>
                    <a:pt x="2389561" y="157641"/>
                    <a:pt x="2389561" y="352100"/>
                  </a:cubicBezTo>
                  <a:cubicBezTo>
                    <a:pt x="2389561" y="546560"/>
                    <a:pt x="2298585" y="704200"/>
                    <a:pt x="2186361" y="704200"/>
                  </a:cubicBezTo>
                  <a:lnTo>
                    <a:pt x="203200" y="704200"/>
                  </a:lnTo>
                  <a:cubicBezTo>
                    <a:pt x="90976" y="704200"/>
                    <a:pt x="0" y="546560"/>
                    <a:pt x="0" y="352100"/>
                  </a:cubicBezTo>
                  <a:cubicBezTo>
                    <a:pt x="0" y="1576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389561" cy="75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504128" y="-83134"/>
            <a:ext cx="8602411" cy="10463461"/>
          </a:xfrm>
          <a:custGeom>
            <a:avLst/>
            <a:gdLst/>
            <a:ahLst/>
            <a:cxnLst/>
            <a:rect l="l" t="t" r="r" b="b"/>
            <a:pathLst>
              <a:path w="8602411" h="10463461">
                <a:moveTo>
                  <a:pt x="0" y="0"/>
                </a:moveTo>
                <a:lnTo>
                  <a:pt x="8602412" y="0"/>
                </a:lnTo>
                <a:lnTo>
                  <a:pt x="8602412" y="10463461"/>
                </a:lnTo>
                <a:lnTo>
                  <a:pt x="0" y="10463461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228600" cap="rnd">
            <a:solidFill>
              <a:srgbClr val="000000"/>
            </a:solidFill>
            <a:prstDash val="solid"/>
            <a:round/>
          </a:ln>
        </p:spPr>
      </p:sp>
      <p:sp>
        <p:nvSpPr>
          <p:cNvPr id="8" name="TextBox 8"/>
          <p:cNvSpPr txBox="1"/>
          <p:nvPr/>
        </p:nvSpPr>
        <p:spPr>
          <a:xfrm>
            <a:off x="3708306" y="4707973"/>
            <a:ext cx="5960150" cy="1068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7"/>
              </a:lnSpc>
              <a:spcBef>
                <a:spcPct val="0"/>
              </a:spcBef>
            </a:pPr>
            <a:r>
              <a:rPr lang="en-US" sz="6305" b="1">
                <a:solidFill>
                  <a:srgbClr val="D24D65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Model Building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34553" y="5889084"/>
            <a:ext cx="4107656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B5C2"/>
                </a:solidFill>
                <a:latin typeface="Arial Unicode"/>
                <a:ea typeface="Arial Unicode"/>
                <a:cs typeface="Arial Unicode"/>
                <a:sym typeface="Arial Unicode"/>
              </a:rPr>
              <a:t>For finishing department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5663" y="8000757"/>
            <a:ext cx="4291657" cy="1745110"/>
            <a:chOff x="0" y="0"/>
            <a:chExt cx="1130313" cy="4596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30313" cy="459617"/>
            </a:xfrm>
            <a:custGeom>
              <a:avLst/>
              <a:gdLst/>
              <a:ahLst/>
              <a:cxnLst/>
              <a:rect l="l" t="t" r="r" b="b"/>
              <a:pathLst>
                <a:path w="1130313" h="459617">
                  <a:moveTo>
                    <a:pt x="68550" y="0"/>
                  </a:moveTo>
                  <a:lnTo>
                    <a:pt x="1061763" y="0"/>
                  </a:lnTo>
                  <a:cubicBezTo>
                    <a:pt x="1099622" y="0"/>
                    <a:pt x="1130313" y="30691"/>
                    <a:pt x="1130313" y="68550"/>
                  </a:cubicBezTo>
                  <a:lnTo>
                    <a:pt x="1130313" y="391067"/>
                  </a:lnTo>
                  <a:cubicBezTo>
                    <a:pt x="1130313" y="428926"/>
                    <a:pt x="1099622" y="459617"/>
                    <a:pt x="1061763" y="459617"/>
                  </a:cubicBezTo>
                  <a:lnTo>
                    <a:pt x="68550" y="459617"/>
                  </a:lnTo>
                  <a:cubicBezTo>
                    <a:pt x="30691" y="459617"/>
                    <a:pt x="0" y="428926"/>
                    <a:pt x="0" y="391067"/>
                  </a:cubicBezTo>
                  <a:lnTo>
                    <a:pt x="0" y="68550"/>
                  </a:lnTo>
                  <a:cubicBezTo>
                    <a:pt x="0" y="30691"/>
                    <a:pt x="30691" y="0"/>
                    <a:pt x="68550" y="0"/>
                  </a:cubicBezTo>
                  <a:close/>
                </a:path>
              </a:pathLst>
            </a:custGeom>
            <a:solidFill>
              <a:srgbClr val="FFB5C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30313" cy="507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21"/>
                </a:lnSpc>
              </a:pPr>
              <a:r>
                <a:rPr lang="en-US" sz="3299" b="1" spc="-141">
                  <a:solidFill>
                    <a:srgbClr val="000000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BEST PREDICTIVE MODEL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8748" y="257175"/>
            <a:ext cx="13247728" cy="1543050"/>
            <a:chOff x="0" y="0"/>
            <a:chExt cx="3489113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89113" cy="406400"/>
            </a:xfrm>
            <a:custGeom>
              <a:avLst/>
              <a:gdLst/>
              <a:ahLst/>
              <a:cxnLst/>
              <a:rect l="l" t="t" r="r" b="b"/>
              <a:pathLst>
                <a:path w="3489113" h="406400">
                  <a:moveTo>
                    <a:pt x="3285913" y="0"/>
                  </a:moveTo>
                  <a:cubicBezTo>
                    <a:pt x="3398138" y="0"/>
                    <a:pt x="3489113" y="90976"/>
                    <a:pt x="3489113" y="203200"/>
                  </a:cubicBezTo>
                  <a:cubicBezTo>
                    <a:pt x="3489113" y="315424"/>
                    <a:pt x="3398138" y="406400"/>
                    <a:pt x="328591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63E4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3489113" cy="530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8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604790" y="8295337"/>
            <a:ext cx="3516197" cy="1673476"/>
            <a:chOff x="0" y="0"/>
            <a:chExt cx="926076" cy="44075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26076" cy="440751"/>
            </a:xfrm>
            <a:custGeom>
              <a:avLst/>
              <a:gdLst/>
              <a:ahLst/>
              <a:cxnLst/>
              <a:rect l="l" t="t" r="r" b="b"/>
              <a:pathLst>
                <a:path w="926076" h="440751">
                  <a:moveTo>
                    <a:pt x="37430" y="0"/>
                  </a:moveTo>
                  <a:lnTo>
                    <a:pt x="888646" y="0"/>
                  </a:lnTo>
                  <a:cubicBezTo>
                    <a:pt x="898573" y="0"/>
                    <a:pt x="908094" y="3944"/>
                    <a:pt x="915113" y="10963"/>
                  </a:cubicBezTo>
                  <a:cubicBezTo>
                    <a:pt x="922133" y="17983"/>
                    <a:pt x="926076" y="27503"/>
                    <a:pt x="926076" y="37430"/>
                  </a:cubicBezTo>
                  <a:lnTo>
                    <a:pt x="926076" y="403320"/>
                  </a:lnTo>
                  <a:cubicBezTo>
                    <a:pt x="926076" y="423993"/>
                    <a:pt x="909318" y="440751"/>
                    <a:pt x="888646" y="440751"/>
                  </a:cubicBezTo>
                  <a:lnTo>
                    <a:pt x="37430" y="440751"/>
                  </a:lnTo>
                  <a:cubicBezTo>
                    <a:pt x="27503" y="440751"/>
                    <a:pt x="17983" y="436807"/>
                    <a:pt x="10963" y="429788"/>
                  </a:cubicBezTo>
                  <a:cubicBezTo>
                    <a:pt x="3944" y="422768"/>
                    <a:pt x="0" y="413248"/>
                    <a:pt x="0" y="403320"/>
                  </a:cubicBezTo>
                  <a:lnTo>
                    <a:pt x="0" y="37430"/>
                  </a:lnTo>
                  <a:cubicBezTo>
                    <a:pt x="0" y="27503"/>
                    <a:pt x="3944" y="17983"/>
                    <a:pt x="10963" y="10963"/>
                  </a:cubicBezTo>
                  <a:cubicBezTo>
                    <a:pt x="17983" y="3944"/>
                    <a:pt x="27503" y="0"/>
                    <a:pt x="37430" y="0"/>
                  </a:cubicBezTo>
                  <a:close/>
                </a:path>
              </a:pathLst>
            </a:custGeom>
            <a:solidFill>
              <a:srgbClr val="D63E4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926076" cy="4693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33"/>
                </a:lnSpc>
              </a:pPr>
              <a:r>
                <a:rPr lang="en-US" sz="4199" b="1" spc="-180">
                  <a:solidFill>
                    <a:srgbClr val="000000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RANDOM</a:t>
              </a:r>
            </a:p>
            <a:p>
              <a:pPr algn="ctr">
                <a:lnSpc>
                  <a:spcPts val="5333"/>
                </a:lnSpc>
              </a:pPr>
              <a:r>
                <a:rPr lang="en-US" sz="4199" b="1" spc="-180">
                  <a:solidFill>
                    <a:srgbClr val="000000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FOREST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5947591" y="7843083"/>
            <a:ext cx="2917973" cy="2830434"/>
          </a:xfrm>
          <a:custGeom>
            <a:avLst/>
            <a:gdLst/>
            <a:ahLst/>
            <a:cxnLst/>
            <a:rect l="l" t="t" r="r" b="b"/>
            <a:pathLst>
              <a:path w="2917973" h="2830434">
                <a:moveTo>
                  <a:pt x="0" y="0"/>
                </a:moveTo>
                <a:lnTo>
                  <a:pt x="2917973" y="0"/>
                </a:lnTo>
                <a:lnTo>
                  <a:pt x="2917973" y="2830434"/>
                </a:lnTo>
                <a:lnTo>
                  <a:pt x="0" y="2830434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247589" y="657861"/>
            <a:ext cx="8115300" cy="655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sz="3800" spc="-163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 SUMMARY (FINISHING)</a:t>
            </a:r>
          </a:p>
        </p:txBody>
      </p:sp>
      <p:sp>
        <p:nvSpPr>
          <p:cNvPr id="13" name="Freeform 13"/>
          <p:cNvSpPr/>
          <p:nvPr/>
        </p:nvSpPr>
        <p:spPr>
          <a:xfrm>
            <a:off x="12565033" y="0"/>
            <a:ext cx="5907011" cy="10287000"/>
          </a:xfrm>
          <a:custGeom>
            <a:avLst/>
            <a:gdLst/>
            <a:ahLst/>
            <a:cxnLst/>
            <a:rect l="l" t="t" r="r" b="b"/>
            <a:pathLst>
              <a:path w="5907011" h="10287000">
                <a:moveTo>
                  <a:pt x="0" y="0"/>
                </a:moveTo>
                <a:lnTo>
                  <a:pt x="5907012" y="0"/>
                </a:lnTo>
                <a:lnTo>
                  <a:pt x="590701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14300" cap="rnd">
            <a:solidFill>
              <a:srgbClr val="000000"/>
            </a:solidFill>
            <a:prstDash val="solid"/>
            <a:round/>
          </a:ln>
        </p:spPr>
      </p:sp>
      <p:sp>
        <p:nvSpPr>
          <p:cNvPr id="14" name="Freeform 14"/>
          <p:cNvSpPr/>
          <p:nvPr/>
        </p:nvSpPr>
        <p:spPr>
          <a:xfrm>
            <a:off x="664069" y="2013989"/>
            <a:ext cx="11456918" cy="5615330"/>
          </a:xfrm>
          <a:custGeom>
            <a:avLst/>
            <a:gdLst/>
            <a:ahLst/>
            <a:cxnLst/>
            <a:rect l="l" t="t" r="r" b="b"/>
            <a:pathLst>
              <a:path w="11456918" h="5615330">
                <a:moveTo>
                  <a:pt x="0" y="0"/>
                </a:moveTo>
                <a:lnTo>
                  <a:pt x="11456918" y="0"/>
                </a:lnTo>
                <a:lnTo>
                  <a:pt x="11456918" y="5615330"/>
                </a:lnTo>
                <a:lnTo>
                  <a:pt x="0" y="56153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47625" cap="rnd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86596" y="1475142"/>
            <a:ext cx="11842912" cy="8596061"/>
            <a:chOff x="0" y="0"/>
            <a:chExt cx="662462" cy="4808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2462" cy="480842"/>
            </a:xfrm>
            <a:custGeom>
              <a:avLst/>
              <a:gdLst/>
              <a:ahLst/>
              <a:cxnLst/>
              <a:rect l="l" t="t" r="r" b="b"/>
              <a:pathLst>
                <a:path w="662462" h="480842">
                  <a:moveTo>
                    <a:pt x="48007" y="0"/>
                  </a:moveTo>
                  <a:lnTo>
                    <a:pt x="614455" y="0"/>
                  </a:lnTo>
                  <a:cubicBezTo>
                    <a:pt x="640969" y="0"/>
                    <a:pt x="662462" y="21494"/>
                    <a:pt x="662462" y="48007"/>
                  </a:cubicBezTo>
                  <a:lnTo>
                    <a:pt x="662462" y="432834"/>
                  </a:lnTo>
                  <a:cubicBezTo>
                    <a:pt x="662462" y="459348"/>
                    <a:pt x="640969" y="480842"/>
                    <a:pt x="614455" y="480842"/>
                  </a:cubicBezTo>
                  <a:lnTo>
                    <a:pt x="48007" y="480842"/>
                  </a:lnTo>
                  <a:cubicBezTo>
                    <a:pt x="35275" y="480842"/>
                    <a:pt x="23064" y="475784"/>
                    <a:pt x="14061" y="466781"/>
                  </a:cubicBezTo>
                  <a:cubicBezTo>
                    <a:pt x="5058" y="457778"/>
                    <a:pt x="0" y="445567"/>
                    <a:pt x="0" y="432834"/>
                  </a:cubicBezTo>
                  <a:lnTo>
                    <a:pt x="0" y="48007"/>
                  </a:lnTo>
                  <a:cubicBezTo>
                    <a:pt x="0" y="21494"/>
                    <a:pt x="21494" y="0"/>
                    <a:pt x="48007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662462" cy="528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10805" y="6580810"/>
            <a:ext cx="3666390" cy="915872"/>
            <a:chOff x="0" y="0"/>
            <a:chExt cx="965634" cy="2412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65634" cy="241217"/>
            </a:xfrm>
            <a:custGeom>
              <a:avLst/>
              <a:gdLst/>
              <a:ahLst/>
              <a:cxnLst/>
              <a:rect l="l" t="t" r="r" b="b"/>
              <a:pathLst>
                <a:path w="965634" h="241217">
                  <a:moveTo>
                    <a:pt x="35897" y="0"/>
                  </a:moveTo>
                  <a:lnTo>
                    <a:pt x="929737" y="0"/>
                  </a:lnTo>
                  <a:cubicBezTo>
                    <a:pt x="939257" y="0"/>
                    <a:pt x="948388" y="3782"/>
                    <a:pt x="955120" y="10514"/>
                  </a:cubicBezTo>
                  <a:cubicBezTo>
                    <a:pt x="961852" y="17246"/>
                    <a:pt x="965634" y="26377"/>
                    <a:pt x="965634" y="35897"/>
                  </a:cubicBezTo>
                  <a:lnTo>
                    <a:pt x="965634" y="205320"/>
                  </a:lnTo>
                  <a:cubicBezTo>
                    <a:pt x="965634" y="214841"/>
                    <a:pt x="961852" y="223971"/>
                    <a:pt x="955120" y="230703"/>
                  </a:cubicBezTo>
                  <a:cubicBezTo>
                    <a:pt x="948388" y="237435"/>
                    <a:pt x="939257" y="241217"/>
                    <a:pt x="929737" y="241217"/>
                  </a:cubicBezTo>
                  <a:lnTo>
                    <a:pt x="35897" y="241217"/>
                  </a:lnTo>
                  <a:cubicBezTo>
                    <a:pt x="26377" y="241217"/>
                    <a:pt x="17246" y="237435"/>
                    <a:pt x="10514" y="230703"/>
                  </a:cubicBezTo>
                  <a:cubicBezTo>
                    <a:pt x="3782" y="223971"/>
                    <a:pt x="0" y="214841"/>
                    <a:pt x="0" y="205320"/>
                  </a:cubicBezTo>
                  <a:lnTo>
                    <a:pt x="0" y="35897"/>
                  </a:lnTo>
                  <a:cubicBezTo>
                    <a:pt x="0" y="26377"/>
                    <a:pt x="3782" y="17246"/>
                    <a:pt x="10514" y="10514"/>
                  </a:cubicBezTo>
                  <a:cubicBezTo>
                    <a:pt x="17246" y="3782"/>
                    <a:pt x="26377" y="0"/>
                    <a:pt x="35897" y="0"/>
                  </a:cubicBezTo>
                  <a:close/>
                </a:path>
              </a:pathLst>
            </a:custGeom>
            <a:solidFill>
              <a:srgbClr val="D6DBE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65634" cy="288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Impotant features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572987" y="526541"/>
            <a:ext cx="6544589" cy="824776"/>
            <a:chOff x="0" y="0"/>
            <a:chExt cx="1723678" cy="2172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23678" cy="217225"/>
            </a:xfrm>
            <a:custGeom>
              <a:avLst/>
              <a:gdLst/>
              <a:ahLst/>
              <a:cxnLst/>
              <a:rect l="l" t="t" r="r" b="b"/>
              <a:pathLst>
                <a:path w="1723678" h="217225">
                  <a:moveTo>
                    <a:pt x="20110" y="0"/>
                  </a:moveTo>
                  <a:lnTo>
                    <a:pt x="1703568" y="0"/>
                  </a:lnTo>
                  <a:cubicBezTo>
                    <a:pt x="1714674" y="0"/>
                    <a:pt x="1723678" y="9004"/>
                    <a:pt x="1723678" y="20110"/>
                  </a:cubicBezTo>
                  <a:lnTo>
                    <a:pt x="1723678" y="197115"/>
                  </a:lnTo>
                  <a:cubicBezTo>
                    <a:pt x="1723678" y="208221"/>
                    <a:pt x="1714674" y="217225"/>
                    <a:pt x="1703568" y="217225"/>
                  </a:cubicBezTo>
                  <a:lnTo>
                    <a:pt x="20110" y="217225"/>
                  </a:lnTo>
                  <a:cubicBezTo>
                    <a:pt x="9004" y="217225"/>
                    <a:pt x="0" y="208221"/>
                    <a:pt x="0" y="197115"/>
                  </a:cubicBezTo>
                  <a:lnTo>
                    <a:pt x="0" y="20110"/>
                  </a:lnTo>
                  <a:cubicBezTo>
                    <a:pt x="0" y="9004"/>
                    <a:pt x="9004" y="0"/>
                    <a:pt x="2011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723678" cy="27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39"/>
                </a:lnSpc>
              </a:pPr>
              <a:r>
                <a:rPr lang="en-US" sz="3099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F</a:t>
              </a:r>
              <a:r>
                <a:rPr lang="en-US" sz="3099" b="1">
                  <a:solidFill>
                    <a:srgbClr val="220004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FEATURE IMPORTANCE</a:t>
              </a:r>
              <a:r>
                <a:rPr lang="en-US" sz="3099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F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232343" y="7621605"/>
            <a:ext cx="5678415" cy="2193930"/>
            <a:chOff x="0" y="0"/>
            <a:chExt cx="1006945" cy="38904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06945" cy="389046"/>
            </a:xfrm>
            <a:custGeom>
              <a:avLst/>
              <a:gdLst/>
              <a:ahLst/>
              <a:cxnLst/>
              <a:rect l="l" t="t" r="r" b="b"/>
              <a:pathLst>
                <a:path w="1006945" h="389046">
                  <a:moveTo>
                    <a:pt x="51127" y="0"/>
                  </a:moveTo>
                  <a:lnTo>
                    <a:pt x="955817" y="0"/>
                  </a:lnTo>
                  <a:cubicBezTo>
                    <a:pt x="984054" y="0"/>
                    <a:pt x="1006945" y="22890"/>
                    <a:pt x="1006945" y="51127"/>
                  </a:cubicBezTo>
                  <a:lnTo>
                    <a:pt x="1006945" y="337919"/>
                  </a:lnTo>
                  <a:cubicBezTo>
                    <a:pt x="1006945" y="366156"/>
                    <a:pt x="984054" y="389046"/>
                    <a:pt x="955817" y="389046"/>
                  </a:cubicBezTo>
                  <a:lnTo>
                    <a:pt x="51127" y="389046"/>
                  </a:lnTo>
                  <a:cubicBezTo>
                    <a:pt x="22890" y="389046"/>
                    <a:pt x="0" y="366156"/>
                    <a:pt x="0" y="337919"/>
                  </a:cubicBezTo>
                  <a:lnTo>
                    <a:pt x="0" y="51127"/>
                  </a:lnTo>
                  <a:cubicBezTo>
                    <a:pt x="0" y="22890"/>
                    <a:pt x="22890" y="0"/>
                    <a:pt x="51127" y="0"/>
                  </a:cubicBezTo>
                  <a:close/>
                </a:path>
              </a:pathLst>
            </a:custGeom>
            <a:solidFill>
              <a:srgbClr val="FFB5C2">
                <a:alpha val="95686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42875"/>
              <a:ext cx="1006945" cy="5319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1"/>
                </a:lnSpc>
              </a:pPr>
              <a:r>
                <a:rPr lang="en-US" sz="2208" b="1" spc="141">
                  <a:solidFill>
                    <a:srgbClr val="000000">
                      <a:alpha val="95686"/>
                    </a:srgbClr>
                  </a:solidFill>
                  <a:latin typeface="Inter Bold"/>
                  <a:ea typeface="Inter Bold"/>
                  <a:cs typeface="Inter Bold"/>
                  <a:sym typeface="Inter Bold"/>
                </a:rPr>
                <a:t>Similar features were obtained from the mutual information too.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326745" y="2262064"/>
            <a:ext cx="5497632" cy="7809138"/>
          </a:xfrm>
          <a:custGeom>
            <a:avLst/>
            <a:gdLst/>
            <a:ahLst/>
            <a:cxnLst/>
            <a:rect l="l" t="t" r="r" b="b"/>
            <a:pathLst>
              <a:path w="5497632" h="7809138">
                <a:moveTo>
                  <a:pt x="0" y="0"/>
                </a:moveTo>
                <a:lnTo>
                  <a:pt x="5497632" y="0"/>
                </a:lnTo>
                <a:lnTo>
                  <a:pt x="5497632" y="7809138"/>
                </a:lnTo>
                <a:lnTo>
                  <a:pt x="0" y="7809138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57150" cap="rnd">
            <a:solidFill>
              <a:srgbClr val="FFFFFF"/>
            </a:solidFill>
            <a:prstDash val="solid"/>
            <a:round/>
          </a:ln>
        </p:spPr>
      </p:sp>
      <p:grpSp>
        <p:nvGrpSpPr>
          <p:cNvPr id="15" name="Group 15"/>
          <p:cNvGrpSpPr/>
          <p:nvPr/>
        </p:nvGrpSpPr>
        <p:grpSpPr>
          <a:xfrm>
            <a:off x="326745" y="338883"/>
            <a:ext cx="5714517" cy="1638869"/>
            <a:chOff x="0" y="0"/>
            <a:chExt cx="1505058" cy="43163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05058" cy="431636"/>
            </a:xfrm>
            <a:custGeom>
              <a:avLst/>
              <a:gdLst/>
              <a:ahLst/>
              <a:cxnLst/>
              <a:rect l="l" t="t" r="r" b="b"/>
              <a:pathLst>
                <a:path w="1505058" h="431636">
                  <a:moveTo>
                    <a:pt x="23031" y="0"/>
                  </a:moveTo>
                  <a:lnTo>
                    <a:pt x="1482027" y="0"/>
                  </a:lnTo>
                  <a:cubicBezTo>
                    <a:pt x="1488135" y="0"/>
                    <a:pt x="1493993" y="2427"/>
                    <a:pt x="1498312" y="6746"/>
                  </a:cubicBezTo>
                  <a:cubicBezTo>
                    <a:pt x="1502631" y="11065"/>
                    <a:pt x="1505058" y="16923"/>
                    <a:pt x="1505058" y="23031"/>
                  </a:cubicBezTo>
                  <a:lnTo>
                    <a:pt x="1505058" y="408605"/>
                  </a:lnTo>
                  <a:cubicBezTo>
                    <a:pt x="1505058" y="421325"/>
                    <a:pt x="1494746" y="431636"/>
                    <a:pt x="1482027" y="431636"/>
                  </a:cubicBezTo>
                  <a:lnTo>
                    <a:pt x="23031" y="431636"/>
                  </a:lnTo>
                  <a:cubicBezTo>
                    <a:pt x="10311" y="431636"/>
                    <a:pt x="0" y="421325"/>
                    <a:pt x="0" y="408605"/>
                  </a:cubicBezTo>
                  <a:lnTo>
                    <a:pt x="0" y="23031"/>
                  </a:lnTo>
                  <a:cubicBezTo>
                    <a:pt x="0" y="16923"/>
                    <a:pt x="2427" y="11065"/>
                    <a:pt x="6746" y="6746"/>
                  </a:cubicBezTo>
                  <a:cubicBezTo>
                    <a:pt x="11065" y="2427"/>
                    <a:pt x="16923" y="0"/>
                    <a:pt x="23031" y="0"/>
                  </a:cubicBezTo>
                  <a:close/>
                </a:path>
              </a:pathLst>
            </a:custGeom>
            <a:solidFill>
              <a:srgbClr val="D63E4C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209550"/>
              <a:ext cx="1505058" cy="2220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99"/>
                </a:lnSpc>
              </a:pPr>
              <a:r>
                <a:rPr lang="en-US" sz="4999" b="1" spc="-214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RANDOM FOREST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8085838" y="1666900"/>
            <a:ext cx="8348733" cy="4790085"/>
          </a:xfrm>
          <a:custGeom>
            <a:avLst/>
            <a:gdLst/>
            <a:ahLst/>
            <a:cxnLst/>
            <a:rect l="l" t="t" r="r" b="b"/>
            <a:pathLst>
              <a:path w="8348733" h="4790085">
                <a:moveTo>
                  <a:pt x="0" y="0"/>
                </a:moveTo>
                <a:lnTo>
                  <a:pt x="8348733" y="0"/>
                </a:lnTo>
                <a:lnTo>
                  <a:pt x="8348733" y="4790085"/>
                </a:lnTo>
                <a:lnTo>
                  <a:pt x="0" y="4790085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grpSp>
        <p:nvGrpSpPr>
          <p:cNvPr id="19" name="Group 19"/>
          <p:cNvGrpSpPr/>
          <p:nvPr/>
        </p:nvGrpSpPr>
        <p:grpSpPr>
          <a:xfrm>
            <a:off x="7310805" y="7621605"/>
            <a:ext cx="3666390" cy="2271921"/>
            <a:chOff x="0" y="0"/>
            <a:chExt cx="965596" cy="59839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65596" cy="598393"/>
            </a:xfrm>
            <a:custGeom>
              <a:avLst/>
              <a:gdLst/>
              <a:ahLst/>
              <a:cxnLst/>
              <a:rect l="l" t="t" r="r" b="b"/>
              <a:pathLst>
                <a:path w="965596" h="598393">
                  <a:moveTo>
                    <a:pt x="965596" y="78129"/>
                  </a:moveTo>
                  <a:lnTo>
                    <a:pt x="965596" y="520264"/>
                  </a:lnTo>
                  <a:cubicBezTo>
                    <a:pt x="965596" y="563413"/>
                    <a:pt x="930616" y="598393"/>
                    <a:pt x="887467" y="598393"/>
                  </a:cubicBezTo>
                  <a:lnTo>
                    <a:pt x="78129" y="598393"/>
                  </a:lnTo>
                  <a:cubicBezTo>
                    <a:pt x="57408" y="598393"/>
                    <a:pt x="37535" y="590161"/>
                    <a:pt x="22883" y="575509"/>
                  </a:cubicBezTo>
                  <a:cubicBezTo>
                    <a:pt x="8231" y="560857"/>
                    <a:pt x="0" y="540985"/>
                    <a:pt x="0" y="520264"/>
                  </a:cubicBezTo>
                  <a:lnTo>
                    <a:pt x="0" y="78129"/>
                  </a:lnTo>
                  <a:cubicBezTo>
                    <a:pt x="0" y="57408"/>
                    <a:pt x="8231" y="37535"/>
                    <a:pt x="22883" y="22883"/>
                  </a:cubicBezTo>
                  <a:cubicBezTo>
                    <a:pt x="37535" y="8231"/>
                    <a:pt x="57408" y="0"/>
                    <a:pt x="78129" y="0"/>
                  </a:cubicBezTo>
                  <a:lnTo>
                    <a:pt x="887467" y="0"/>
                  </a:lnTo>
                  <a:cubicBezTo>
                    <a:pt x="908188" y="0"/>
                    <a:pt x="928060" y="8231"/>
                    <a:pt x="942712" y="22883"/>
                  </a:cubicBezTo>
                  <a:cubicBezTo>
                    <a:pt x="957364" y="37535"/>
                    <a:pt x="965596" y="57408"/>
                    <a:pt x="965596" y="78129"/>
                  </a:cubicBezTo>
                  <a:close/>
                </a:path>
              </a:pathLst>
            </a:custGeom>
            <a:solidFill>
              <a:srgbClr val="2555B7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965596" cy="646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wip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over_time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smv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no_of_workers</a:t>
              </a:r>
            </a:p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targeted_productivity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413657" y="-410373"/>
            <a:ext cx="16545936" cy="14841203"/>
          </a:xfrm>
          <a:custGeom>
            <a:avLst/>
            <a:gdLst/>
            <a:ahLst/>
            <a:cxnLst/>
            <a:rect l="l" t="t" r="r" b="b"/>
            <a:pathLst>
              <a:path w="16545936" h="14841203">
                <a:moveTo>
                  <a:pt x="16545936" y="14841203"/>
                </a:moveTo>
                <a:lnTo>
                  <a:pt x="0" y="14841203"/>
                </a:lnTo>
                <a:lnTo>
                  <a:pt x="0" y="0"/>
                </a:lnTo>
                <a:lnTo>
                  <a:pt x="16545936" y="0"/>
                </a:lnTo>
                <a:lnTo>
                  <a:pt x="16545936" y="14841203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33126" y="616312"/>
            <a:ext cx="6544589" cy="824776"/>
            <a:chOff x="0" y="0"/>
            <a:chExt cx="1723678" cy="2172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23678" cy="217225"/>
            </a:xfrm>
            <a:custGeom>
              <a:avLst/>
              <a:gdLst/>
              <a:ahLst/>
              <a:cxnLst/>
              <a:rect l="l" t="t" r="r" b="b"/>
              <a:pathLst>
                <a:path w="1723678" h="217225">
                  <a:moveTo>
                    <a:pt x="20110" y="0"/>
                  </a:moveTo>
                  <a:lnTo>
                    <a:pt x="1703568" y="0"/>
                  </a:lnTo>
                  <a:cubicBezTo>
                    <a:pt x="1714674" y="0"/>
                    <a:pt x="1723678" y="9004"/>
                    <a:pt x="1723678" y="20110"/>
                  </a:cubicBezTo>
                  <a:lnTo>
                    <a:pt x="1723678" y="197115"/>
                  </a:lnTo>
                  <a:cubicBezTo>
                    <a:pt x="1723678" y="208221"/>
                    <a:pt x="1714674" y="217225"/>
                    <a:pt x="1703568" y="217225"/>
                  </a:cubicBezTo>
                  <a:lnTo>
                    <a:pt x="20110" y="217225"/>
                  </a:lnTo>
                  <a:cubicBezTo>
                    <a:pt x="9004" y="217225"/>
                    <a:pt x="0" y="208221"/>
                    <a:pt x="0" y="197115"/>
                  </a:cubicBezTo>
                  <a:lnTo>
                    <a:pt x="0" y="20110"/>
                  </a:lnTo>
                  <a:cubicBezTo>
                    <a:pt x="0" y="9004"/>
                    <a:pt x="9004" y="0"/>
                    <a:pt x="20110" y="0"/>
                  </a:cubicBezTo>
                  <a:close/>
                </a:path>
              </a:pathLst>
            </a:custGeom>
            <a:solidFill>
              <a:srgbClr val="FF2D9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723678" cy="27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39"/>
                </a:lnSpc>
              </a:pPr>
              <a:r>
                <a:rPr lang="en-US" sz="3099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Partial Dependency Plots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1371" y="930103"/>
            <a:ext cx="8132401" cy="8426795"/>
            <a:chOff x="0" y="0"/>
            <a:chExt cx="10843201" cy="11235727"/>
          </a:xfrm>
        </p:grpSpPr>
        <p:sp>
          <p:nvSpPr>
            <p:cNvPr id="7" name="Freeform 7"/>
            <p:cNvSpPr/>
            <p:nvPr/>
          </p:nvSpPr>
          <p:spPr>
            <a:xfrm>
              <a:off x="805253" y="427707"/>
              <a:ext cx="10037948" cy="10808020"/>
            </a:xfrm>
            <a:custGeom>
              <a:avLst/>
              <a:gdLst/>
              <a:ahLst/>
              <a:cxnLst/>
              <a:rect l="l" t="t" r="r" b="b"/>
              <a:pathLst>
                <a:path w="10037948" h="10808020">
                  <a:moveTo>
                    <a:pt x="0" y="0"/>
                  </a:moveTo>
                  <a:lnTo>
                    <a:pt x="10037948" y="0"/>
                  </a:lnTo>
                  <a:lnTo>
                    <a:pt x="10037948" y="10808020"/>
                  </a:lnTo>
                  <a:lnTo>
                    <a:pt x="0" y="108080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8" name="Group 8"/>
            <p:cNvGrpSpPr/>
            <p:nvPr/>
          </p:nvGrpSpPr>
          <p:grpSpPr>
            <a:xfrm rot="1953026">
              <a:off x="460509" y="690983"/>
              <a:ext cx="3326659" cy="2596840"/>
              <a:chOff x="0" y="0"/>
              <a:chExt cx="657118" cy="51295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57118" cy="512956"/>
              </a:xfrm>
              <a:custGeom>
                <a:avLst/>
                <a:gdLst/>
                <a:ahLst/>
                <a:cxnLst/>
                <a:rect l="l" t="t" r="r" b="b"/>
                <a:pathLst>
                  <a:path w="657118" h="512956">
                    <a:moveTo>
                      <a:pt x="52751" y="0"/>
                    </a:moveTo>
                    <a:lnTo>
                      <a:pt x="604367" y="0"/>
                    </a:lnTo>
                    <a:cubicBezTo>
                      <a:pt x="618358" y="0"/>
                      <a:pt x="631775" y="5558"/>
                      <a:pt x="641668" y="15450"/>
                    </a:cubicBezTo>
                    <a:cubicBezTo>
                      <a:pt x="651560" y="25343"/>
                      <a:pt x="657118" y="38760"/>
                      <a:pt x="657118" y="52751"/>
                    </a:cubicBezTo>
                    <a:lnTo>
                      <a:pt x="657118" y="460205"/>
                    </a:lnTo>
                    <a:cubicBezTo>
                      <a:pt x="657118" y="489339"/>
                      <a:pt x="633501" y="512956"/>
                      <a:pt x="604367" y="512956"/>
                    </a:cubicBezTo>
                    <a:lnTo>
                      <a:pt x="52751" y="512956"/>
                    </a:lnTo>
                    <a:cubicBezTo>
                      <a:pt x="38760" y="512956"/>
                      <a:pt x="25343" y="507398"/>
                      <a:pt x="15450" y="497506"/>
                    </a:cubicBezTo>
                    <a:cubicBezTo>
                      <a:pt x="5558" y="487613"/>
                      <a:pt x="0" y="474196"/>
                      <a:pt x="0" y="460205"/>
                    </a:cubicBezTo>
                    <a:lnTo>
                      <a:pt x="0" y="52751"/>
                    </a:lnTo>
                    <a:cubicBezTo>
                      <a:pt x="0" y="38760"/>
                      <a:pt x="5558" y="25343"/>
                      <a:pt x="15450" y="15450"/>
                    </a:cubicBezTo>
                    <a:cubicBezTo>
                      <a:pt x="25343" y="5558"/>
                      <a:pt x="38760" y="0"/>
                      <a:pt x="52751" y="0"/>
                    </a:cubicBezTo>
                    <a:close/>
                  </a:path>
                </a:pathLst>
              </a:custGeom>
              <a:solidFill>
                <a:srgbClr val="FF2D98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657118" cy="5701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339"/>
                  </a:lnSpc>
                </a:pPr>
                <a:r>
                  <a:rPr lang="en-US" sz="3099" b="1">
                    <a:solidFill>
                      <a:srgbClr val="FFFFFF"/>
                    </a:solidFill>
                    <a:latin typeface="Arial Unicode Bold"/>
                    <a:ea typeface="Arial Unicode Bold"/>
                    <a:cs typeface="Arial Unicode Bold"/>
                    <a:sym typeface="Arial Unicode Bold"/>
                  </a:rPr>
                  <a:t> Positive Impact on Productivity</a:t>
                </a: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1953026">
              <a:off x="540310" y="4285964"/>
              <a:ext cx="3254461" cy="2547502"/>
              <a:chOff x="0" y="0"/>
              <a:chExt cx="642857" cy="50321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42857" cy="503210"/>
              </a:xfrm>
              <a:custGeom>
                <a:avLst/>
                <a:gdLst/>
                <a:ahLst/>
                <a:cxnLst/>
                <a:rect l="l" t="t" r="r" b="b"/>
                <a:pathLst>
                  <a:path w="642857" h="503210">
                    <a:moveTo>
                      <a:pt x="53921" y="0"/>
                    </a:moveTo>
                    <a:lnTo>
                      <a:pt x="588936" y="0"/>
                    </a:lnTo>
                    <a:cubicBezTo>
                      <a:pt x="618715" y="0"/>
                      <a:pt x="642857" y="24141"/>
                      <a:pt x="642857" y="53921"/>
                    </a:cubicBezTo>
                    <a:lnTo>
                      <a:pt x="642857" y="449289"/>
                    </a:lnTo>
                    <a:cubicBezTo>
                      <a:pt x="642857" y="479069"/>
                      <a:pt x="618715" y="503210"/>
                      <a:pt x="588936" y="503210"/>
                    </a:cubicBezTo>
                    <a:lnTo>
                      <a:pt x="53921" y="503210"/>
                    </a:lnTo>
                    <a:cubicBezTo>
                      <a:pt x="24141" y="503210"/>
                      <a:pt x="0" y="479069"/>
                      <a:pt x="0" y="449289"/>
                    </a:cubicBezTo>
                    <a:lnTo>
                      <a:pt x="0" y="53921"/>
                    </a:lnTo>
                    <a:cubicBezTo>
                      <a:pt x="0" y="24141"/>
                      <a:pt x="24141" y="0"/>
                      <a:pt x="53921" y="0"/>
                    </a:cubicBezTo>
                    <a:close/>
                  </a:path>
                </a:pathLst>
              </a:custGeom>
              <a:solidFill>
                <a:srgbClr val="FF2D98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57150"/>
                <a:ext cx="642857" cy="5603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339"/>
                  </a:lnSpc>
                </a:pPr>
                <a:r>
                  <a:rPr lang="en-US" sz="3099" b="1">
                    <a:solidFill>
                      <a:srgbClr val="FFFFFF"/>
                    </a:solidFill>
                    <a:latin typeface="Arial Unicode Bold"/>
                    <a:ea typeface="Arial Unicode Bold"/>
                    <a:cs typeface="Arial Unicode Bold"/>
                    <a:sym typeface="Arial Unicode Bold"/>
                  </a:rPr>
                  <a:t> Negative Impact on Productivity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1953026">
              <a:off x="419419" y="7977496"/>
              <a:ext cx="3385656" cy="2547502"/>
              <a:chOff x="0" y="0"/>
              <a:chExt cx="668772" cy="50321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68772" cy="503210"/>
              </a:xfrm>
              <a:custGeom>
                <a:avLst/>
                <a:gdLst/>
                <a:ahLst/>
                <a:cxnLst/>
                <a:rect l="l" t="t" r="r" b="b"/>
                <a:pathLst>
                  <a:path w="668772" h="503210">
                    <a:moveTo>
                      <a:pt x="51831" y="0"/>
                    </a:moveTo>
                    <a:lnTo>
                      <a:pt x="616940" y="0"/>
                    </a:lnTo>
                    <a:cubicBezTo>
                      <a:pt x="645566" y="0"/>
                      <a:pt x="668772" y="23206"/>
                      <a:pt x="668772" y="51831"/>
                    </a:cubicBezTo>
                    <a:lnTo>
                      <a:pt x="668772" y="451379"/>
                    </a:lnTo>
                    <a:cubicBezTo>
                      <a:pt x="668772" y="465125"/>
                      <a:pt x="663311" y="478309"/>
                      <a:pt x="653591" y="488029"/>
                    </a:cubicBezTo>
                    <a:cubicBezTo>
                      <a:pt x="643870" y="497749"/>
                      <a:pt x="630687" y="503210"/>
                      <a:pt x="616940" y="503210"/>
                    </a:cubicBezTo>
                    <a:lnTo>
                      <a:pt x="51831" y="503210"/>
                    </a:lnTo>
                    <a:cubicBezTo>
                      <a:pt x="38085" y="503210"/>
                      <a:pt x="24901" y="497749"/>
                      <a:pt x="15181" y="488029"/>
                    </a:cubicBezTo>
                    <a:cubicBezTo>
                      <a:pt x="5461" y="478309"/>
                      <a:pt x="0" y="465125"/>
                      <a:pt x="0" y="451379"/>
                    </a:cubicBezTo>
                    <a:lnTo>
                      <a:pt x="0" y="51831"/>
                    </a:lnTo>
                    <a:cubicBezTo>
                      <a:pt x="0" y="38085"/>
                      <a:pt x="5461" y="24901"/>
                      <a:pt x="15181" y="15181"/>
                    </a:cubicBezTo>
                    <a:cubicBezTo>
                      <a:pt x="24901" y="5461"/>
                      <a:pt x="38085" y="0"/>
                      <a:pt x="51831" y="0"/>
                    </a:cubicBezTo>
                    <a:close/>
                  </a:path>
                </a:pathLst>
              </a:custGeom>
              <a:solidFill>
                <a:srgbClr val="FF2D98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57150"/>
                <a:ext cx="668772" cy="5603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339"/>
                  </a:lnSpc>
                </a:pPr>
                <a:r>
                  <a:rPr lang="en-US" sz="3099" b="1">
                    <a:solidFill>
                      <a:srgbClr val="FFFFFF"/>
                    </a:solidFill>
                    <a:latin typeface="Arial Unicode Bold"/>
                    <a:ea typeface="Arial Unicode Bold"/>
                    <a:cs typeface="Arial Unicode Bold"/>
                    <a:sym typeface="Arial Unicode Bold"/>
                  </a:rPr>
                  <a:t> Minimal  Impact on Productivity</a:t>
                </a:r>
              </a:p>
            </p:txBody>
          </p:sp>
        </p:grpSp>
      </p:grpSp>
      <p:sp>
        <p:nvSpPr>
          <p:cNvPr id="17" name="Freeform 17"/>
          <p:cNvSpPr/>
          <p:nvPr/>
        </p:nvSpPr>
        <p:spPr>
          <a:xfrm>
            <a:off x="439021" y="1861834"/>
            <a:ext cx="7677144" cy="4835960"/>
          </a:xfrm>
          <a:custGeom>
            <a:avLst/>
            <a:gdLst/>
            <a:ahLst/>
            <a:cxnLst/>
            <a:rect l="l" t="t" r="r" b="b"/>
            <a:pathLst>
              <a:path w="7677144" h="4835960">
                <a:moveTo>
                  <a:pt x="0" y="0"/>
                </a:moveTo>
                <a:lnTo>
                  <a:pt x="7677145" y="0"/>
                </a:lnTo>
                <a:lnTo>
                  <a:pt x="7677145" y="4835960"/>
                </a:lnTo>
                <a:lnTo>
                  <a:pt x="0" y="4835960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39021" y="6929763"/>
            <a:ext cx="3845857" cy="2328537"/>
          </a:xfrm>
          <a:custGeom>
            <a:avLst/>
            <a:gdLst/>
            <a:ahLst/>
            <a:cxnLst/>
            <a:rect l="l" t="t" r="r" b="b"/>
            <a:pathLst>
              <a:path w="3845857" h="2328537">
                <a:moveTo>
                  <a:pt x="0" y="0"/>
                </a:moveTo>
                <a:lnTo>
                  <a:pt x="3845857" y="0"/>
                </a:lnTo>
                <a:lnTo>
                  <a:pt x="3845857" y="2328537"/>
                </a:lnTo>
                <a:lnTo>
                  <a:pt x="0" y="2328537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3212604" y="2193544"/>
            <a:ext cx="4046696" cy="1064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Targeted Productivity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No. of Workers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987571" y="4930768"/>
            <a:ext cx="1925479" cy="1064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Over Time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SMV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382690" y="7651115"/>
            <a:ext cx="1706523" cy="160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Incentive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endParaRPr lang="en-US" sz="3099" b="1">
              <a:solidFill>
                <a:srgbClr val="000000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946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653346" y="-331314"/>
            <a:ext cx="16545936" cy="14841203"/>
          </a:xfrm>
          <a:custGeom>
            <a:avLst/>
            <a:gdLst/>
            <a:ahLst/>
            <a:cxnLst/>
            <a:rect l="l" t="t" r="r" b="b"/>
            <a:pathLst>
              <a:path w="16545936" h="14841203">
                <a:moveTo>
                  <a:pt x="16545935" y="14841203"/>
                </a:moveTo>
                <a:lnTo>
                  <a:pt x="0" y="14841203"/>
                </a:lnTo>
                <a:lnTo>
                  <a:pt x="0" y="0"/>
                </a:lnTo>
                <a:lnTo>
                  <a:pt x="16545935" y="0"/>
                </a:lnTo>
                <a:lnTo>
                  <a:pt x="16545935" y="14841203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25714" y="932732"/>
            <a:ext cx="13286167" cy="8421536"/>
          </a:xfrm>
          <a:custGeom>
            <a:avLst/>
            <a:gdLst/>
            <a:ahLst/>
            <a:cxnLst/>
            <a:rect l="l" t="t" r="r" b="b"/>
            <a:pathLst>
              <a:path w="13286167" h="8421536">
                <a:moveTo>
                  <a:pt x="0" y="0"/>
                </a:moveTo>
                <a:lnTo>
                  <a:pt x="13286167" y="0"/>
                </a:lnTo>
                <a:lnTo>
                  <a:pt x="13286167" y="8421536"/>
                </a:lnTo>
                <a:lnTo>
                  <a:pt x="0" y="8421536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85725" cap="rnd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946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646" y="1222068"/>
            <a:ext cx="17620708" cy="8036232"/>
            <a:chOff x="0" y="0"/>
            <a:chExt cx="4640845" cy="21165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40845" cy="2116538"/>
            </a:xfrm>
            <a:custGeom>
              <a:avLst/>
              <a:gdLst/>
              <a:ahLst/>
              <a:cxnLst/>
              <a:rect l="l" t="t" r="r" b="b"/>
              <a:pathLst>
                <a:path w="4640845" h="2116538">
                  <a:moveTo>
                    <a:pt x="38225" y="0"/>
                  </a:moveTo>
                  <a:lnTo>
                    <a:pt x="4602620" y="0"/>
                  </a:lnTo>
                  <a:cubicBezTo>
                    <a:pt x="4623731" y="0"/>
                    <a:pt x="4640845" y="17114"/>
                    <a:pt x="4640845" y="38225"/>
                  </a:cubicBezTo>
                  <a:lnTo>
                    <a:pt x="4640845" y="2078314"/>
                  </a:lnTo>
                  <a:cubicBezTo>
                    <a:pt x="4640845" y="2099425"/>
                    <a:pt x="4623731" y="2116538"/>
                    <a:pt x="4602620" y="2116538"/>
                  </a:cubicBezTo>
                  <a:lnTo>
                    <a:pt x="38225" y="2116538"/>
                  </a:lnTo>
                  <a:cubicBezTo>
                    <a:pt x="28087" y="2116538"/>
                    <a:pt x="18364" y="2112511"/>
                    <a:pt x="11196" y="2105343"/>
                  </a:cubicBezTo>
                  <a:cubicBezTo>
                    <a:pt x="4027" y="2098174"/>
                    <a:pt x="0" y="2088452"/>
                    <a:pt x="0" y="2078314"/>
                  </a:cubicBezTo>
                  <a:lnTo>
                    <a:pt x="0" y="38225"/>
                  </a:lnTo>
                  <a:cubicBezTo>
                    <a:pt x="0" y="17114"/>
                    <a:pt x="17114" y="0"/>
                    <a:pt x="3822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640845" cy="2164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53845" y="2020250"/>
            <a:ext cx="17400509" cy="6392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4"/>
              </a:lnSpc>
              <a:spcBef>
                <a:spcPct val="0"/>
              </a:spcBef>
            </a:pPr>
            <a:endParaRPr/>
          </a:p>
          <a:p>
            <a:pPr marL="518852" lvl="1" indent="-259426" algn="l">
              <a:lnSpc>
                <a:spcPts val="3364"/>
              </a:lnSpc>
              <a:spcBef>
                <a:spcPct val="0"/>
              </a:spcBef>
              <a:buFont typeface="Arial"/>
              <a:buChar char="•"/>
            </a:pPr>
            <a:r>
              <a:rPr lang="en-US" sz="2403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For the Sewing department, XGBoost performed best, indicating productivity is driven by multiple interacting factors such as SMV, workforce size, overtime, and incentives.</a:t>
            </a:r>
          </a:p>
          <a:p>
            <a:pPr algn="l">
              <a:lnSpc>
                <a:spcPts val="3364"/>
              </a:lnSpc>
              <a:spcBef>
                <a:spcPct val="0"/>
              </a:spcBef>
            </a:pPr>
            <a:endParaRPr lang="en-US" sz="2403" b="1">
              <a:solidFill>
                <a:srgbClr val="000000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marL="518852" lvl="1" indent="-259426" algn="l">
              <a:lnSpc>
                <a:spcPts val="3364"/>
              </a:lnSpc>
              <a:spcBef>
                <a:spcPct val="0"/>
              </a:spcBef>
              <a:buFont typeface="Arial"/>
              <a:buChar char="•"/>
            </a:pPr>
            <a:r>
              <a:rPr lang="en-US" sz="2403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For the Finishing department, the best model was Random Forest, showing finishing productivity is influenced by several decision-like rules (like workforce size , overtime, and workload).</a:t>
            </a:r>
          </a:p>
          <a:p>
            <a:pPr algn="l">
              <a:lnSpc>
                <a:spcPts val="3364"/>
              </a:lnSpc>
              <a:spcBef>
                <a:spcPct val="0"/>
              </a:spcBef>
            </a:pPr>
            <a:endParaRPr lang="en-US" sz="2403" b="1">
              <a:solidFill>
                <a:srgbClr val="000000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marL="518852" lvl="1" indent="-259426" algn="l">
              <a:lnSpc>
                <a:spcPts val="3364"/>
              </a:lnSpc>
              <a:spcBef>
                <a:spcPct val="0"/>
              </a:spcBef>
              <a:buFont typeface="Arial"/>
              <a:buChar char="•"/>
            </a:pPr>
            <a:r>
              <a:rPr lang="en-US" sz="2403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The sewing operations are more complex and nonlinear, so an advanced boosting model gives better accuracy.</a:t>
            </a:r>
          </a:p>
          <a:p>
            <a:pPr algn="l">
              <a:lnSpc>
                <a:spcPts val="3364"/>
              </a:lnSpc>
              <a:spcBef>
                <a:spcPct val="0"/>
              </a:spcBef>
            </a:pPr>
            <a:endParaRPr lang="en-US" sz="2403" b="1">
              <a:solidFill>
                <a:srgbClr val="000000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marL="518852" lvl="1" indent="-259426" algn="l">
              <a:lnSpc>
                <a:spcPts val="3364"/>
              </a:lnSpc>
              <a:spcBef>
                <a:spcPct val="0"/>
              </a:spcBef>
              <a:buFont typeface="Arial"/>
              <a:buChar char="•"/>
            </a:pPr>
            <a:r>
              <a:rPr lang="en-US" sz="2403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Finishing tasks are comparatively simpler and stable, so a tree-based ensemble model can capture the patterns effectively.</a:t>
            </a:r>
          </a:p>
          <a:p>
            <a:pPr algn="l">
              <a:lnSpc>
                <a:spcPts val="3364"/>
              </a:lnSpc>
              <a:spcBef>
                <a:spcPct val="0"/>
              </a:spcBef>
            </a:pPr>
            <a:endParaRPr lang="en-US" sz="2403" b="1">
              <a:solidFill>
                <a:srgbClr val="000000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  <a:p>
            <a:pPr marL="518852" lvl="1" indent="-259426" algn="l">
              <a:lnSpc>
                <a:spcPts val="3364"/>
              </a:lnSpc>
              <a:spcBef>
                <a:spcPct val="0"/>
              </a:spcBef>
              <a:buFont typeface="Arial"/>
              <a:buChar char="•"/>
            </a:pPr>
            <a:r>
              <a:rPr lang="en-US" sz="2403" b="1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Overall, using different models for each department improves prediction accuracy and helps managers make better workforce and production planning decisions.</a:t>
            </a:r>
          </a:p>
          <a:p>
            <a:pPr algn="l">
              <a:lnSpc>
                <a:spcPts val="3364"/>
              </a:lnSpc>
              <a:spcBef>
                <a:spcPct val="0"/>
              </a:spcBef>
            </a:pPr>
            <a:endParaRPr lang="en-US" sz="2403" b="1">
              <a:solidFill>
                <a:srgbClr val="000000"/>
              </a:solidFill>
              <a:latin typeface="Arial Unicode Bold"/>
              <a:ea typeface="Arial Unicode Bold"/>
              <a:cs typeface="Arial Unicode Bold"/>
              <a:sym typeface="Arial Unicode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5270237" y="436838"/>
            <a:ext cx="7747526" cy="1376053"/>
            <a:chOff x="0" y="0"/>
            <a:chExt cx="2040501" cy="3624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40501" cy="362417"/>
            </a:xfrm>
            <a:custGeom>
              <a:avLst/>
              <a:gdLst/>
              <a:ahLst/>
              <a:cxnLst/>
              <a:rect l="l" t="t" r="r" b="b"/>
              <a:pathLst>
                <a:path w="2040501" h="362417">
                  <a:moveTo>
                    <a:pt x="16988" y="0"/>
                  </a:moveTo>
                  <a:lnTo>
                    <a:pt x="2023513" y="0"/>
                  </a:lnTo>
                  <a:cubicBezTo>
                    <a:pt x="2028019" y="0"/>
                    <a:pt x="2032340" y="1790"/>
                    <a:pt x="2035525" y="4976"/>
                  </a:cubicBezTo>
                  <a:cubicBezTo>
                    <a:pt x="2038711" y="8161"/>
                    <a:pt x="2040501" y="12482"/>
                    <a:pt x="2040501" y="16988"/>
                  </a:cubicBezTo>
                  <a:lnTo>
                    <a:pt x="2040501" y="345429"/>
                  </a:lnTo>
                  <a:cubicBezTo>
                    <a:pt x="2040501" y="354812"/>
                    <a:pt x="2032895" y="362417"/>
                    <a:pt x="2023513" y="362417"/>
                  </a:cubicBezTo>
                  <a:lnTo>
                    <a:pt x="16988" y="362417"/>
                  </a:lnTo>
                  <a:cubicBezTo>
                    <a:pt x="12482" y="362417"/>
                    <a:pt x="8161" y="360627"/>
                    <a:pt x="4976" y="357442"/>
                  </a:cubicBezTo>
                  <a:cubicBezTo>
                    <a:pt x="1790" y="354256"/>
                    <a:pt x="0" y="349935"/>
                    <a:pt x="0" y="345429"/>
                  </a:cubicBezTo>
                  <a:lnTo>
                    <a:pt x="0" y="16988"/>
                  </a:lnTo>
                  <a:cubicBezTo>
                    <a:pt x="0" y="12482"/>
                    <a:pt x="1790" y="8161"/>
                    <a:pt x="4976" y="4976"/>
                  </a:cubicBezTo>
                  <a:cubicBezTo>
                    <a:pt x="8161" y="1790"/>
                    <a:pt x="12482" y="0"/>
                    <a:pt x="16988" y="0"/>
                  </a:cubicBezTo>
                  <a:close/>
                </a:path>
              </a:pathLst>
            </a:custGeom>
            <a:solidFill>
              <a:srgbClr val="0ABDC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2040501" cy="429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19"/>
                </a:lnSpc>
              </a:pPr>
              <a:r>
                <a:rPr lang="en-US" sz="3299" b="1">
                  <a:solidFill>
                    <a:srgbClr val="FFFFFF"/>
                  </a:solidFill>
                  <a:latin typeface="Arial Unicode Bold"/>
                  <a:ea typeface="Arial Unicode Bold"/>
                  <a:cs typeface="Arial Unicode Bold"/>
                  <a:sym typeface="Arial Unicode Bold"/>
                </a:rPr>
                <a:t>CONCLUSION FROM THE ADVANCED ANALYSIS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0752" y="414754"/>
            <a:ext cx="17486496" cy="9598223"/>
            <a:chOff x="0" y="0"/>
            <a:chExt cx="2389561" cy="1311614"/>
          </a:xfrm>
        </p:grpSpPr>
        <p:sp>
          <p:nvSpPr>
            <p:cNvPr id="3" name="Freeform 3">
              <a:hlinkClick r:id="rId2" tooltip="https://www.statisticshowto.com/probability-and-statistics/statistics-definitions/parametric-and-non-parametric-data/"/>
            </p:cNvPr>
            <p:cNvSpPr/>
            <p:nvPr/>
          </p:nvSpPr>
          <p:spPr>
            <a:xfrm>
              <a:off x="0" y="0"/>
              <a:ext cx="2389561" cy="1311615"/>
            </a:xfrm>
            <a:custGeom>
              <a:avLst/>
              <a:gdLst/>
              <a:ahLst/>
              <a:cxnLst/>
              <a:rect l="l" t="t" r="r" b="b"/>
              <a:pathLst>
                <a:path w="2389561" h="1311615">
                  <a:moveTo>
                    <a:pt x="2186361" y="0"/>
                  </a:moveTo>
                  <a:cubicBezTo>
                    <a:pt x="2298585" y="0"/>
                    <a:pt x="2389561" y="293615"/>
                    <a:pt x="2389561" y="655807"/>
                  </a:cubicBezTo>
                  <a:cubicBezTo>
                    <a:pt x="2389561" y="1018000"/>
                    <a:pt x="2298585" y="1311615"/>
                    <a:pt x="2186361" y="1311615"/>
                  </a:cubicBezTo>
                  <a:lnTo>
                    <a:pt x="203200" y="1311615"/>
                  </a:lnTo>
                  <a:cubicBezTo>
                    <a:pt x="90976" y="1311615"/>
                    <a:pt x="0" y="1018000"/>
                    <a:pt x="0" y="655807"/>
                  </a:cubicBezTo>
                  <a:cubicBezTo>
                    <a:pt x="0" y="29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389561" cy="1359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sz="240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4612AFE-777B-4B06-9878-1906F782C4ED}"/>
              </a:ext>
            </a:extLst>
          </p:cNvPr>
          <p:cNvSpPr txBox="1"/>
          <p:nvPr/>
        </p:nvSpPr>
        <p:spPr>
          <a:xfrm>
            <a:off x="3400425" y="3547916"/>
            <a:ext cx="1478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https://colab.research.google.com/drive/1Jhi3-aTLwcIAuWTyPexfK7h0JGGeSTRe?usp=sharing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B26100-EC46-4BE3-91A5-0F447CBB32C3}"/>
              </a:ext>
            </a:extLst>
          </p:cNvPr>
          <p:cNvSpPr txBox="1"/>
          <p:nvPr/>
        </p:nvSpPr>
        <p:spPr>
          <a:xfrm>
            <a:off x="1219200" y="2673061"/>
            <a:ext cx="441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Python code: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8F2154-9C7A-4687-AF32-6BD8600D5BD8}"/>
              </a:ext>
            </a:extLst>
          </p:cNvPr>
          <p:cNvSpPr txBox="1"/>
          <p:nvPr/>
        </p:nvSpPr>
        <p:spPr>
          <a:xfrm>
            <a:off x="1524000" y="5370615"/>
            <a:ext cx="175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Dataset: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9CB65D-0773-4385-B785-6C06545D4067}"/>
              </a:ext>
            </a:extLst>
          </p:cNvPr>
          <p:cNvSpPr txBox="1"/>
          <p:nvPr/>
        </p:nvSpPr>
        <p:spPr>
          <a:xfrm>
            <a:off x="3429000" y="6191371"/>
            <a:ext cx="1356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https://www.kaggle.com/datasets/ishadss/productivity-prediction-of-garment-employees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5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4800" y="190500"/>
            <a:ext cx="17486496" cy="9598223"/>
            <a:chOff x="0" y="0"/>
            <a:chExt cx="2389561" cy="1311614"/>
          </a:xfrm>
        </p:grpSpPr>
        <p:sp>
          <p:nvSpPr>
            <p:cNvPr id="3" name="Freeform 3">
              <a:hlinkClick r:id="rId2" tooltip="https://www.statisticshowto.com/probability-and-statistics/statistics-definitions/parametric-and-non-parametric-data/"/>
            </p:cNvPr>
            <p:cNvSpPr/>
            <p:nvPr/>
          </p:nvSpPr>
          <p:spPr>
            <a:xfrm>
              <a:off x="0" y="0"/>
              <a:ext cx="2389561" cy="1311615"/>
            </a:xfrm>
            <a:custGeom>
              <a:avLst/>
              <a:gdLst/>
              <a:ahLst/>
              <a:cxnLst/>
              <a:rect l="l" t="t" r="r" b="b"/>
              <a:pathLst>
                <a:path w="2389561" h="1311615">
                  <a:moveTo>
                    <a:pt x="2186361" y="0"/>
                  </a:moveTo>
                  <a:cubicBezTo>
                    <a:pt x="2298585" y="0"/>
                    <a:pt x="2389561" y="293615"/>
                    <a:pt x="2389561" y="655807"/>
                  </a:cubicBezTo>
                  <a:cubicBezTo>
                    <a:pt x="2389561" y="1018000"/>
                    <a:pt x="2298585" y="1311615"/>
                    <a:pt x="2186361" y="1311615"/>
                  </a:cubicBezTo>
                  <a:lnTo>
                    <a:pt x="203200" y="1311615"/>
                  </a:lnTo>
                  <a:cubicBezTo>
                    <a:pt x="90976" y="1311615"/>
                    <a:pt x="0" y="1018000"/>
                    <a:pt x="0" y="655807"/>
                  </a:cubicBezTo>
                  <a:cubicBezTo>
                    <a:pt x="0" y="29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389561" cy="13592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178789" y="1078822"/>
            <a:ext cx="6232411" cy="10425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27"/>
              </a:lnSpc>
              <a:spcBef>
                <a:spcPct val="0"/>
              </a:spcBef>
            </a:pPr>
            <a:r>
              <a:rPr lang="en-US" sz="6305" b="1" dirty="0">
                <a:solidFill>
                  <a:srgbClr val="D24D65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References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5129" y="2965292"/>
            <a:ext cx="16617742" cy="2901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2874" lvl="1" indent="-266437" algn="l">
              <a:lnSpc>
                <a:spcPts val="4714"/>
              </a:lnSpc>
              <a:buFont typeface="Arial"/>
              <a:buChar char="•"/>
            </a:pPr>
            <a:r>
              <a:rPr lang="en-US" sz="2468" u="sng" spc="256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https://www.statisticshowto.com/probability-and-statistics/statistics-definitions/parametric-and-non-parametric-data/</a:t>
            </a:r>
          </a:p>
          <a:p>
            <a:pPr marL="532874" lvl="1" indent="-266437" algn="l">
              <a:lnSpc>
                <a:spcPts val="4714"/>
              </a:lnSpc>
              <a:buFont typeface="Arial"/>
              <a:buChar char="•"/>
            </a:pPr>
            <a:r>
              <a:rPr lang="en-US" sz="2468" u="sng" spc="256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https://empuls.xoxoday.com/glossary/employee-productivity-analysis</a:t>
            </a:r>
          </a:p>
          <a:p>
            <a:pPr marL="532874" lvl="1" indent="-266437" algn="l">
              <a:lnSpc>
                <a:spcPts val="4714"/>
              </a:lnSpc>
              <a:buFont typeface="Arial"/>
              <a:buChar char="•"/>
            </a:pPr>
            <a:r>
              <a:rPr lang="en-US" sz="2468" u="sng" spc="256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https://www.mdpi.com/1424-8220/23/21/8694</a:t>
            </a:r>
          </a:p>
          <a:p>
            <a:pPr marL="532874" lvl="1" indent="-266437" algn="l">
              <a:lnSpc>
                <a:spcPts val="4714"/>
              </a:lnSpc>
              <a:spcBef>
                <a:spcPct val="0"/>
              </a:spcBef>
              <a:buFont typeface="Arial"/>
              <a:buChar char="•"/>
            </a:pPr>
            <a:r>
              <a:rPr lang="en-US" sz="2468" u="sng" spc="256">
                <a:solidFill>
                  <a:srgbClr val="FFFFFF"/>
                </a:solidFill>
                <a:latin typeface="Arial Unicode"/>
                <a:ea typeface="Arial Unicode"/>
                <a:cs typeface="Arial Unicode"/>
                <a:sym typeface="Arial Unicode"/>
              </a:rPr>
              <a:t>https://medium.com/@mbkioko/employee-performance-analysis-d5bf904b8039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1412</Words>
  <Application>Microsoft Office PowerPoint</Application>
  <PresentationFormat>Custom</PresentationFormat>
  <Paragraphs>235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2" baseType="lpstr">
      <vt:lpstr>Canva Sans Bold</vt:lpstr>
      <vt:lpstr>Arial Unicode Bold</vt:lpstr>
      <vt:lpstr>Calibri</vt:lpstr>
      <vt:lpstr>Inter Bold</vt:lpstr>
      <vt:lpstr>Arial</vt:lpstr>
      <vt:lpstr>Inter</vt:lpstr>
      <vt:lpstr>Arial Unicode</vt:lpstr>
      <vt:lpstr>Garet Bold</vt:lpstr>
      <vt:lpstr>One Little Font Full</vt:lpstr>
      <vt:lpstr>Archivo Black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Empowering Every Face</dc:title>
  <dc:creator>HP</dc:creator>
  <cp:lastModifiedBy>HP</cp:lastModifiedBy>
  <cp:revision>10</cp:revision>
  <dcterms:created xsi:type="dcterms:W3CDTF">2006-08-16T00:00:00Z</dcterms:created>
  <dcterms:modified xsi:type="dcterms:W3CDTF">2026-04-19T04:43:33Z</dcterms:modified>
  <dc:identifier>DAHCUL7Ssds</dc:identifier>
</cp:coreProperties>
</file>